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Over the next twelve minutes I want to do three things: tell you what we assessed, show you the five risks I think matter most, and ask you to approve a ninety-day plan. I am not going to read the slides, so please stop me with questions at any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Sixty-five people, one M365 tenant, one customer portal, one payroll app. Small estate - but it holds PII and some health-related data, which is why a customer is asking us hard questions. I deliberately kept BYOD phones and the vendors' own networks out of scope, because we have no authority to assess them and I would rather be honest about that than pretend coverage we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point I want to be clear about: nobody gets 'NIST certified'. 800-53 is a catalogue. Its value to us is that it forces a consistent question for every control - is this implemented, partly implemented, or not there - and it gives the customer's auditors a vocabulary they already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I assessed against. Identity is the middle layer and that is deliberate - almost every control we care about passes through Entra ID. If you only remember one box on this slide, remember that one. The two grey boxes at the bottom are where our weakest findings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five and five. The left column is what an attacker could use this month - dormant accounts, missing MFA, unpatched machines, and two safety nets we have never tested. The middle column is where we lack process. The right column is governance: nothing burning, but it is why the other twelve keep coming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exotic here - this is 800-53A's own method. The reason I insist on all four steps is that documents and interviews disagree more often than you would think. The policy said quarterly access reviews; the directory said otherwise. Only the third step catches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controls minimum from every family, more where the findings clustered. The colour is my judgement of the family as a whole, not one control. Seven families came out red, and you will notice they are the same seven that carry our top five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scored impact against the business, not the technology. R-01 and R-02 both reach twenty because the consequence is the same - someone who is not us reading customer and health data - and both are cheap to fix. R-03 sits at fifteen only because likelihood is lower; if it lands, it is the one that closes the company for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approve only one thing today, make it conditional access. It is a configuration change, it costs nothing beyond licensing we already hold, and it removes the single most common way small companies get breached. The access review is the habit that stops F-01 recurring.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belong together because they are the difference between finding out about an incident ourselves and hearing about it from a customer. The tabletop is the cheapest item on the entire roadmap and probably the highest learning value - two hours, a conference room, one invented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patch SLA is the number I would like signed off today, because without an agreed deadline 'behind on patches' is an opinion rather than a breach of policy. Segmentation is the one item here that needs real effort from our IT provider - I have put it in phase three for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RTO is how long we can be down; RPO is how much data we can afford to lose. I set these by asking what each team could actually tolerate, not by picking round numbers. The test in the first thirty days matters more than the targets - I would rather find out it takes nine hours now than during an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the privacy and security stories meet. Under the NDPA we are expected to know our processing; under 800-53 the PT family expects the same inventory. One piece of work satisfies both, and it unblocks the retention, backup scope and vendor questions we cannot currently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are really one story told at different times. SA is what we ask for before we sign; SR is how we keep checking afterwards. A one-page checklist in the procurement process costs nobody anything and prevents the contract problems we are now trying to renegotiate.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four are all configuration or process changes we can make with people and licences we already have. P-05 needs time from Compliance rather than money. P-07 needs Procurement to send a questionnaire - again, time rather than budget. That is why I believe the ninety days is 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bottom line of each column. Every phase ends in something we can hand to a customer's auditor. That is deliberate - the customer review is in ninety days, and a roadmap without evidence at the end of it does not help us pass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considered 'do not approve' and rejected it - stopping operations over risks with no evidence of exploitation would be disproportionate, and it would not make us safer any faster. Plain approval would be worse: it would tell the business the findings did not matter. Conditions with dates is the honest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to be ready for: why these 42 controls; the difference between a control, a finding, a risk and a remediation action; how I scored likelihood and impact; and what changes if we double in size - the answer there is that manual quarterly reviews stop scaling and identity governance becomes tooling rather than a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2E"/>
        </a:solidFill>
      </p:bgPr>
    </p:bg>
    <p:spTree>
      <p:nvGrpSpPr>
        <p:cNvPr id="1" name=""/>
        <p:cNvGrpSpPr/>
        <p:nvPr/>
      </p:nvGrpSpPr>
      <p:grpSpPr>
        <a:xfrm>
          <a:off x="0" y="0"/>
          <a:ext cx="0" cy="0"/>
          <a:chOff x="0" y="0"/>
          <a:chExt cx="0" cy="0"/>
        </a:xfrm>
      </p:grpSpPr>
      <p:sp>
        <p:nvSpPr>
          <p:cNvPr id="2" name="Text 0"/>
          <p:cNvSpPr txBox="1"/>
          <p:nvPr/>
        </p:nvSpPr>
        <p:spPr>
          <a:xfrm>
            <a:off x="640080" y="1828800"/>
            <a:ext cx="10908792" cy="320040"/>
          </a:xfrm>
          <a:prstGeom prst="rect">
            <a:avLst/>
          </a:prstGeom>
          <a:noFill/>
          <a:ln/>
        </p:spPr>
        <p:txBody>
          <a:bodyPr wrap="square" lIns="0" tIns="0" rIns="0" bIns="0" rtlCol="0" anchor="ctr"/>
          <a:lstStyle/>
          <a:p>
            <a:pPr indent="0" marL="0">
              <a:buNone/>
            </a:pPr>
            <a:r>
              <a:rPr lang="en-US" sz="1300" spc="200" kern="0" dirty="0">
                <a:solidFill>
                  <a:srgbClr val="8FB8BD"/>
                </a:solidFill>
                <a:latin typeface="Calibri" pitchFamily="34" charset="0"/>
                <a:ea typeface="Calibri" pitchFamily="34" charset="-122"/>
                <a:cs typeface="Calibri" pitchFamily="34" charset="-120"/>
              </a:rPr>
              <a:t>MANAGEMENT PRESENTATION</a:t>
            </a:r>
            <a:endParaRPr lang="en-US" sz="1300" dirty="0"/>
          </a:p>
        </p:txBody>
      </p:sp>
      <p:sp>
        <p:nvSpPr>
          <p:cNvPr id="3" name="Text 1"/>
          <p:cNvSpPr txBox="1"/>
          <p:nvPr/>
        </p:nvSpPr>
        <p:spPr>
          <a:xfrm>
            <a:off x="640080" y="2240280"/>
            <a:ext cx="969264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SecureCore 53</a:t>
            </a:r>
            <a:endParaRPr lang="en-US" sz="4400" dirty="0"/>
          </a:p>
        </p:txBody>
      </p:sp>
      <p:sp>
        <p:nvSpPr>
          <p:cNvPr id="4" name="Text 2"/>
          <p:cNvSpPr txBox="1"/>
          <p:nvPr/>
        </p:nvSpPr>
        <p:spPr>
          <a:xfrm>
            <a:off x="640080" y="3703320"/>
            <a:ext cx="9326880" cy="1097280"/>
          </a:xfrm>
          <a:prstGeom prst="rect">
            <a:avLst/>
          </a:prstGeom>
          <a:noFill/>
          <a:ln/>
        </p:spPr>
        <p:txBody>
          <a:bodyPr wrap="square" lIns="0" tIns="0" rIns="0" bIns="0" rtlCol="0" anchor="ctr"/>
          <a:lstStyle/>
          <a:p>
            <a:pPr indent="0" marL="0">
              <a:lnSpc>
                <a:spcPts val="2400"/>
              </a:lnSpc>
              <a:buNone/>
            </a:pPr>
            <a:r>
              <a:rPr lang="en-US" sz="1600" dirty="0">
                <a:solidFill>
                  <a:srgbClr val="C4D4D6"/>
                </a:solidFill>
                <a:latin typeface="Calibri" pitchFamily="34" charset="0"/>
                <a:ea typeface="Calibri" pitchFamily="34" charset="-122"/>
                <a:cs typeface="Calibri" pitchFamily="34" charset="-120"/>
              </a:rPr>
              <a:t>Assessing security and privacy controls at MedLink Services Ltd,</a:t>
            </a:r>
            <a:endParaRPr lang="en-US" sz="1600" dirty="0"/>
          </a:p>
          <a:p>
            <a:pPr indent="0" marL="0">
              <a:lnSpc>
                <a:spcPts val="2400"/>
              </a:lnSpc>
              <a:buNone/>
            </a:pPr>
            <a:r>
              <a:rPr lang="en-US" sz="1600" dirty="0">
                <a:solidFill>
                  <a:srgbClr val="C4D4D6"/>
                </a:solidFill>
                <a:latin typeface="Calibri" pitchFamily="34" charset="0"/>
                <a:ea typeface="Calibri" pitchFamily="34" charset="-122"/>
                <a:cs typeface="Calibri" pitchFamily="34" charset="-120"/>
              </a:rPr>
              <a:t>and a realistic plan to close the gaps.</a:t>
            </a:r>
            <a:endParaRPr lang="en-US" sz="1600" dirty="0"/>
          </a:p>
          <a:p>
            <a:pPr indent="0" marL="0">
              <a:lnSpc>
                <a:spcPts val="2400"/>
              </a:lnSpc>
              <a:buNone/>
            </a:pPr>
            <a:endParaRPr lang="en-US" sz="1600" dirty="0"/>
          </a:p>
          <a:p>
            <a:pPr indent="0" marL="0">
              <a:lnSpc>
                <a:spcPts val="2400"/>
              </a:lnSpc>
              <a:buNone/>
            </a:pPr>
            <a:r>
              <a:rPr lang="en-US" sz="1600" dirty="0">
                <a:solidFill>
                  <a:srgbClr val="C4D4D6"/>
                </a:solidFill>
                <a:latin typeface="Calibri" pitchFamily="34" charset="0"/>
                <a:ea typeface="Calibri" pitchFamily="34" charset="-122"/>
                <a:cs typeface="Calibri" pitchFamily="34" charset="-120"/>
              </a:rPr>
              <a:t>Prepared by: [Student Name]  |  Junior GRC &amp; Cybersecurity Analyst  |  NIST SP 800-53 Rev. 5</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About MedLink, and what we looked at</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A 65-person health-services business with a normal small-company IT estate - and health-related data inside it.</a:t>
            </a:r>
            <a:endParaRPr lang="en-US" sz="1400" dirty="0"/>
          </a:p>
        </p:txBody>
      </p:sp>
      <p:sp>
        <p:nvSpPr>
          <p:cNvPr id="4" name="Shape 2"/>
          <p:cNvSpPr/>
          <p:nvPr/>
        </p:nvSpPr>
        <p:spPr>
          <a:xfrm>
            <a:off x="640080" y="1554480"/>
            <a:ext cx="5303520" cy="4206240"/>
          </a:xfrm>
          <a:prstGeom prst="roundRect">
            <a:avLst>
              <a:gd name="adj" fmla="val 1304"/>
            </a:avLst>
          </a:prstGeom>
          <a:solidFill>
            <a:srgbClr val="EFF4F5"/>
          </a:solidFill>
          <a:ln w="9525">
            <a:solidFill>
              <a:srgbClr val="D6E0E2"/>
            </a:solidFill>
            <a:prstDash val="solid"/>
          </a:ln>
        </p:spPr>
      </p:sp>
      <p:sp>
        <p:nvSpPr>
          <p:cNvPr id="5" name="Text 3"/>
          <p:cNvSpPr txBox="1"/>
          <p:nvPr/>
        </p:nvSpPr>
        <p:spPr>
          <a:xfrm>
            <a:off x="960120" y="1783080"/>
            <a:ext cx="4663440" cy="320040"/>
          </a:xfrm>
          <a:prstGeom prst="rect">
            <a:avLst/>
          </a:prstGeom>
          <a:noFill/>
          <a:ln/>
        </p:spPr>
        <p:txBody>
          <a:bodyPr wrap="square" lIns="0" tIns="0" rIns="0" bIns="0" rtlCol="0" anchor="ctr"/>
          <a:lstStyle/>
          <a:p>
            <a:pPr indent="0" marL="0">
              <a:buNone/>
            </a:pPr>
            <a:r>
              <a:rPr lang="en-US" sz="1900" b="1" dirty="0">
                <a:solidFill>
                  <a:srgbClr val="064E57"/>
                </a:solidFill>
                <a:latin typeface="Cambria" pitchFamily="34" charset="0"/>
                <a:ea typeface="Cambria" pitchFamily="34" charset="-122"/>
                <a:cs typeface="Cambria" pitchFamily="34" charset="-120"/>
              </a:rPr>
              <a:t>In scope</a:t>
            </a:r>
            <a:endParaRPr lang="en-US" sz="1900" dirty="0"/>
          </a:p>
        </p:txBody>
      </p:sp>
      <p:sp>
        <p:nvSpPr>
          <p:cNvPr id="6" name="Text 4"/>
          <p:cNvSpPr txBox="1"/>
          <p:nvPr/>
        </p:nvSpPr>
        <p:spPr>
          <a:xfrm>
            <a:off x="960120" y="2194560"/>
            <a:ext cx="4663440" cy="338328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58 company endpoints (50 laptops, 8 desktops)</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Microsoft 365 tenant - email, files, identity</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Cloud-hosted customer portal</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Internal HR and payroll application</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On-premises file server and network gear</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Local and cloud backups</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Head office physical security and CCTV</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Third-party IT support and payroll vendors</a:t>
            </a:r>
            <a:endParaRPr lang="en-US" sz="1300" dirty="0"/>
          </a:p>
        </p:txBody>
      </p:sp>
      <p:sp>
        <p:nvSpPr>
          <p:cNvPr id="7" name="Shape 5"/>
          <p:cNvSpPr/>
          <p:nvPr/>
        </p:nvSpPr>
        <p:spPr>
          <a:xfrm>
            <a:off x="6446520" y="1554480"/>
            <a:ext cx="5102352" cy="1965960"/>
          </a:xfrm>
          <a:prstGeom prst="roundRect">
            <a:avLst>
              <a:gd name="adj" fmla="val 2791"/>
            </a:avLst>
          </a:prstGeom>
          <a:solidFill>
            <a:srgbClr val="EFF4F5"/>
          </a:solidFill>
          <a:ln w="9525">
            <a:solidFill>
              <a:srgbClr val="D6E0E2"/>
            </a:solidFill>
            <a:prstDash val="solid"/>
          </a:ln>
        </p:spPr>
      </p:sp>
      <p:sp>
        <p:nvSpPr>
          <p:cNvPr id="8" name="Text 6"/>
          <p:cNvSpPr txBox="1"/>
          <p:nvPr/>
        </p:nvSpPr>
        <p:spPr>
          <a:xfrm>
            <a:off x="6766560" y="1783080"/>
            <a:ext cx="4480560" cy="320040"/>
          </a:xfrm>
          <a:prstGeom prst="rect">
            <a:avLst/>
          </a:prstGeom>
          <a:noFill/>
          <a:ln/>
        </p:spPr>
        <p:txBody>
          <a:bodyPr wrap="square" lIns="0" tIns="0" rIns="0" bIns="0" rtlCol="0" anchor="ctr"/>
          <a:lstStyle/>
          <a:p>
            <a:pPr indent="0" marL="0">
              <a:buNone/>
            </a:pPr>
            <a:r>
              <a:rPr lang="en-US" sz="1900" b="1" dirty="0">
                <a:solidFill>
                  <a:srgbClr val="064E57"/>
                </a:solidFill>
                <a:latin typeface="Cambria" pitchFamily="34" charset="0"/>
                <a:ea typeface="Cambria" pitchFamily="34" charset="-122"/>
                <a:cs typeface="Cambria" pitchFamily="34" charset="-120"/>
              </a:rPr>
              <a:t>Out of scope</a:t>
            </a:r>
            <a:endParaRPr lang="en-US" sz="1900" dirty="0"/>
          </a:p>
        </p:txBody>
      </p:sp>
      <p:sp>
        <p:nvSpPr>
          <p:cNvPr id="9" name="Text 7"/>
          <p:cNvSpPr txBox="1"/>
          <p:nvPr/>
        </p:nvSpPr>
        <p:spPr>
          <a:xfrm>
            <a:off x="6766560" y="2194560"/>
            <a:ext cx="4480560" cy="11887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Personal (BYOD) phones and home routers</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Vendors' own internal networks</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Any live testing - this is a paper assessment</a:t>
            </a:r>
            <a:endParaRPr lang="en-US" sz="1300" dirty="0"/>
          </a:p>
        </p:txBody>
      </p:sp>
      <p:sp>
        <p:nvSpPr>
          <p:cNvPr id="10" name="Shape 8"/>
          <p:cNvSpPr/>
          <p:nvPr/>
        </p:nvSpPr>
        <p:spPr>
          <a:xfrm>
            <a:off x="6446520" y="3703320"/>
            <a:ext cx="5102352" cy="2057400"/>
          </a:xfrm>
          <a:prstGeom prst="roundRect">
            <a:avLst>
              <a:gd name="adj" fmla="val 2667"/>
            </a:avLst>
          </a:prstGeom>
          <a:solidFill>
            <a:srgbClr val="FDF6E6"/>
          </a:solidFill>
          <a:ln w="9525">
            <a:solidFill>
              <a:srgbClr val="D6E0E2"/>
            </a:solidFill>
            <a:prstDash val="solid"/>
          </a:ln>
        </p:spPr>
      </p:sp>
      <p:sp>
        <p:nvSpPr>
          <p:cNvPr id="11" name="Text 9"/>
          <p:cNvSpPr txBox="1"/>
          <p:nvPr/>
        </p:nvSpPr>
        <p:spPr>
          <a:xfrm>
            <a:off x="6766560" y="3931920"/>
            <a:ext cx="4480560" cy="320040"/>
          </a:xfrm>
          <a:prstGeom prst="rect">
            <a:avLst/>
          </a:prstGeom>
          <a:noFill/>
          <a:ln/>
        </p:spPr>
        <p:txBody>
          <a:bodyPr wrap="square" lIns="0" tIns="0" rIns="0" bIns="0" rtlCol="0" anchor="ctr"/>
          <a:lstStyle/>
          <a:p>
            <a:pPr indent="0" marL="0">
              <a:buNone/>
            </a:pPr>
            <a:r>
              <a:rPr lang="en-US" sz="1900" b="1" dirty="0">
                <a:solidFill>
                  <a:srgbClr val="9A6A10"/>
                </a:solidFill>
                <a:latin typeface="Cambria" pitchFamily="34" charset="0"/>
                <a:ea typeface="Cambria" pitchFamily="34" charset="-122"/>
                <a:cs typeface="Cambria" pitchFamily="34" charset="-120"/>
              </a:rPr>
              <a:t>Two things to hold on to</a:t>
            </a:r>
            <a:endParaRPr lang="en-US" sz="1900" dirty="0"/>
          </a:p>
        </p:txBody>
      </p:sp>
      <p:sp>
        <p:nvSpPr>
          <p:cNvPr id="12" name="Text 10"/>
          <p:cNvSpPr txBox="1"/>
          <p:nvPr/>
        </p:nvSpPr>
        <p:spPr>
          <a:xfrm>
            <a:off x="6766560" y="4343400"/>
            <a:ext cx="4480560" cy="1280160"/>
          </a:xfrm>
          <a:prstGeom prst="rect">
            <a:avLst/>
          </a:prstGeom>
          <a:noFill/>
          <a:ln/>
        </p:spPr>
        <p:txBody>
          <a:bodyPr wrap="square" lIns="0" tIns="0" rIns="0" bIns="0" rtlCol="0" anchor="ctr"/>
          <a:lstStyle/>
          <a:p>
            <a:pPr indent="0" marL="0">
              <a:lnSpc>
                <a:spcPts val="1900"/>
              </a:lnSpc>
              <a:buNone/>
            </a:pPr>
            <a:r>
              <a:rPr lang="en-US" sz="1300" dirty="0">
                <a:solidFill>
                  <a:srgbClr val="16262E"/>
                </a:solidFill>
                <a:latin typeface="Calibri" pitchFamily="34" charset="0"/>
                <a:ea typeface="Calibri" pitchFamily="34" charset="-122"/>
                <a:cs typeface="Calibri" pitchFamily="34" charset="-120"/>
              </a:rPr>
              <a:t>Everything here is simulated evidence built for a customer security review. And where a fact was not given to me, I have labelled it an assumption rather than quietly filling the gap.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Why NIST SP 800-53</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A catalogue we can measure ourselves against - not a certificate we can buy.</a:t>
            </a:r>
            <a:endParaRPr lang="en-US" sz="1400" dirty="0"/>
          </a:p>
        </p:txBody>
      </p:sp>
      <p:sp>
        <p:nvSpPr>
          <p:cNvPr id="4" name="Shape 2"/>
          <p:cNvSpPr/>
          <p:nvPr/>
        </p:nvSpPr>
        <p:spPr>
          <a:xfrm>
            <a:off x="640080" y="1691640"/>
            <a:ext cx="310896" cy="310896"/>
          </a:xfrm>
          <a:prstGeom prst="ellipse">
            <a:avLst/>
          </a:prstGeom>
          <a:solidFill>
            <a:srgbClr val="0A7C86"/>
          </a:solidFill>
          <a:ln/>
        </p:spPr>
      </p:sp>
      <p:sp>
        <p:nvSpPr>
          <p:cNvPr id="5" name="Text 3"/>
          <p:cNvSpPr txBox="1"/>
          <p:nvPr/>
        </p:nvSpPr>
        <p:spPr>
          <a:xfrm>
            <a:off x="640080" y="1719072"/>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143000" y="1600200"/>
            <a:ext cx="10332720" cy="32004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It is a control catalogue, not a badge</a:t>
            </a:r>
            <a:endParaRPr lang="en-US" sz="1800" dirty="0"/>
          </a:p>
        </p:txBody>
      </p:sp>
      <p:sp>
        <p:nvSpPr>
          <p:cNvPr id="7" name="Text 5"/>
          <p:cNvSpPr txBox="1"/>
          <p:nvPr/>
        </p:nvSpPr>
        <p:spPr>
          <a:xfrm>
            <a:off x="1143000" y="1929384"/>
            <a:ext cx="10332720" cy="640080"/>
          </a:xfrm>
          <a:prstGeom prst="rect">
            <a:avLst/>
          </a:prstGeom>
          <a:noFill/>
          <a:ln/>
        </p:spPr>
        <p:txBody>
          <a:bodyPr wrap="square" lIns="0" tIns="0" rIns="0" bIns="0" rtlCol="0" anchor="ctr"/>
          <a:lstStyle/>
          <a:p>
            <a:pPr indent="0" marL="0">
              <a:lnSpc>
                <a:spcPts val="1900"/>
              </a:lnSpc>
              <a:buNone/>
            </a:pPr>
            <a:r>
              <a:rPr lang="en-US" sz="1350" dirty="0">
                <a:solidFill>
                  <a:srgbClr val="5C6B73"/>
                </a:solidFill>
                <a:latin typeface="Calibri" pitchFamily="34" charset="0"/>
                <a:ea typeface="Calibri" pitchFamily="34" charset="-122"/>
                <a:cs typeface="Calibri" pitchFamily="34" charset="-120"/>
              </a:rPr>
              <a:t>800-53 Rev. 5 gives us roughly a thousand named controls across 20 families. We pick the ones that fit our size and risk, and we evidence them.</a:t>
            </a:r>
            <a:endParaRPr lang="en-US" sz="1350" dirty="0"/>
          </a:p>
        </p:txBody>
      </p:sp>
      <p:sp>
        <p:nvSpPr>
          <p:cNvPr id="8" name="Shape 6"/>
          <p:cNvSpPr/>
          <p:nvPr/>
        </p:nvSpPr>
        <p:spPr>
          <a:xfrm>
            <a:off x="640080" y="2807208"/>
            <a:ext cx="310896" cy="310896"/>
          </a:xfrm>
          <a:prstGeom prst="ellipse">
            <a:avLst/>
          </a:prstGeom>
          <a:solidFill>
            <a:srgbClr val="0A7C86"/>
          </a:solidFill>
          <a:ln/>
        </p:spPr>
      </p:sp>
      <p:sp>
        <p:nvSpPr>
          <p:cNvPr id="9" name="Text 7"/>
          <p:cNvSpPr txBox="1"/>
          <p:nvPr/>
        </p:nvSpPr>
        <p:spPr>
          <a:xfrm>
            <a:off x="640080" y="2834640"/>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143000" y="2715768"/>
            <a:ext cx="10332720" cy="32004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It covers privacy as well as security</a:t>
            </a:r>
            <a:endParaRPr lang="en-US" sz="1800" dirty="0"/>
          </a:p>
        </p:txBody>
      </p:sp>
      <p:sp>
        <p:nvSpPr>
          <p:cNvPr id="11" name="Text 9"/>
          <p:cNvSpPr txBox="1"/>
          <p:nvPr/>
        </p:nvSpPr>
        <p:spPr>
          <a:xfrm>
            <a:off x="1143000" y="3044952"/>
            <a:ext cx="10332720" cy="640080"/>
          </a:xfrm>
          <a:prstGeom prst="rect">
            <a:avLst/>
          </a:prstGeom>
          <a:noFill/>
          <a:ln/>
        </p:spPr>
        <p:txBody>
          <a:bodyPr wrap="square" lIns="0" tIns="0" rIns="0" bIns="0" rtlCol="0" anchor="ctr"/>
          <a:lstStyle/>
          <a:p>
            <a:pPr indent="0" marL="0">
              <a:lnSpc>
                <a:spcPts val="1900"/>
              </a:lnSpc>
              <a:buNone/>
            </a:pPr>
            <a:r>
              <a:rPr lang="en-US" sz="1350" dirty="0">
                <a:solidFill>
                  <a:srgbClr val="5C6B73"/>
                </a:solidFill>
                <a:latin typeface="Calibri" pitchFamily="34" charset="0"/>
                <a:ea typeface="Calibri" pitchFamily="34" charset="-122"/>
                <a:cs typeface="Calibri" pitchFamily="34" charset="-120"/>
              </a:rPr>
              <a:t>Rev. 5 folded privacy in - the PT family maps directly to the PII questions our customers and NDPA obligations raise.</a:t>
            </a:r>
            <a:endParaRPr lang="en-US" sz="1350" dirty="0"/>
          </a:p>
        </p:txBody>
      </p:sp>
      <p:sp>
        <p:nvSpPr>
          <p:cNvPr id="12" name="Shape 10"/>
          <p:cNvSpPr/>
          <p:nvPr/>
        </p:nvSpPr>
        <p:spPr>
          <a:xfrm>
            <a:off x="640080" y="3922776"/>
            <a:ext cx="310896" cy="310896"/>
          </a:xfrm>
          <a:prstGeom prst="ellipse">
            <a:avLst/>
          </a:prstGeom>
          <a:solidFill>
            <a:srgbClr val="0A7C86"/>
          </a:solidFill>
          <a:ln/>
        </p:spPr>
      </p:sp>
      <p:sp>
        <p:nvSpPr>
          <p:cNvPr id="13" name="Text 11"/>
          <p:cNvSpPr txBox="1"/>
          <p:nvPr/>
        </p:nvSpPr>
        <p:spPr>
          <a:xfrm>
            <a:off x="640080" y="3950208"/>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143000" y="3831336"/>
            <a:ext cx="10332720" cy="32004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It speaks the language buyers use</a:t>
            </a:r>
            <a:endParaRPr lang="en-US" sz="1800" dirty="0"/>
          </a:p>
        </p:txBody>
      </p:sp>
      <p:sp>
        <p:nvSpPr>
          <p:cNvPr id="15" name="Text 13"/>
          <p:cNvSpPr txBox="1"/>
          <p:nvPr/>
        </p:nvSpPr>
        <p:spPr>
          <a:xfrm>
            <a:off x="1143000" y="4160520"/>
            <a:ext cx="10332720" cy="640080"/>
          </a:xfrm>
          <a:prstGeom prst="rect">
            <a:avLst/>
          </a:prstGeom>
          <a:noFill/>
          <a:ln/>
        </p:spPr>
        <p:txBody>
          <a:bodyPr wrap="square" lIns="0" tIns="0" rIns="0" bIns="0" rtlCol="0" anchor="ctr"/>
          <a:lstStyle/>
          <a:p>
            <a:pPr indent="0" marL="0">
              <a:lnSpc>
                <a:spcPts val="1900"/>
              </a:lnSpc>
              <a:buNone/>
            </a:pPr>
            <a:r>
              <a:rPr lang="en-US" sz="1350" dirty="0">
                <a:solidFill>
                  <a:srgbClr val="5C6B73"/>
                </a:solidFill>
                <a:latin typeface="Calibri" pitchFamily="34" charset="0"/>
                <a:ea typeface="Calibri" pitchFamily="34" charset="-122"/>
                <a:cs typeface="Calibri" pitchFamily="34" charset="-120"/>
              </a:rPr>
              <a:t>When a customer's security team sends a questionnaire, they are asking 800-53 questions, whether or not they say so.</a:t>
            </a:r>
            <a:endParaRPr lang="en-US" sz="1350" dirty="0"/>
          </a:p>
        </p:txBody>
      </p:sp>
      <p:sp>
        <p:nvSpPr>
          <p:cNvPr id="16" name="Shape 14"/>
          <p:cNvSpPr/>
          <p:nvPr/>
        </p:nvSpPr>
        <p:spPr>
          <a:xfrm>
            <a:off x="640080" y="5038344"/>
            <a:ext cx="310896" cy="310896"/>
          </a:xfrm>
          <a:prstGeom prst="ellipse">
            <a:avLst/>
          </a:prstGeom>
          <a:solidFill>
            <a:srgbClr val="0A7C86"/>
          </a:solidFill>
          <a:ln/>
        </p:spPr>
      </p:sp>
      <p:sp>
        <p:nvSpPr>
          <p:cNvPr id="17" name="Text 15"/>
          <p:cNvSpPr txBox="1"/>
          <p:nvPr/>
        </p:nvSpPr>
        <p:spPr>
          <a:xfrm>
            <a:off x="640080" y="5065776"/>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143000" y="4946904"/>
            <a:ext cx="10332720" cy="32004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It gives us a repeatable method</a:t>
            </a:r>
            <a:endParaRPr lang="en-US" sz="1800" dirty="0"/>
          </a:p>
        </p:txBody>
      </p:sp>
      <p:sp>
        <p:nvSpPr>
          <p:cNvPr id="19" name="Text 17"/>
          <p:cNvSpPr txBox="1"/>
          <p:nvPr/>
        </p:nvSpPr>
        <p:spPr>
          <a:xfrm>
            <a:off x="1143000" y="5276088"/>
            <a:ext cx="10332720" cy="640080"/>
          </a:xfrm>
          <a:prstGeom prst="rect">
            <a:avLst/>
          </a:prstGeom>
          <a:noFill/>
          <a:ln/>
        </p:spPr>
        <p:txBody>
          <a:bodyPr wrap="square" lIns="0" tIns="0" rIns="0" bIns="0" rtlCol="0" anchor="ctr"/>
          <a:lstStyle/>
          <a:p>
            <a:pPr indent="0" marL="0">
              <a:lnSpc>
                <a:spcPts val="1900"/>
              </a:lnSpc>
              <a:buNone/>
            </a:pPr>
            <a:r>
              <a:rPr lang="en-US" sz="1350" dirty="0">
                <a:solidFill>
                  <a:srgbClr val="5C6B73"/>
                </a:solidFill>
                <a:latin typeface="Calibri" pitchFamily="34" charset="0"/>
                <a:ea typeface="Calibri" pitchFamily="34" charset="-122"/>
                <a:cs typeface="Calibri" pitchFamily="34" charset="-120"/>
              </a:rPr>
              <a:t>800-53A tells us how to assess: examine documents, interview the owner, test or observe the control working.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System boundary</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Where our data lives, and where the assessment stops.</a:t>
            </a:r>
            <a:endParaRPr lang="en-US" sz="1400" dirty="0"/>
          </a:p>
        </p:txBody>
      </p:sp>
      <p:sp>
        <p:nvSpPr>
          <p:cNvPr id="4" name="Shape 2"/>
          <p:cNvSpPr/>
          <p:nvPr/>
        </p:nvSpPr>
        <p:spPr>
          <a:xfrm>
            <a:off x="640080" y="1600200"/>
            <a:ext cx="2286000" cy="868680"/>
          </a:xfrm>
          <a:prstGeom prst="roundRect">
            <a:avLst>
              <a:gd name="adj" fmla="val 8421"/>
            </a:avLst>
          </a:prstGeom>
          <a:solidFill>
            <a:srgbClr val="EFF4F5"/>
          </a:solidFill>
          <a:ln w="12700">
            <a:solidFill>
              <a:srgbClr val="EFF4F5"/>
            </a:solidFill>
            <a:prstDash val="solid"/>
          </a:ln>
        </p:spPr>
      </p:sp>
      <p:sp>
        <p:nvSpPr>
          <p:cNvPr id="5" name="Text 3"/>
          <p:cNvSpPr txBox="1"/>
          <p:nvPr/>
        </p:nvSpPr>
        <p:spPr>
          <a:xfrm>
            <a:off x="749808" y="1728216"/>
            <a:ext cx="2066544" cy="274320"/>
          </a:xfrm>
          <a:prstGeom prst="rect">
            <a:avLst/>
          </a:prstGeom>
          <a:noFill/>
          <a:ln/>
        </p:spPr>
        <p:txBody>
          <a:bodyPr wrap="square" lIns="0" tIns="0" rIns="0" bIns="0" rtlCol="0" anchor="ctr"/>
          <a:lstStyle/>
          <a:p>
            <a:pPr algn="ctr" indent="0" marL="0">
              <a:buNone/>
            </a:pPr>
            <a:r>
              <a:rPr lang="en-US" sz="1250" b="1" dirty="0">
                <a:solidFill>
                  <a:srgbClr val="16262E"/>
                </a:solidFill>
                <a:latin typeface="Calibri" pitchFamily="34" charset="0"/>
                <a:ea typeface="Calibri" pitchFamily="34" charset="-122"/>
                <a:cs typeface="Calibri" pitchFamily="34" charset="-120"/>
              </a:rPr>
              <a:t>Staff &amp; remote users</a:t>
            </a:r>
            <a:endParaRPr lang="en-US" sz="1250" dirty="0"/>
          </a:p>
        </p:txBody>
      </p:sp>
      <p:sp>
        <p:nvSpPr>
          <p:cNvPr id="6" name="Text 4"/>
          <p:cNvSpPr txBox="1"/>
          <p:nvPr/>
        </p:nvSpPr>
        <p:spPr>
          <a:xfrm>
            <a:off x="749808" y="2002536"/>
            <a:ext cx="2066544" cy="384048"/>
          </a:xfrm>
          <a:prstGeom prst="rect">
            <a:avLst/>
          </a:prstGeom>
          <a:noFill/>
          <a:ln/>
        </p:spPr>
        <p:txBody>
          <a:bodyPr wrap="square" lIns="0" tIns="0" rIns="0" bIns="0" rtlCol="0" anchor="ctr"/>
          <a:lstStyle/>
          <a:p>
            <a:pPr algn="ctr" indent="0" marL="0">
              <a:buNone/>
            </a:pPr>
            <a:r>
              <a:rPr lang="en-US" sz="1050" dirty="0">
                <a:solidFill>
                  <a:srgbClr val="5C6B73"/>
                </a:solidFill>
                <a:latin typeface="Calibri" pitchFamily="34" charset="0"/>
                <a:ea typeface="Calibri" pitchFamily="34" charset="-122"/>
                <a:cs typeface="Calibri" pitchFamily="34" charset="-120"/>
              </a:rPr>
              <a:t>58 managed endpoints</a:t>
            </a:r>
            <a:endParaRPr lang="en-US" sz="1050" dirty="0"/>
          </a:p>
        </p:txBody>
      </p:sp>
      <p:sp>
        <p:nvSpPr>
          <p:cNvPr id="7" name="Shape 5"/>
          <p:cNvSpPr/>
          <p:nvPr/>
        </p:nvSpPr>
        <p:spPr>
          <a:xfrm>
            <a:off x="3246120" y="1600200"/>
            <a:ext cx="2286000" cy="868680"/>
          </a:xfrm>
          <a:prstGeom prst="roundRect">
            <a:avLst>
              <a:gd name="adj" fmla="val 8421"/>
            </a:avLst>
          </a:prstGeom>
          <a:solidFill>
            <a:srgbClr val="EFF4F5"/>
          </a:solidFill>
          <a:ln w="12700">
            <a:solidFill>
              <a:srgbClr val="EFF4F5"/>
            </a:solidFill>
            <a:prstDash val="solid"/>
          </a:ln>
        </p:spPr>
      </p:sp>
      <p:sp>
        <p:nvSpPr>
          <p:cNvPr id="8" name="Text 6"/>
          <p:cNvSpPr txBox="1"/>
          <p:nvPr/>
        </p:nvSpPr>
        <p:spPr>
          <a:xfrm>
            <a:off x="3355848" y="1728216"/>
            <a:ext cx="2066544" cy="274320"/>
          </a:xfrm>
          <a:prstGeom prst="rect">
            <a:avLst/>
          </a:prstGeom>
          <a:noFill/>
          <a:ln/>
        </p:spPr>
        <p:txBody>
          <a:bodyPr wrap="square" lIns="0" tIns="0" rIns="0" bIns="0" rtlCol="0" anchor="ctr"/>
          <a:lstStyle/>
          <a:p>
            <a:pPr algn="ctr" indent="0" marL="0">
              <a:buNone/>
            </a:pPr>
            <a:r>
              <a:rPr lang="en-US" sz="1250" b="1" dirty="0">
                <a:solidFill>
                  <a:srgbClr val="16262E"/>
                </a:solidFill>
                <a:latin typeface="Calibri" pitchFamily="34" charset="0"/>
                <a:ea typeface="Calibri" pitchFamily="34" charset="-122"/>
                <a:cs typeface="Calibri" pitchFamily="34" charset="-120"/>
              </a:rPr>
              <a:t>Customers</a:t>
            </a:r>
            <a:endParaRPr lang="en-US" sz="1250" dirty="0"/>
          </a:p>
        </p:txBody>
      </p:sp>
      <p:sp>
        <p:nvSpPr>
          <p:cNvPr id="9" name="Text 7"/>
          <p:cNvSpPr txBox="1"/>
          <p:nvPr/>
        </p:nvSpPr>
        <p:spPr>
          <a:xfrm>
            <a:off x="3355848" y="2002536"/>
            <a:ext cx="2066544" cy="384048"/>
          </a:xfrm>
          <a:prstGeom prst="rect">
            <a:avLst/>
          </a:prstGeom>
          <a:noFill/>
          <a:ln/>
        </p:spPr>
        <p:txBody>
          <a:bodyPr wrap="square" lIns="0" tIns="0" rIns="0" bIns="0" rtlCol="0" anchor="ctr"/>
          <a:lstStyle/>
          <a:p>
            <a:pPr algn="ctr" indent="0" marL="0">
              <a:buNone/>
            </a:pPr>
            <a:r>
              <a:rPr lang="en-US" sz="1050" dirty="0">
                <a:solidFill>
                  <a:srgbClr val="5C6B73"/>
                </a:solidFill>
                <a:latin typeface="Calibri" pitchFamily="34" charset="0"/>
                <a:ea typeface="Calibri" pitchFamily="34" charset="-122"/>
                <a:cs typeface="Calibri" pitchFamily="34" charset="-120"/>
              </a:rPr>
              <a:t>Portal sign-in</a:t>
            </a:r>
            <a:endParaRPr lang="en-US" sz="1050" dirty="0"/>
          </a:p>
        </p:txBody>
      </p:sp>
      <p:sp>
        <p:nvSpPr>
          <p:cNvPr id="10" name="Shape 8"/>
          <p:cNvSpPr/>
          <p:nvPr/>
        </p:nvSpPr>
        <p:spPr>
          <a:xfrm>
            <a:off x="5852160" y="1600200"/>
            <a:ext cx="2286000" cy="868680"/>
          </a:xfrm>
          <a:prstGeom prst="roundRect">
            <a:avLst>
              <a:gd name="adj" fmla="val 8421"/>
            </a:avLst>
          </a:prstGeom>
          <a:solidFill>
            <a:srgbClr val="EFF4F5"/>
          </a:solidFill>
          <a:ln w="12700">
            <a:solidFill>
              <a:srgbClr val="EFF4F5"/>
            </a:solidFill>
            <a:prstDash val="solid"/>
          </a:ln>
        </p:spPr>
      </p:sp>
      <p:sp>
        <p:nvSpPr>
          <p:cNvPr id="11" name="Text 9"/>
          <p:cNvSpPr txBox="1"/>
          <p:nvPr/>
        </p:nvSpPr>
        <p:spPr>
          <a:xfrm>
            <a:off x="5961888" y="1728216"/>
            <a:ext cx="2066544" cy="274320"/>
          </a:xfrm>
          <a:prstGeom prst="rect">
            <a:avLst/>
          </a:prstGeom>
          <a:noFill/>
          <a:ln/>
        </p:spPr>
        <p:txBody>
          <a:bodyPr wrap="square" lIns="0" tIns="0" rIns="0" bIns="0" rtlCol="0" anchor="ctr"/>
          <a:lstStyle/>
          <a:p>
            <a:pPr algn="ctr" indent="0" marL="0">
              <a:buNone/>
            </a:pPr>
            <a:r>
              <a:rPr lang="en-US" sz="1250" b="1" dirty="0">
                <a:solidFill>
                  <a:srgbClr val="16262E"/>
                </a:solidFill>
                <a:latin typeface="Calibri" pitchFamily="34" charset="0"/>
                <a:ea typeface="Calibri" pitchFamily="34" charset="-122"/>
                <a:cs typeface="Calibri" pitchFamily="34" charset="-120"/>
              </a:rPr>
              <a:t>Third parties</a:t>
            </a:r>
            <a:endParaRPr lang="en-US" sz="1250" dirty="0"/>
          </a:p>
        </p:txBody>
      </p:sp>
      <p:sp>
        <p:nvSpPr>
          <p:cNvPr id="12" name="Text 10"/>
          <p:cNvSpPr txBox="1"/>
          <p:nvPr/>
        </p:nvSpPr>
        <p:spPr>
          <a:xfrm>
            <a:off x="5961888" y="2002536"/>
            <a:ext cx="2066544" cy="384048"/>
          </a:xfrm>
          <a:prstGeom prst="rect">
            <a:avLst/>
          </a:prstGeom>
          <a:noFill/>
          <a:ln/>
        </p:spPr>
        <p:txBody>
          <a:bodyPr wrap="square" lIns="0" tIns="0" rIns="0" bIns="0" rtlCol="0" anchor="ctr"/>
          <a:lstStyle/>
          <a:p>
            <a:pPr algn="ctr" indent="0" marL="0">
              <a:buNone/>
            </a:pPr>
            <a:r>
              <a:rPr lang="en-US" sz="1050" dirty="0">
                <a:solidFill>
                  <a:srgbClr val="5C6B73"/>
                </a:solidFill>
                <a:latin typeface="Calibri" pitchFamily="34" charset="0"/>
                <a:ea typeface="Calibri" pitchFamily="34" charset="-122"/>
                <a:cs typeface="Calibri" pitchFamily="34" charset="-120"/>
              </a:rPr>
              <a:t>IT support, payroll</a:t>
            </a:r>
            <a:endParaRPr lang="en-US" sz="1050" dirty="0"/>
          </a:p>
        </p:txBody>
      </p:sp>
      <p:sp>
        <p:nvSpPr>
          <p:cNvPr id="13" name="Shape 11"/>
          <p:cNvSpPr/>
          <p:nvPr/>
        </p:nvSpPr>
        <p:spPr>
          <a:xfrm>
            <a:off x="8458200" y="1600200"/>
            <a:ext cx="3090672" cy="868680"/>
          </a:xfrm>
          <a:prstGeom prst="roundRect">
            <a:avLst>
              <a:gd name="adj" fmla="val 8421"/>
            </a:avLst>
          </a:prstGeom>
          <a:solidFill>
            <a:srgbClr val="EFF4F5"/>
          </a:solidFill>
          <a:ln w="12700">
            <a:solidFill>
              <a:srgbClr val="EFF4F5"/>
            </a:solidFill>
            <a:prstDash val="solid"/>
          </a:ln>
        </p:spPr>
      </p:sp>
      <p:sp>
        <p:nvSpPr>
          <p:cNvPr id="14" name="Text 12"/>
          <p:cNvSpPr txBox="1"/>
          <p:nvPr/>
        </p:nvSpPr>
        <p:spPr>
          <a:xfrm>
            <a:off x="8567928" y="1728216"/>
            <a:ext cx="2871216" cy="274320"/>
          </a:xfrm>
          <a:prstGeom prst="rect">
            <a:avLst/>
          </a:prstGeom>
          <a:noFill/>
          <a:ln/>
        </p:spPr>
        <p:txBody>
          <a:bodyPr wrap="square" lIns="0" tIns="0" rIns="0" bIns="0" rtlCol="0" anchor="ctr"/>
          <a:lstStyle/>
          <a:p>
            <a:pPr algn="ctr" indent="0" marL="0">
              <a:buNone/>
            </a:pPr>
            <a:r>
              <a:rPr lang="en-US" sz="1250" b="1" dirty="0">
                <a:solidFill>
                  <a:srgbClr val="16262E"/>
                </a:solidFill>
                <a:latin typeface="Calibri" pitchFamily="34" charset="0"/>
                <a:ea typeface="Calibri" pitchFamily="34" charset="-122"/>
                <a:cs typeface="Calibri" pitchFamily="34" charset="-120"/>
              </a:rPr>
              <a:t>Admins</a:t>
            </a:r>
            <a:endParaRPr lang="en-US" sz="1250" dirty="0"/>
          </a:p>
        </p:txBody>
      </p:sp>
      <p:sp>
        <p:nvSpPr>
          <p:cNvPr id="15" name="Text 13"/>
          <p:cNvSpPr txBox="1"/>
          <p:nvPr/>
        </p:nvSpPr>
        <p:spPr>
          <a:xfrm>
            <a:off x="8567928" y="2002536"/>
            <a:ext cx="2871216" cy="384048"/>
          </a:xfrm>
          <a:prstGeom prst="rect">
            <a:avLst/>
          </a:prstGeom>
          <a:noFill/>
          <a:ln/>
        </p:spPr>
        <p:txBody>
          <a:bodyPr wrap="square" lIns="0" tIns="0" rIns="0" bIns="0" rtlCol="0" anchor="ctr"/>
          <a:lstStyle/>
          <a:p>
            <a:pPr algn="ctr" indent="0" marL="0">
              <a:buNone/>
            </a:pPr>
            <a:r>
              <a:rPr lang="en-US" sz="1050" dirty="0">
                <a:solidFill>
                  <a:srgbClr val="5C6B73"/>
                </a:solidFill>
                <a:latin typeface="Calibri" pitchFamily="34" charset="0"/>
                <a:ea typeface="Calibri" pitchFamily="34" charset="-122"/>
                <a:cs typeface="Calibri" pitchFamily="34" charset="-120"/>
              </a:rPr>
              <a:t>Privileged access</a:t>
            </a:r>
            <a:endParaRPr lang="en-US" sz="1050" dirty="0"/>
          </a:p>
        </p:txBody>
      </p:sp>
      <p:sp>
        <p:nvSpPr>
          <p:cNvPr id="16" name="Shape 14"/>
          <p:cNvSpPr/>
          <p:nvPr/>
        </p:nvSpPr>
        <p:spPr>
          <a:xfrm>
            <a:off x="1783080" y="2514600"/>
            <a:ext cx="0" cy="411480"/>
          </a:xfrm>
          <a:prstGeom prst="line">
            <a:avLst/>
          </a:prstGeom>
          <a:noFill/>
          <a:ln w="15875">
            <a:solidFill>
              <a:srgbClr val="9AAAB0"/>
            </a:solidFill>
            <a:prstDash val="solid"/>
            <a:tailEnd type="triangle"/>
          </a:ln>
        </p:spPr>
      </p:sp>
      <p:sp>
        <p:nvSpPr>
          <p:cNvPr id="17" name="Shape 15"/>
          <p:cNvSpPr/>
          <p:nvPr/>
        </p:nvSpPr>
        <p:spPr>
          <a:xfrm>
            <a:off x="4389120" y="2514600"/>
            <a:ext cx="0" cy="411480"/>
          </a:xfrm>
          <a:prstGeom prst="line">
            <a:avLst/>
          </a:prstGeom>
          <a:noFill/>
          <a:ln w="15875">
            <a:solidFill>
              <a:srgbClr val="9AAAB0"/>
            </a:solidFill>
            <a:prstDash val="solid"/>
            <a:tailEnd type="triangle"/>
          </a:ln>
        </p:spPr>
      </p:sp>
      <p:sp>
        <p:nvSpPr>
          <p:cNvPr id="18" name="Shape 16"/>
          <p:cNvSpPr/>
          <p:nvPr/>
        </p:nvSpPr>
        <p:spPr>
          <a:xfrm>
            <a:off x="6995160" y="2514600"/>
            <a:ext cx="0" cy="411480"/>
          </a:xfrm>
          <a:prstGeom prst="line">
            <a:avLst/>
          </a:prstGeom>
          <a:noFill/>
          <a:ln w="15875">
            <a:solidFill>
              <a:srgbClr val="9AAAB0"/>
            </a:solidFill>
            <a:prstDash val="solid"/>
            <a:tailEnd type="triangle"/>
          </a:ln>
        </p:spPr>
      </p:sp>
      <p:sp>
        <p:nvSpPr>
          <p:cNvPr id="19" name="Shape 17"/>
          <p:cNvSpPr/>
          <p:nvPr/>
        </p:nvSpPr>
        <p:spPr>
          <a:xfrm>
            <a:off x="9966960" y="2514600"/>
            <a:ext cx="0" cy="411480"/>
          </a:xfrm>
          <a:prstGeom prst="line">
            <a:avLst/>
          </a:prstGeom>
          <a:noFill/>
          <a:ln w="15875">
            <a:solidFill>
              <a:srgbClr val="9AAAB0"/>
            </a:solidFill>
            <a:prstDash val="solid"/>
            <a:tailEnd type="triangle"/>
          </a:ln>
        </p:spPr>
      </p:sp>
      <p:sp>
        <p:nvSpPr>
          <p:cNvPr id="20" name="Shape 18"/>
          <p:cNvSpPr/>
          <p:nvPr/>
        </p:nvSpPr>
        <p:spPr>
          <a:xfrm>
            <a:off x="3566160" y="2971800"/>
            <a:ext cx="5029200" cy="731520"/>
          </a:xfrm>
          <a:prstGeom prst="roundRect">
            <a:avLst>
              <a:gd name="adj" fmla="val 10000"/>
            </a:avLst>
          </a:prstGeom>
          <a:solidFill>
            <a:srgbClr val="064E57"/>
          </a:solidFill>
          <a:ln w="12700">
            <a:solidFill>
              <a:srgbClr val="064E57"/>
            </a:solidFill>
            <a:prstDash val="solid"/>
          </a:ln>
        </p:spPr>
      </p:sp>
      <p:sp>
        <p:nvSpPr>
          <p:cNvPr id="21" name="Text 19"/>
          <p:cNvSpPr txBox="1"/>
          <p:nvPr/>
        </p:nvSpPr>
        <p:spPr>
          <a:xfrm>
            <a:off x="3675888" y="3099816"/>
            <a:ext cx="480974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Microsoft Entra ID - identity provider</a:t>
            </a:r>
            <a:endParaRPr lang="en-US" sz="1250" dirty="0"/>
          </a:p>
        </p:txBody>
      </p:sp>
      <p:sp>
        <p:nvSpPr>
          <p:cNvPr id="22" name="Text 20"/>
          <p:cNvSpPr txBox="1"/>
          <p:nvPr/>
        </p:nvSpPr>
        <p:spPr>
          <a:xfrm>
            <a:off x="3675888" y="3374136"/>
            <a:ext cx="4809744" cy="384048"/>
          </a:xfrm>
          <a:prstGeom prst="rect">
            <a:avLst/>
          </a:prstGeom>
          <a:noFill/>
          <a:ln/>
        </p:spPr>
        <p:txBody>
          <a:bodyPr wrap="square" lIns="0" tIns="0" rIns="0" bIns="0" rtlCol="0" anchor="ctr"/>
          <a:lstStyle/>
          <a:p>
            <a:pPr algn="ctr" indent="0" marL="0">
              <a:buNone/>
            </a:pPr>
            <a:r>
              <a:rPr lang="en-US" sz="1050" dirty="0">
                <a:solidFill>
                  <a:srgbClr val="CFE0E2"/>
                </a:solidFill>
                <a:latin typeface="Calibri" pitchFamily="34" charset="0"/>
                <a:ea typeface="Calibri" pitchFamily="34" charset="-122"/>
                <a:cs typeface="Calibri" pitchFamily="34" charset="-120"/>
              </a:rPr>
              <a:t>MFA, conditional access, joiner/mover/leaver</a:t>
            </a:r>
            <a:endParaRPr lang="en-US" sz="1050" dirty="0"/>
          </a:p>
        </p:txBody>
      </p:sp>
      <p:sp>
        <p:nvSpPr>
          <p:cNvPr id="23" name="Shape 21"/>
          <p:cNvSpPr/>
          <p:nvPr/>
        </p:nvSpPr>
        <p:spPr>
          <a:xfrm>
            <a:off x="6080760" y="3703320"/>
            <a:ext cx="0" cy="365760"/>
          </a:xfrm>
          <a:prstGeom prst="line">
            <a:avLst/>
          </a:prstGeom>
          <a:noFill/>
          <a:ln w="15875">
            <a:solidFill>
              <a:srgbClr val="9AAAB0"/>
            </a:solidFill>
            <a:prstDash val="solid"/>
            <a:tailEnd type="triangle"/>
          </a:ln>
        </p:spPr>
      </p:sp>
      <p:sp>
        <p:nvSpPr>
          <p:cNvPr id="24" name="Shape 22"/>
          <p:cNvSpPr/>
          <p:nvPr/>
        </p:nvSpPr>
        <p:spPr>
          <a:xfrm>
            <a:off x="640080" y="4114800"/>
            <a:ext cx="2606040" cy="914400"/>
          </a:xfrm>
          <a:prstGeom prst="roundRect">
            <a:avLst>
              <a:gd name="adj" fmla="val 8000"/>
            </a:avLst>
          </a:prstGeom>
          <a:solidFill>
            <a:srgbClr val="0A7C86"/>
          </a:solidFill>
          <a:ln w="12700">
            <a:solidFill>
              <a:srgbClr val="0A7C86"/>
            </a:solidFill>
            <a:prstDash val="solid"/>
          </a:ln>
        </p:spPr>
      </p:sp>
      <p:sp>
        <p:nvSpPr>
          <p:cNvPr id="25" name="Text 23"/>
          <p:cNvSpPr txBox="1"/>
          <p:nvPr/>
        </p:nvSpPr>
        <p:spPr>
          <a:xfrm>
            <a:off x="749808" y="4242816"/>
            <a:ext cx="238658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Microsoft 365</a:t>
            </a:r>
            <a:endParaRPr lang="en-US" sz="1250" dirty="0"/>
          </a:p>
        </p:txBody>
      </p:sp>
      <p:sp>
        <p:nvSpPr>
          <p:cNvPr id="26" name="Text 24"/>
          <p:cNvSpPr txBox="1"/>
          <p:nvPr/>
        </p:nvSpPr>
        <p:spPr>
          <a:xfrm>
            <a:off x="749808" y="4517136"/>
            <a:ext cx="2386584" cy="384048"/>
          </a:xfrm>
          <a:prstGeom prst="rect">
            <a:avLst/>
          </a:prstGeom>
          <a:noFill/>
          <a:ln/>
        </p:spPr>
        <p:txBody>
          <a:bodyPr wrap="square" lIns="0" tIns="0" rIns="0" bIns="0" rtlCol="0" anchor="ctr"/>
          <a:lstStyle/>
          <a:p>
            <a:pPr algn="ctr" indent="0" marL="0">
              <a:buNone/>
            </a:pPr>
            <a:r>
              <a:rPr lang="en-US" sz="1050" dirty="0">
                <a:solidFill>
                  <a:srgbClr val="CFE0E2"/>
                </a:solidFill>
                <a:latin typeface="Calibri" pitchFamily="34" charset="0"/>
                <a:ea typeface="Calibri" pitchFamily="34" charset="-122"/>
                <a:cs typeface="Calibri" pitchFamily="34" charset="-120"/>
              </a:rPr>
              <a:t>Mail, SharePoint, Teams</a:t>
            </a:r>
            <a:endParaRPr lang="en-US" sz="1050" dirty="0"/>
          </a:p>
        </p:txBody>
      </p:sp>
      <p:sp>
        <p:nvSpPr>
          <p:cNvPr id="27" name="Shape 25"/>
          <p:cNvSpPr/>
          <p:nvPr/>
        </p:nvSpPr>
        <p:spPr>
          <a:xfrm>
            <a:off x="3429000" y="4114800"/>
            <a:ext cx="2606040" cy="914400"/>
          </a:xfrm>
          <a:prstGeom prst="roundRect">
            <a:avLst>
              <a:gd name="adj" fmla="val 8000"/>
            </a:avLst>
          </a:prstGeom>
          <a:solidFill>
            <a:srgbClr val="0A7C86"/>
          </a:solidFill>
          <a:ln w="12700">
            <a:solidFill>
              <a:srgbClr val="0A7C86"/>
            </a:solidFill>
            <a:prstDash val="solid"/>
          </a:ln>
        </p:spPr>
      </p:sp>
      <p:sp>
        <p:nvSpPr>
          <p:cNvPr id="28" name="Text 26"/>
          <p:cNvSpPr txBox="1"/>
          <p:nvPr/>
        </p:nvSpPr>
        <p:spPr>
          <a:xfrm>
            <a:off x="3538728" y="4242816"/>
            <a:ext cx="238658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Customer portal</a:t>
            </a:r>
            <a:endParaRPr lang="en-US" sz="1250" dirty="0"/>
          </a:p>
        </p:txBody>
      </p:sp>
      <p:sp>
        <p:nvSpPr>
          <p:cNvPr id="29" name="Text 27"/>
          <p:cNvSpPr txBox="1"/>
          <p:nvPr/>
        </p:nvSpPr>
        <p:spPr>
          <a:xfrm>
            <a:off x="3538728" y="4517136"/>
            <a:ext cx="2386584" cy="384048"/>
          </a:xfrm>
          <a:prstGeom prst="rect">
            <a:avLst/>
          </a:prstGeom>
          <a:noFill/>
          <a:ln/>
        </p:spPr>
        <p:txBody>
          <a:bodyPr wrap="square" lIns="0" tIns="0" rIns="0" bIns="0" rtlCol="0" anchor="ctr"/>
          <a:lstStyle/>
          <a:p>
            <a:pPr algn="ctr" indent="0" marL="0">
              <a:buNone/>
            </a:pPr>
            <a:r>
              <a:rPr lang="en-US" sz="1050" dirty="0">
                <a:solidFill>
                  <a:srgbClr val="CFE0E2"/>
                </a:solidFill>
                <a:latin typeface="Calibri" pitchFamily="34" charset="0"/>
                <a:ea typeface="Calibri" pitchFamily="34" charset="-122"/>
                <a:cs typeface="Calibri" pitchFamily="34" charset="-120"/>
              </a:rPr>
              <a:t>Cloud-hosted</a:t>
            </a:r>
            <a:endParaRPr lang="en-US" sz="1050" dirty="0"/>
          </a:p>
        </p:txBody>
      </p:sp>
      <p:sp>
        <p:nvSpPr>
          <p:cNvPr id="30" name="Shape 28"/>
          <p:cNvSpPr/>
          <p:nvPr/>
        </p:nvSpPr>
        <p:spPr>
          <a:xfrm>
            <a:off x="6217920" y="4114800"/>
            <a:ext cx="2606040" cy="914400"/>
          </a:xfrm>
          <a:prstGeom prst="roundRect">
            <a:avLst>
              <a:gd name="adj" fmla="val 8000"/>
            </a:avLst>
          </a:prstGeom>
          <a:solidFill>
            <a:srgbClr val="0A7C86"/>
          </a:solidFill>
          <a:ln w="12700">
            <a:solidFill>
              <a:srgbClr val="0A7C86"/>
            </a:solidFill>
            <a:prstDash val="solid"/>
          </a:ln>
        </p:spPr>
      </p:sp>
      <p:sp>
        <p:nvSpPr>
          <p:cNvPr id="31" name="Text 29"/>
          <p:cNvSpPr txBox="1"/>
          <p:nvPr/>
        </p:nvSpPr>
        <p:spPr>
          <a:xfrm>
            <a:off x="6327648" y="4242816"/>
            <a:ext cx="2386584"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HR &amp; payroll app</a:t>
            </a:r>
            <a:endParaRPr lang="en-US" sz="1250" dirty="0"/>
          </a:p>
        </p:txBody>
      </p:sp>
      <p:sp>
        <p:nvSpPr>
          <p:cNvPr id="32" name="Text 30"/>
          <p:cNvSpPr txBox="1"/>
          <p:nvPr/>
        </p:nvSpPr>
        <p:spPr>
          <a:xfrm>
            <a:off x="6327648" y="4517136"/>
            <a:ext cx="2386584" cy="384048"/>
          </a:xfrm>
          <a:prstGeom prst="rect">
            <a:avLst/>
          </a:prstGeom>
          <a:noFill/>
          <a:ln/>
        </p:spPr>
        <p:txBody>
          <a:bodyPr wrap="square" lIns="0" tIns="0" rIns="0" bIns="0" rtlCol="0" anchor="ctr"/>
          <a:lstStyle/>
          <a:p>
            <a:pPr algn="ctr" indent="0" marL="0">
              <a:buNone/>
            </a:pPr>
            <a:r>
              <a:rPr lang="en-US" sz="1050" dirty="0">
                <a:solidFill>
                  <a:srgbClr val="CFE0E2"/>
                </a:solidFill>
                <a:latin typeface="Calibri" pitchFamily="34" charset="0"/>
                <a:ea typeface="Calibri" pitchFamily="34" charset="-122"/>
                <a:cs typeface="Calibri" pitchFamily="34" charset="-120"/>
              </a:rPr>
              <a:t>Internal, PII-heavy</a:t>
            </a:r>
            <a:endParaRPr lang="en-US" sz="1050" dirty="0"/>
          </a:p>
        </p:txBody>
      </p:sp>
      <p:sp>
        <p:nvSpPr>
          <p:cNvPr id="33" name="Shape 31"/>
          <p:cNvSpPr/>
          <p:nvPr/>
        </p:nvSpPr>
        <p:spPr>
          <a:xfrm>
            <a:off x="9006840" y="4114800"/>
            <a:ext cx="2542032" cy="914400"/>
          </a:xfrm>
          <a:prstGeom prst="roundRect">
            <a:avLst>
              <a:gd name="adj" fmla="val 8000"/>
            </a:avLst>
          </a:prstGeom>
          <a:solidFill>
            <a:srgbClr val="0A7C86"/>
          </a:solidFill>
          <a:ln w="12700">
            <a:solidFill>
              <a:srgbClr val="0A7C86"/>
            </a:solidFill>
            <a:prstDash val="solid"/>
          </a:ln>
        </p:spPr>
      </p:sp>
      <p:sp>
        <p:nvSpPr>
          <p:cNvPr id="34" name="Text 32"/>
          <p:cNvSpPr txBox="1"/>
          <p:nvPr/>
        </p:nvSpPr>
        <p:spPr>
          <a:xfrm>
            <a:off x="9116568" y="4242816"/>
            <a:ext cx="2322576"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On-prem file server</a:t>
            </a:r>
            <a:endParaRPr lang="en-US" sz="1250" dirty="0"/>
          </a:p>
        </p:txBody>
      </p:sp>
      <p:sp>
        <p:nvSpPr>
          <p:cNvPr id="35" name="Text 33"/>
          <p:cNvSpPr txBox="1"/>
          <p:nvPr/>
        </p:nvSpPr>
        <p:spPr>
          <a:xfrm>
            <a:off x="9116568" y="4517136"/>
            <a:ext cx="2322576" cy="384048"/>
          </a:xfrm>
          <a:prstGeom prst="rect">
            <a:avLst/>
          </a:prstGeom>
          <a:noFill/>
          <a:ln/>
        </p:spPr>
        <p:txBody>
          <a:bodyPr wrap="square" lIns="0" tIns="0" rIns="0" bIns="0" rtlCol="0" anchor="ctr"/>
          <a:lstStyle/>
          <a:p>
            <a:pPr algn="ctr" indent="0" marL="0">
              <a:buNone/>
            </a:pPr>
            <a:r>
              <a:rPr lang="en-US" sz="1050" dirty="0">
                <a:solidFill>
                  <a:srgbClr val="CFE0E2"/>
                </a:solidFill>
                <a:latin typeface="Calibri" pitchFamily="34" charset="0"/>
                <a:ea typeface="Calibri" pitchFamily="34" charset="-122"/>
                <a:cs typeface="Calibri" pitchFamily="34" charset="-120"/>
              </a:rPr>
              <a:t>Head office LAN</a:t>
            </a:r>
            <a:endParaRPr lang="en-US" sz="1050" dirty="0"/>
          </a:p>
        </p:txBody>
      </p:sp>
      <p:sp>
        <p:nvSpPr>
          <p:cNvPr id="36" name="Shape 34"/>
          <p:cNvSpPr/>
          <p:nvPr/>
        </p:nvSpPr>
        <p:spPr>
          <a:xfrm>
            <a:off x="640080" y="5349240"/>
            <a:ext cx="5394960" cy="777240"/>
          </a:xfrm>
          <a:prstGeom prst="roundRect">
            <a:avLst>
              <a:gd name="adj" fmla="val 9412"/>
            </a:avLst>
          </a:prstGeom>
          <a:solidFill>
            <a:srgbClr val="EFF4F5"/>
          </a:solidFill>
          <a:ln w="12700">
            <a:solidFill>
              <a:srgbClr val="EFF4F5"/>
            </a:solidFill>
            <a:prstDash val="solid"/>
          </a:ln>
        </p:spPr>
      </p:sp>
      <p:sp>
        <p:nvSpPr>
          <p:cNvPr id="37" name="Text 35"/>
          <p:cNvSpPr txBox="1"/>
          <p:nvPr/>
        </p:nvSpPr>
        <p:spPr>
          <a:xfrm>
            <a:off x="749808" y="5477256"/>
            <a:ext cx="5175504" cy="274320"/>
          </a:xfrm>
          <a:prstGeom prst="rect">
            <a:avLst/>
          </a:prstGeom>
          <a:noFill/>
          <a:ln/>
        </p:spPr>
        <p:txBody>
          <a:bodyPr wrap="square" lIns="0" tIns="0" rIns="0" bIns="0" rtlCol="0" anchor="ctr"/>
          <a:lstStyle/>
          <a:p>
            <a:pPr algn="ctr" indent="0" marL="0">
              <a:buNone/>
            </a:pPr>
            <a:r>
              <a:rPr lang="en-US" sz="1250" b="1" dirty="0">
                <a:solidFill>
                  <a:srgbClr val="16262E"/>
                </a:solidFill>
                <a:latin typeface="Calibri" pitchFamily="34" charset="0"/>
                <a:ea typeface="Calibri" pitchFamily="34" charset="-122"/>
                <a:cs typeface="Calibri" pitchFamily="34" charset="-120"/>
              </a:rPr>
              <a:t>Backups - local NAS + cloud copy</a:t>
            </a:r>
            <a:endParaRPr lang="en-US" sz="1250" dirty="0"/>
          </a:p>
        </p:txBody>
      </p:sp>
      <p:sp>
        <p:nvSpPr>
          <p:cNvPr id="38" name="Text 36"/>
          <p:cNvSpPr txBox="1"/>
          <p:nvPr/>
        </p:nvSpPr>
        <p:spPr>
          <a:xfrm>
            <a:off x="749808" y="5751576"/>
            <a:ext cx="5175504" cy="384048"/>
          </a:xfrm>
          <a:prstGeom prst="rect">
            <a:avLst/>
          </a:prstGeom>
          <a:noFill/>
          <a:ln/>
        </p:spPr>
        <p:txBody>
          <a:bodyPr wrap="square" lIns="0" tIns="0" rIns="0" bIns="0" rtlCol="0" anchor="ctr"/>
          <a:lstStyle/>
          <a:p>
            <a:pPr algn="ctr" indent="0" marL="0">
              <a:buNone/>
            </a:pPr>
            <a:r>
              <a:rPr lang="en-US" sz="1050" dirty="0">
                <a:solidFill>
                  <a:srgbClr val="5C6B73"/>
                </a:solidFill>
                <a:latin typeface="Calibri" pitchFamily="34" charset="0"/>
                <a:ea typeface="Calibri" pitchFamily="34" charset="-122"/>
                <a:cs typeface="Calibri" pitchFamily="34" charset="-120"/>
              </a:rPr>
              <a:t>Running nightly; restore untested in 12 months (F-06)</a:t>
            </a:r>
            <a:endParaRPr lang="en-US" sz="1050" dirty="0"/>
          </a:p>
        </p:txBody>
      </p:sp>
      <p:sp>
        <p:nvSpPr>
          <p:cNvPr id="39" name="Shape 37"/>
          <p:cNvSpPr/>
          <p:nvPr/>
        </p:nvSpPr>
        <p:spPr>
          <a:xfrm>
            <a:off x="6217920" y="5349240"/>
            <a:ext cx="5330952" cy="777240"/>
          </a:xfrm>
          <a:prstGeom prst="roundRect">
            <a:avLst>
              <a:gd name="adj" fmla="val 9412"/>
            </a:avLst>
          </a:prstGeom>
          <a:solidFill>
            <a:srgbClr val="EFF4F5"/>
          </a:solidFill>
          <a:ln w="12700">
            <a:solidFill>
              <a:srgbClr val="EFF4F5"/>
            </a:solidFill>
            <a:prstDash val="solid"/>
          </a:ln>
        </p:spPr>
      </p:sp>
      <p:sp>
        <p:nvSpPr>
          <p:cNvPr id="40" name="Text 38"/>
          <p:cNvSpPr txBox="1"/>
          <p:nvPr/>
        </p:nvSpPr>
        <p:spPr>
          <a:xfrm>
            <a:off x="6327648" y="5477256"/>
            <a:ext cx="5111496" cy="274320"/>
          </a:xfrm>
          <a:prstGeom prst="rect">
            <a:avLst/>
          </a:prstGeom>
          <a:noFill/>
          <a:ln/>
        </p:spPr>
        <p:txBody>
          <a:bodyPr wrap="square" lIns="0" tIns="0" rIns="0" bIns="0" rtlCol="0" anchor="ctr"/>
          <a:lstStyle/>
          <a:p>
            <a:pPr algn="ctr" indent="0" marL="0">
              <a:buNone/>
            </a:pPr>
            <a:r>
              <a:rPr lang="en-US" sz="1250" b="1" dirty="0">
                <a:solidFill>
                  <a:srgbClr val="16262E"/>
                </a:solidFill>
                <a:latin typeface="Calibri" pitchFamily="34" charset="0"/>
                <a:ea typeface="Calibri" pitchFamily="34" charset="-122"/>
                <a:cs typeface="Calibri" pitchFamily="34" charset="-120"/>
              </a:rPr>
              <a:t>Logging &amp; monitoring</a:t>
            </a:r>
            <a:endParaRPr lang="en-US" sz="1250" dirty="0"/>
          </a:p>
        </p:txBody>
      </p:sp>
      <p:sp>
        <p:nvSpPr>
          <p:cNvPr id="41" name="Text 39"/>
          <p:cNvSpPr txBox="1"/>
          <p:nvPr/>
        </p:nvSpPr>
        <p:spPr>
          <a:xfrm>
            <a:off x="6327648" y="5751576"/>
            <a:ext cx="5111496" cy="384048"/>
          </a:xfrm>
          <a:prstGeom prst="rect">
            <a:avLst/>
          </a:prstGeom>
          <a:noFill/>
          <a:ln/>
        </p:spPr>
        <p:txBody>
          <a:bodyPr wrap="square" lIns="0" tIns="0" rIns="0" bIns="0" rtlCol="0" anchor="ctr"/>
          <a:lstStyle/>
          <a:p>
            <a:pPr algn="ctr" indent="0" marL="0">
              <a:buNone/>
            </a:pPr>
            <a:r>
              <a:rPr lang="en-US" sz="1050" dirty="0">
                <a:solidFill>
                  <a:srgbClr val="5C6B73"/>
                </a:solidFill>
                <a:latin typeface="Calibri" pitchFamily="34" charset="0"/>
                <a:ea typeface="Calibri" pitchFamily="34" charset="-122"/>
                <a:cs typeface="Calibri" pitchFamily="34" charset="-120"/>
              </a:rPr>
              <a:t>Cloud, endpoint, firewall, app - no central review (F-04)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Audit findings at a glance</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Fifteen findings from the internal audit. I have grouped them by how quickly they can hurt us.</a:t>
            </a:r>
            <a:endParaRPr lang="en-US" sz="1400" dirty="0"/>
          </a:p>
        </p:txBody>
      </p:sp>
      <p:sp>
        <p:nvSpPr>
          <p:cNvPr id="4" name="Shape 2"/>
          <p:cNvSpPr/>
          <p:nvPr/>
        </p:nvSpPr>
        <p:spPr>
          <a:xfrm>
            <a:off x="640080" y="1554480"/>
            <a:ext cx="3456432" cy="4206240"/>
          </a:xfrm>
          <a:prstGeom prst="roundRect">
            <a:avLst>
              <a:gd name="adj" fmla="val 1587"/>
            </a:avLst>
          </a:prstGeom>
          <a:solidFill>
            <a:srgbClr val="EFF4F5"/>
          </a:solidFill>
          <a:ln w="9525">
            <a:solidFill>
              <a:srgbClr val="D6E0E2"/>
            </a:solidFill>
            <a:prstDash val="solid"/>
          </a:ln>
        </p:spPr>
      </p:sp>
      <p:sp>
        <p:nvSpPr>
          <p:cNvPr id="5" name="Shape 3"/>
          <p:cNvSpPr/>
          <p:nvPr/>
        </p:nvSpPr>
        <p:spPr>
          <a:xfrm>
            <a:off x="914400" y="1828800"/>
            <a:ext cx="146304" cy="146304"/>
          </a:xfrm>
          <a:prstGeom prst="ellipse">
            <a:avLst/>
          </a:prstGeom>
          <a:solidFill>
            <a:srgbClr val="9E2B25"/>
          </a:solidFill>
          <a:ln/>
        </p:spPr>
      </p:sp>
      <p:sp>
        <p:nvSpPr>
          <p:cNvPr id="6" name="Text 4"/>
          <p:cNvSpPr txBox="1"/>
          <p:nvPr/>
        </p:nvSpPr>
        <p:spPr>
          <a:xfrm>
            <a:off x="1152144" y="1737360"/>
            <a:ext cx="2743200" cy="320040"/>
          </a:xfrm>
          <a:prstGeom prst="rect">
            <a:avLst/>
          </a:prstGeom>
          <a:noFill/>
          <a:ln/>
        </p:spPr>
        <p:txBody>
          <a:bodyPr wrap="square" lIns="0" tIns="0" rIns="0" bIns="0" rtlCol="0" anchor="ctr"/>
          <a:lstStyle/>
          <a:p>
            <a:pPr indent="0" marL="0">
              <a:buNone/>
            </a:pPr>
            <a:r>
              <a:rPr lang="en-US" sz="1800" b="1" dirty="0">
                <a:solidFill>
                  <a:srgbClr val="9E2B25"/>
                </a:solidFill>
                <a:latin typeface="Cambria" pitchFamily="34" charset="0"/>
                <a:ea typeface="Cambria" pitchFamily="34" charset="-122"/>
                <a:cs typeface="Cambria" pitchFamily="34" charset="-120"/>
              </a:rPr>
              <a:t>Act now</a:t>
            </a:r>
            <a:endParaRPr lang="en-US" sz="1800" dirty="0"/>
          </a:p>
        </p:txBody>
      </p:sp>
      <p:sp>
        <p:nvSpPr>
          <p:cNvPr id="7" name="Text 5"/>
          <p:cNvSpPr txBox="1"/>
          <p:nvPr/>
        </p:nvSpPr>
        <p:spPr>
          <a:xfrm>
            <a:off x="914400" y="2212848"/>
            <a:ext cx="2926080" cy="32918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F-01  Ex-contractors still in the directory</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F-02  MFA not enforced for all remote users</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F-13  Endpoints 45+ days behind on patches</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F-06  Backup restore untested for 12 months</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F-07  Incident response plan never exercised</a:t>
            </a:r>
            <a:endParaRPr lang="en-US" sz="1200" dirty="0"/>
          </a:p>
        </p:txBody>
      </p:sp>
      <p:sp>
        <p:nvSpPr>
          <p:cNvPr id="8" name="Shape 6"/>
          <p:cNvSpPr/>
          <p:nvPr/>
        </p:nvSpPr>
        <p:spPr>
          <a:xfrm>
            <a:off x="4343400" y="1554480"/>
            <a:ext cx="3456432" cy="4206240"/>
          </a:xfrm>
          <a:prstGeom prst="roundRect">
            <a:avLst>
              <a:gd name="adj" fmla="val 1587"/>
            </a:avLst>
          </a:prstGeom>
          <a:solidFill>
            <a:srgbClr val="EFF4F5"/>
          </a:solidFill>
          <a:ln w="9525">
            <a:solidFill>
              <a:srgbClr val="D6E0E2"/>
            </a:solidFill>
            <a:prstDash val="solid"/>
          </a:ln>
        </p:spPr>
      </p:sp>
      <p:sp>
        <p:nvSpPr>
          <p:cNvPr id="9" name="Shape 7"/>
          <p:cNvSpPr/>
          <p:nvPr/>
        </p:nvSpPr>
        <p:spPr>
          <a:xfrm>
            <a:off x="4617720" y="1828800"/>
            <a:ext cx="146304" cy="146304"/>
          </a:xfrm>
          <a:prstGeom prst="ellipse">
            <a:avLst/>
          </a:prstGeom>
          <a:solidFill>
            <a:srgbClr val="9A6A10"/>
          </a:solidFill>
          <a:ln/>
        </p:spPr>
      </p:sp>
      <p:sp>
        <p:nvSpPr>
          <p:cNvPr id="10" name="Text 8"/>
          <p:cNvSpPr txBox="1"/>
          <p:nvPr/>
        </p:nvSpPr>
        <p:spPr>
          <a:xfrm>
            <a:off x="4855464" y="1737360"/>
            <a:ext cx="2743200" cy="320040"/>
          </a:xfrm>
          <a:prstGeom prst="rect">
            <a:avLst/>
          </a:prstGeom>
          <a:noFill/>
          <a:ln/>
        </p:spPr>
        <p:txBody>
          <a:bodyPr wrap="square" lIns="0" tIns="0" rIns="0" bIns="0" rtlCol="0" anchor="ctr"/>
          <a:lstStyle/>
          <a:p>
            <a:pPr indent="0" marL="0">
              <a:buNone/>
            </a:pPr>
            <a:r>
              <a:rPr lang="en-US" sz="1800" b="1" dirty="0">
                <a:solidFill>
                  <a:srgbClr val="9A6A10"/>
                </a:solidFill>
                <a:latin typeface="Cambria" pitchFamily="34" charset="0"/>
                <a:ea typeface="Cambria" pitchFamily="34" charset="-122"/>
                <a:cs typeface="Cambria" pitchFamily="34" charset="-120"/>
              </a:rPr>
              <a:t>Fix this quarter</a:t>
            </a:r>
            <a:endParaRPr lang="en-US" sz="1800" dirty="0"/>
          </a:p>
        </p:txBody>
      </p:sp>
      <p:sp>
        <p:nvSpPr>
          <p:cNvPr id="11" name="Text 9"/>
          <p:cNvSpPr txBox="1"/>
          <p:nvPr/>
        </p:nvSpPr>
        <p:spPr>
          <a:xfrm>
            <a:off x="4617720" y="2212848"/>
            <a:ext cx="2926080" cy="32918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F-04  No central log review schedule</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F-05  No secure laptop baseline; local admin varies</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F-08  USB use uncontrolled</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F-10  No current PII inventory</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F-12  Vendors never assessed</a:t>
            </a:r>
            <a:endParaRPr lang="en-US" sz="1200" dirty="0"/>
          </a:p>
        </p:txBody>
      </p:sp>
      <p:sp>
        <p:nvSpPr>
          <p:cNvPr id="12" name="Shape 10"/>
          <p:cNvSpPr/>
          <p:nvPr/>
        </p:nvSpPr>
        <p:spPr>
          <a:xfrm>
            <a:off x="8046720" y="1554480"/>
            <a:ext cx="3456432" cy="4206240"/>
          </a:xfrm>
          <a:prstGeom prst="roundRect">
            <a:avLst>
              <a:gd name="adj" fmla="val 1587"/>
            </a:avLst>
          </a:prstGeom>
          <a:solidFill>
            <a:srgbClr val="EFF4F5"/>
          </a:solidFill>
          <a:ln w="9525">
            <a:solidFill>
              <a:srgbClr val="D6E0E2"/>
            </a:solidFill>
            <a:prstDash val="solid"/>
          </a:ln>
        </p:spPr>
      </p:sp>
      <p:sp>
        <p:nvSpPr>
          <p:cNvPr id="13" name="Shape 11"/>
          <p:cNvSpPr/>
          <p:nvPr/>
        </p:nvSpPr>
        <p:spPr>
          <a:xfrm>
            <a:off x="8321040" y="1828800"/>
            <a:ext cx="146304" cy="146304"/>
          </a:xfrm>
          <a:prstGeom prst="ellipse">
            <a:avLst/>
          </a:prstGeom>
          <a:solidFill>
            <a:srgbClr val="0A7C86"/>
          </a:solidFill>
          <a:ln/>
        </p:spPr>
      </p:sp>
      <p:sp>
        <p:nvSpPr>
          <p:cNvPr id="14" name="Text 12"/>
          <p:cNvSpPr txBox="1"/>
          <p:nvPr/>
        </p:nvSpPr>
        <p:spPr>
          <a:xfrm>
            <a:off x="8558784" y="1737360"/>
            <a:ext cx="2743200" cy="320040"/>
          </a:xfrm>
          <a:prstGeom prst="rect">
            <a:avLst/>
          </a:prstGeom>
          <a:noFill/>
          <a:ln/>
        </p:spPr>
        <p:txBody>
          <a:bodyPr wrap="square" lIns="0" tIns="0" rIns="0" bIns="0" rtlCol="0" anchor="ctr"/>
          <a:lstStyle/>
          <a:p>
            <a:pPr indent="0" marL="0">
              <a:buNone/>
            </a:pPr>
            <a:r>
              <a:rPr lang="en-US" sz="1800" b="1" dirty="0">
                <a:solidFill>
                  <a:srgbClr val="0A7C86"/>
                </a:solidFill>
                <a:latin typeface="Cambria" pitchFamily="34" charset="0"/>
                <a:ea typeface="Cambria" pitchFamily="34" charset="-122"/>
                <a:cs typeface="Cambria" pitchFamily="34" charset="-120"/>
              </a:rPr>
              <a:t>Build the habit</a:t>
            </a:r>
            <a:endParaRPr lang="en-US" sz="1800" dirty="0"/>
          </a:p>
        </p:txBody>
      </p:sp>
      <p:sp>
        <p:nvSpPr>
          <p:cNvPr id="15" name="Text 13"/>
          <p:cNvSpPr txBox="1"/>
          <p:nvPr/>
        </p:nvSpPr>
        <p:spPr>
          <a:xfrm>
            <a:off x="8321040" y="2212848"/>
            <a:ext cx="2926080" cy="329184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F-03  Training informal, records incomplete</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F-09  Visitor and badge handling inconsistent</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F-11  No risk register with owners</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F-14  Security terms missing from contracts</a:t>
            </a:r>
            <a:endParaRPr lang="en-US" sz="1200" dirty="0"/>
          </a:p>
          <a:p>
            <a:pPr marL="342900" indent="-342900">
              <a:lnSpc>
                <a:spcPts val="1900"/>
              </a:lnSpc>
              <a:spcAft>
                <a:spcPts val="800"/>
              </a:spcAft>
              <a:buSzPct val="100000"/>
              <a:buChar char="•"/>
            </a:pPr>
            <a:r>
              <a:rPr lang="en-US" sz="1200" dirty="0">
                <a:solidFill>
                  <a:srgbClr val="16262E"/>
                </a:solidFill>
                <a:latin typeface="Calibri" pitchFamily="34" charset="0"/>
                <a:ea typeface="Calibri" pitchFamily="34" charset="-122"/>
                <a:cs typeface="Calibri" pitchFamily="34" charset="-120"/>
              </a:rPr>
              <a:t>F-15  Policy ownership and review dates unclear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How I assessed the controls</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Same four questions for every control, so the answers can be compared and re-checked later.</a:t>
            </a:r>
            <a:endParaRPr lang="en-US" sz="1400" dirty="0"/>
          </a:p>
        </p:txBody>
      </p:sp>
      <p:sp>
        <p:nvSpPr>
          <p:cNvPr id="4" name="Shape 2"/>
          <p:cNvSpPr/>
          <p:nvPr/>
        </p:nvSpPr>
        <p:spPr>
          <a:xfrm>
            <a:off x="640080" y="1691640"/>
            <a:ext cx="2542032" cy="2148840"/>
          </a:xfrm>
          <a:prstGeom prst="roundRect">
            <a:avLst>
              <a:gd name="adj" fmla="val 2553"/>
            </a:avLst>
          </a:prstGeom>
          <a:solidFill>
            <a:srgbClr val="EFF4F5"/>
          </a:solidFill>
          <a:ln w="9525">
            <a:solidFill>
              <a:srgbClr val="D6E0E2"/>
            </a:solidFill>
            <a:prstDash val="solid"/>
          </a:ln>
        </p:spPr>
      </p:sp>
      <p:sp>
        <p:nvSpPr>
          <p:cNvPr id="5" name="Shape 3"/>
          <p:cNvSpPr/>
          <p:nvPr/>
        </p:nvSpPr>
        <p:spPr>
          <a:xfrm>
            <a:off x="896112" y="1920240"/>
            <a:ext cx="310896" cy="310896"/>
          </a:xfrm>
          <a:prstGeom prst="ellipse">
            <a:avLst/>
          </a:prstGeom>
          <a:solidFill>
            <a:srgbClr val="064E57"/>
          </a:solidFill>
          <a:ln/>
        </p:spPr>
      </p:sp>
      <p:sp>
        <p:nvSpPr>
          <p:cNvPr id="6" name="Text 4"/>
          <p:cNvSpPr txBox="1"/>
          <p:nvPr/>
        </p:nvSpPr>
        <p:spPr>
          <a:xfrm>
            <a:off x="896112" y="1947672"/>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896112" y="2331720"/>
            <a:ext cx="2011680" cy="292608"/>
          </a:xfrm>
          <a:prstGeom prst="rect">
            <a:avLst/>
          </a:prstGeom>
          <a:noFill/>
          <a:ln/>
        </p:spPr>
        <p:txBody>
          <a:bodyPr wrap="square" lIns="0" tIns="0" rIns="0" bIns="0" rtlCol="0" anchor="ctr"/>
          <a:lstStyle/>
          <a:p>
            <a:pPr indent="0" marL="0">
              <a:buNone/>
            </a:pPr>
            <a:r>
              <a:rPr lang="en-US" sz="1700" b="1" dirty="0">
                <a:solidFill>
                  <a:srgbClr val="16262E"/>
                </a:solidFill>
                <a:latin typeface="Cambria" pitchFamily="34" charset="0"/>
                <a:ea typeface="Cambria" pitchFamily="34" charset="-122"/>
                <a:cs typeface="Cambria" pitchFamily="34" charset="-120"/>
              </a:rPr>
              <a:t>Examine</a:t>
            </a:r>
            <a:endParaRPr lang="en-US" sz="1700" dirty="0"/>
          </a:p>
        </p:txBody>
      </p:sp>
      <p:sp>
        <p:nvSpPr>
          <p:cNvPr id="8" name="Text 6"/>
          <p:cNvSpPr txBox="1"/>
          <p:nvPr/>
        </p:nvSpPr>
        <p:spPr>
          <a:xfrm>
            <a:off x="896112" y="2670048"/>
            <a:ext cx="2057400" cy="1097280"/>
          </a:xfrm>
          <a:prstGeom prst="rect">
            <a:avLst/>
          </a:prstGeom>
          <a:noFill/>
          <a:ln/>
        </p:spPr>
        <p:txBody>
          <a:bodyPr wrap="square" lIns="0" tIns="0" rIns="0" bIns="0" rtlCol="0" anchor="ctr"/>
          <a:lstStyle/>
          <a:p>
            <a:pPr indent="0" marL="0">
              <a:lnSpc>
                <a:spcPts val="1700"/>
              </a:lnSpc>
              <a:buNone/>
            </a:pPr>
            <a:r>
              <a:rPr lang="en-US" sz="1200" dirty="0">
                <a:solidFill>
                  <a:srgbClr val="5C6B73"/>
                </a:solidFill>
                <a:latin typeface="Calibri" pitchFamily="34" charset="0"/>
                <a:ea typeface="Calibri" pitchFamily="34" charset="-122"/>
                <a:cs typeface="Calibri" pitchFamily="34" charset="-120"/>
              </a:rPr>
              <a:t>Read the policy, procedure, config export or record that is supposed to prove the control exists.</a:t>
            </a:r>
            <a:endParaRPr lang="en-US" sz="1200" dirty="0"/>
          </a:p>
        </p:txBody>
      </p:sp>
      <p:sp>
        <p:nvSpPr>
          <p:cNvPr id="9" name="Shape 7"/>
          <p:cNvSpPr/>
          <p:nvPr/>
        </p:nvSpPr>
        <p:spPr>
          <a:xfrm>
            <a:off x="3227832" y="2761488"/>
            <a:ext cx="146304" cy="0"/>
          </a:xfrm>
          <a:prstGeom prst="line">
            <a:avLst/>
          </a:prstGeom>
          <a:noFill/>
          <a:ln w="15875">
            <a:solidFill>
              <a:srgbClr val="9AAAB0"/>
            </a:solidFill>
            <a:prstDash val="solid"/>
            <a:tailEnd type="triangle"/>
          </a:ln>
        </p:spPr>
      </p:sp>
      <p:sp>
        <p:nvSpPr>
          <p:cNvPr id="10" name="Shape 8"/>
          <p:cNvSpPr/>
          <p:nvPr/>
        </p:nvSpPr>
        <p:spPr>
          <a:xfrm>
            <a:off x="3410712" y="1691640"/>
            <a:ext cx="2542032" cy="2148840"/>
          </a:xfrm>
          <a:prstGeom prst="roundRect">
            <a:avLst>
              <a:gd name="adj" fmla="val 2553"/>
            </a:avLst>
          </a:prstGeom>
          <a:solidFill>
            <a:srgbClr val="EFF4F5"/>
          </a:solidFill>
          <a:ln w="9525">
            <a:solidFill>
              <a:srgbClr val="D6E0E2"/>
            </a:solidFill>
            <a:prstDash val="solid"/>
          </a:ln>
        </p:spPr>
      </p:sp>
      <p:sp>
        <p:nvSpPr>
          <p:cNvPr id="11" name="Shape 9"/>
          <p:cNvSpPr/>
          <p:nvPr/>
        </p:nvSpPr>
        <p:spPr>
          <a:xfrm>
            <a:off x="3666744" y="1920240"/>
            <a:ext cx="310896" cy="310896"/>
          </a:xfrm>
          <a:prstGeom prst="ellipse">
            <a:avLst/>
          </a:prstGeom>
          <a:solidFill>
            <a:srgbClr val="064E57"/>
          </a:solidFill>
          <a:ln/>
        </p:spPr>
      </p:sp>
      <p:sp>
        <p:nvSpPr>
          <p:cNvPr id="12" name="Text 10"/>
          <p:cNvSpPr txBox="1"/>
          <p:nvPr/>
        </p:nvSpPr>
        <p:spPr>
          <a:xfrm>
            <a:off x="3666744" y="1947672"/>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666744" y="2331720"/>
            <a:ext cx="2011680" cy="292608"/>
          </a:xfrm>
          <a:prstGeom prst="rect">
            <a:avLst/>
          </a:prstGeom>
          <a:noFill/>
          <a:ln/>
        </p:spPr>
        <p:txBody>
          <a:bodyPr wrap="square" lIns="0" tIns="0" rIns="0" bIns="0" rtlCol="0" anchor="ctr"/>
          <a:lstStyle/>
          <a:p>
            <a:pPr indent="0" marL="0">
              <a:buNone/>
            </a:pPr>
            <a:r>
              <a:rPr lang="en-US" sz="1700" b="1" dirty="0">
                <a:solidFill>
                  <a:srgbClr val="16262E"/>
                </a:solidFill>
                <a:latin typeface="Cambria" pitchFamily="34" charset="0"/>
                <a:ea typeface="Cambria" pitchFamily="34" charset="-122"/>
                <a:cs typeface="Cambria" pitchFamily="34" charset="-120"/>
              </a:rPr>
              <a:t>Interview</a:t>
            </a:r>
            <a:endParaRPr lang="en-US" sz="1700" dirty="0"/>
          </a:p>
        </p:txBody>
      </p:sp>
      <p:sp>
        <p:nvSpPr>
          <p:cNvPr id="14" name="Text 12"/>
          <p:cNvSpPr txBox="1"/>
          <p:nvPr/>
        </p:nvSpPr>
        <p:spPr>
          <a:xfrm>
            <a:off x="3666744" y="2670048"/>
            <a:ext cx="2057400" cy="1097280"/>
          </a:xfrm>
          <a:prstGeom prst="rect">
            <a:avLst/>
          </a:prstGeom>
          <a:noFill/>
          <a:ln/>
        </p:spPr>
        <p:txBody>
          <a:bodyPr wrap="square" lIns="0" tIns="0" rIns="0" bIns="0" rtlCol="0" anchor="ctr"/>
          <a:lstStyle/>
          <a:p>
            <a:pPr indent="0" marL="0">
              <a:lnSpc>
                <a:spcPts val="1700"/>
              </a:lnSpc>
              <a:buNone/>
            </a:pPr>
            <a:r>
              <a:rPr lang="en-US" sz="1200" dirty="0">
                <a:solidFill>
                  <a:srgbClr val="5C6B73"/>
                </a:solidFill>
                <a:latin typeface="Calibri" pitchFamily="34" charset="0"/>
                <a:ea typeface="Calibri" pitchFamily="34" charset="-122"/>
                <a:cs typeface="Calibri" pitchFamily="34" charset="-120"/>
              </a:rPr>
              <a:t>Ask the person who owns it how it actually runs on a normal week - not how it is written.</a:t>
            </a:r>
            <a:endParaRPr lang="en-US" sz="1200" dirty="0"/>
          </a:p>
        </p:txBody>
      </p:sp>
      <p:sp>
        <p:nvSpPr>
          <p:cNvPr id="15" name="Shape 13"/>
          <p:cNvSpPr/>
          <p:nvPr/>
        </p:nvSpPr>
        <p:spPr>
          <a:xfrm>
            <a:off x="5998464" y="2761488"/>
            <a:ext cx="146304" cy="0"/>
          </a:xfrm>
          <a:prstGeom prst="line">
            <a:avLst/>
          </a:prstGeom>
          <a:noFill/>
          <a:ln w="15875">
            <a:solidFill>
              <a:srgbClr val="9AAAB0"/>
            </a:solidFill>
            <a:prstDash val="solid"/>
            <a:tailEnd type="triangle"/>
          </a:ln>
        </p:spPr>
      </p:sp>
      <p:sp>
        <p:nvSpPr>
          <p:cNvPr id="16" name="Shape 14"/>
          <p:cNvSpPr/>
          <p:nvPr/>
        </p:nvSpPr>
        <p:spPr>
          <a:xfrm>
            <a:off x="6181344" y="1691640"/>
            <a:ext cx="2542032" cy="2148840"/>
          </a:xfrm>
          <a:prstGeom prst="roundRect">
            <a:avLst>
              <a:gd name="adj" fmla="val 2553"/>
            </a:avLst>
          </a:prstGeom>
          <a:solidFill>
            <a:srgbClr val="EFF4F5"/>
          </a:solidFill>
          <a:ln w="9525">
            <a:solidFill>
              <a:srgbClr val="D6E0E2"/>
            </a:solidFill>
            <a:prstDash val="solid"/>
          </a:ln>
        </p:spPr>
      </p:sp>
      <p:sp>
        <p:nvSpPr>
          <p:cNvPr id="17" name="Shape 15"/>
          <p:cNvSpPr/>
          <p:nvPr/>
        </p:nvSpPr>
        <p:spPr>
          <a:xfrm>
            <a:off x="6437376" y="1920240"/>
            <a:ext cx="310896" cy="310896"/>
          </a:xfrm>
          <a:prstGeom prst="ellipse">
            <a:avLst/>
          </a:prstGeom>
          <a:solidFill>
            <a:srgbClr val="064E57"/>
          </a:solidFill>
          <a:ln/>
        </p:spPr>
      </p:sp>
      <p:sp>
        <p:nvSpPr>
          <p:cNvPr id="18" name="Text 16"/>
          <p:cNvSpPr txBox="1"/>
          <p:nvPr/>
        </p:nvSpPr>
        <p:spPr>
          <a:xfrm>
            <a:off x="6437376" y="1947672"/>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6437376" y="2331720"/>
            <a:ext cx="2011680" cy="292608"/>
          </a:xfrm>
          <a:prstGeom prst="rect">
            <a:avLst/>
          </a:prstGeom>
          <a:noFill/>
          <a:ln/>
        </p:spPr>
        <p:txBody>
          <a:bodyPr wrap="square" lIns="0" tIns="0" rIns="0" bIns="0" rtlCol="0" anchor="ctr"/>
          <a:lstStyle/>
          <a:p>
            <a:pPr indent="0" marL="0">
              <a:buNone/>
            </a:pPr>
            <a:r>
              <a:rPr lang="en-US" sz="1700" b="1" dirty="0">
                <a:solidFill>
                  <a:srgbClr val="16262E"/>
                </a:solidFill>
                <a:latin typeface="Cambria" pitchFamily="34" charset="0"/>
                <a:ea typeface="Cambria" pitchFamily="34" charset="-122"/>
                <a:cs typeface="Cambria" pitchFamily="34" charset="-120"/>
              </a:rPr>
              <a:t>Test / observe</a:t>
            </a:r>
            <a:endParaRPr lang="en-US" sz="1700" dirty="0"/>
          </a:p>
        </p:txBody>
      </p:sp>
      <p:sp>
        <p:nvSpPr>
          <p:cNvPr id="20" name="Text 18"/>
          <p:cNvSpPr txBox="1"/>
          <p:nvPr/>
        </p:nvSpPr>
        <p:spPr>
          <a:xfrm>
            <a:off x="6437376" y="2670048"/>
            <a:ext cx="2057400" cy="1097280"/>
          </a:xfrm>
          <a:prstGeom prst="rect">
            <a:avLst/>
          </a:prstGeom>
          <a:noFill/>
          <a:ln/>
        </p:spPr>
        <p:txBody>
          <a:bodyPr wrap="square" lIns="0" tIns="0" rIns="0" bIns="0" rtlCol="0" anchor="ctr"/>
          <a:lstStyle/>
          <a:p>
            <a:pPr indent="0" marL="0">
              <a:lnSpc>
                <a:spcPts val="1700"/>
              </a:lnSpc>
              <a:buNone/>
            </a:pPr>
            <a:r>
              <a:rPr lang="en-US" sz="1200" dirty="0">
                <a:solidFill>
                  <a:srgbClr val="5C6B73"/>
                </a:solidFill>
                <a:latin typeface="Calibri" pitchFamily="34" charset="0"/>
                <a:ea typeface="Calibri" pitchFamily="34" charset="-122"/>
                <a:cs typeface="Calibri" pitchFamily="34" charset="-120"/>
              </a:rPr>
              <a:t>Watch it work: pull a directory list, check a patch report, sit in on a restore.</a:t>
            </a:r>
            <a:endParaRPr lang="en-US" sz="1200" dirty="0"/>
          </a:p>
        </p:txBody>
      </p:sp>
      <p:sp>
        <p:nvSpPr>
          <p:cNvPr id="21" name="Shape 19"/>
          <p:cNvSpPr/>
          <p:nvPr/>
        </p:nvSpPr>
        <p:spPr>
          <a:xfrm>
            <a:off x="8769096" y="2761488"/>
            <a:ext cx="146304" cy="0"/>
          </a:xfrm>
          <a:prstGeom prst="line">
            <a:avLst/>
          </a:prstGeom>
          <a:noFill/>
          <a:ln w="15875">
            <a:solidFill>
              <a:srgbClr val="9AAAB0"/>
            </a:solidFill>
            <a:prstDash val="solid"/>
            <a:tailEnd type="triangle"/>
          </a:ln>
        </p:spPr>
      </p:sp>
      <p:sp>
        <p:nvSpPr>
          <p:cNvPr id="22" name="Shape 20"/>
          <p:cNvSpPr/>
          <p:nvPr/>
        </p:nvSpPr>
        <p:spPr>
          <a:xfrm>
            <a:off x="8951976" y="1691640"/>
            <a:ext cx="2542032" cy="2148840"/>
          </a:xfrm>
          <a:prstGeom prst="roundRect">
            <a:avLst>
              <a:gd name="adj" fmla="val 2553"/>
            </a:avLst>
          </a:prstGeom>
          <a:solidFill>
            <a:srgbClr val="EFF4F5"/>
          </a:solidFill>
          <a:ln w="9525">
            <a:solidFill>
              <a:srgbClr val="D6E0E2"/>
            </a:solidFill>
            <a:prstDash val="solid"/>
          </a:ln>
        </p:spPr>
      </p:sp>
      <p:sp>
        <p:nvSpPr>
          <p:cNvPr id="23" name="Shape 21"/>
          <p:cNvSpPr/>
          <p:nvPr/>
        </p:nvSpPr>
        <p:spPr>
          <a:xfrm>
            <a:off x="9208008" y="1920240"/>
            <a:ext cx="310896" cy="310896"/>
          </a:xfrm>
          <a:prstGeom prst="ellipse">
            <a:avLst/>
          </a:prstGeom>
          <a:solidFill>
            <a:srgbClr val="064E57"/>
          </a:solidFill>
          <a:ln/>
        </p:spPr>
      </p:sp>
      <p:sp>
        <p:nvSpPr>
          <p:cNvPr id="24" name="Text 22"/>
          <p:cNvSpPr txBox="1"/>
          <p:nvPr/>
        </p:nvSpPr>
        <p:spPr>
          <a:xfrm>
            <a:off x="9208008" y="1947672"/>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9208008" y="2331720"/>
            <a:ext cx="2011680" cy="292608"/>
          </a:xfrm>
          <a:prstGeom prst="rect">
            <a:avLst/>
          </a:prstGeom>
          <a:noFill/>
          <a:ln/>
        </p:spPr>
        <p:txBody>
          <a:bodyPr wrap="square" lIns="0" tIns="0" rIns="0" bIns="0" rtlCol="0" anchor="ctr"/>
          <a:lstStyle/>
          <a:p>
            <a:pPr indent="0" marL="0">
              <a:buNone/>
            </a:pPr>
            <a:r>
              <a:rPr lang="en-US" sz="1700" b="1" dirty="0">
                <a:solidFill>
                  <a:srgbClr val="16262E"/>
                </a:solidFill>
                <a:latin typeface="Cambria" pitchFamily="34" charset="0"/>
                <a:ea typeface="Cambria" pitchFamily="34" charset="-122"/>
                <a:cs typeface="Cambria" pitchFamily="34" charset="-120"/>
              </a:rPr>
              <a:t>Rate &amp; evidence</a:t>
            </a:r>
            <a:endParaRPr lang="en-US" sz="1700" dirty="0"/>
          </a:p>
        </p:txBody>
      </p:sp>
      <p:sp>
        <p:nvSpPr>
          <p:cNvPr id="26" name="Text 24"/>
          <p:cNvSpPr txBox="1"/>
          <p:nvPr/>
        </p:nvSpPr>
        <p:spPr>
          <a:xfrm>
            <a:off x="9208008" y="2670048"/>
            <a:ext cx="2057400" cy="1097280"/>
          </a:xfrm>
          <a:prstGeom prst="rect">
            <a:avLst/>
          </a:prstGeom>
          <a:noFill/>
          <a:ln/>
        </p:spPr>
        <p:txBody>
          <a:bodyPr wrap="square" lIns="0" tIns="0" rIns="0" bIns="0" rtlCol="0" anchor="ctr"/>
          <a:lstStyle/>
          <a:p>
            <a:pPr indent="0" marL="0">
              <a:lnSpc>
                <a:spcPts val="1700"/>
              </a:lnSpc>
              <a:buNone/>
            </a:pPr>
            <a:r>
              <a:rPr lang="en-US" sz="1200" dirty="0">
                <a:solidFill>
                  <a:srgbClr val="5C6B73"/>
                </a:solidFill>
                <a:latin typeface="Calibri" pitchFamily="34" charset="0"/>
                <a:ea typeface="Calibri" pitchFamily="34" charset="-122"/>
                <a:cs typeface="Calibri" pitchFamily="34" charset="-120"/>
              </a:rPr>
              <a:t>Record a status, attach the evidence, name an owner, raise a finding if there is a gap.</a:t>
            </a:r>
            <a:endParaRPr lang="en-US" sz="1200" dirty="0"/>
          </a:p>
        </p:txBody>
      </p:sp>
      <p:sp>
        <p:nvSpPr>
          <p:cNvPr id="27" name="Shape 25"/>
          <p:cNvSpPr/>
          <p:nvPr/>
        </p:nvSpPr>
        <p:spPr>
          <a:xfrm>
            <a:off x="640080" y="4114800"/>
            <a:ext cx="10908792" cy="1463040"/>
          </a:xfrm>
          <a:prstGeom prst="roundRect">
            <a:avLst>
              <a:gd name="adj" fmla="val 3750"/>
            </a:avLst>
          </a:prstGeom>
          <a:solidFill>
            <a:srgbClr val="F3F8F8"/>
          </a:solidFill>
          <a:ln w="9525">
            <a:solidFill>
              <a:srgbClr val="D6E0E2"/>
            </a:solidFill>
            <a:prstDash val="solid"/>
          </a:ln>
        </p:spPr>
      </p:sp>
      <p:sp>
        <p:nvSpPr>
          <p:cNvPr id="28" name="Text 26"/>
          <p:cNvSpPr txBox="1"/>
          <p:nvPr/>
        </p:nvSpPr>
        <p:spPr>
          <a:xfrm>
            <a:off x="960120" y="4297680"/>
            <a:ext cx="4572000" cy="292608"/>
          </a:xfrm>
          <a:prstGeom prst="rect">
            <a:avLst/>
          </a:prstGeom>
          <a:noFill/>
          <a:ln/>
        </p:spPr>
        <p:txBody>
          <a:bodyPr wrap="square" lIns="0" tIns="0" rIns="0" bIns="0" rtlCol="0" anchor="ctr"/>
          <a:lstStyle/>
          <a:p>
            <a:pPr indent="0" marL="0">
              <a:buNone/>
            </a:pPr>
            <a:r>
              <a:rPr lang="en-US" sz="1700" b="1" dirty="0">
                <a:solidFill>
                  <a:srgbClr val="064E57"/>
                </a:solidFill>
                <a:latin typeface="Cambria" pitchFamily="34" charset="0"/>
                <a:ea typeface="Cambria" pitchFamily="34" charset="-122"/>
                <a:cs typeface="Cambria" pitchFamily="34" charset="-120"/>
              </a:rPr>
              <a:t>Four possible statuses</a:t>
            </a:r>
            <a:endParaRPr lang="en-US" sz="1700" dirty="0"/>
          </a:p>
        </p:txBody>
      </p:sp>
      <p:sp>
        <p:nvSpPr>
          <p:cNvPr id="29" name="Text 27"/>
          <p:cNvSpPr txBox="1"/>
          <p:nvPr/>
        </p:nvSpPr>
        <p:spPr>
          <a:xfrm>
            <a:off x="960120" y="4663440"/>
            <a:ext cx="10268712" cy="822960"/>
          </a:xfrm>
          <a:prstGeom prst="rect">
            <a:avLst/>
          </a:prstGeom>
          <a:noFill/>
          <a:ln/>
        </p:spPr>
        <p:txBody>
          <a:bodyPr wrap="square" lIns="0" tIns="0" rIns="0" bIns="0" rtlCol="0" anchor="ctr"/>
          <a:lstStyle/>
          <a:p>
            <a:pPr indent="0" marL="0">
              <a:lnSpc>
                <a:spcPts val="1900"/>
              </a:lnSpc>
              <a:buNone/>
            </a:pPr>
            <a:r>
              <a:rPr lang="en-US" sz="1300" b="1" dirty="0">
                <a:solidFill>
                  <a:srgbClr val="16262E"/>
                </a:solidFill>
                <a:latin typeface="Calibri" pitchFamily="34" charset="0"/>
                <a:ea typeface="Calibri" pitchFamily="34" charset="-122"/>
                <a:cs typeface="Calibri" pitchFamily="34" charset="-120"/>
              </a:rPr>
              <a:t>Implemented</a:t>
            </a:r>
            <a:pPr indent="0" marL="0">
              <a:lnSpc>
                <a:spcPts val="1900"/>
              </a:lnSpc>
              <a:buNone/>
            </a:pPr>
            <a:r>
              <a:rPr lang="en-US" sz="1300" dirty="0">
                <a:solidFill>
                  <a:srgbClr val="16262E"/>
                </a:solidFill>
                <a:latin typeface="Calibri" pitchFamily="34" charset="0"/>
                <a:ea typeface="Calibri" pitchFamily="34" charset="-122"/>
                <a:cs typeface="Calibri" pitchFamily="34" charset="-120"/>
              </a:rPr>
              <a:t> - working and evidenced.    </a:t>
            </a:r>
            <a:pPr indent="0" marL="0">
              <a:lnSpc>
                <a:spcPts val="1900"/>
              </a:lnSpc>
              <a:buNone/>
            </a:pPr>
            <a:r>
              <a:rPr lang="en-US" sz="1300" b="1" dirty="0">
                <a:solidFill>
                  <a:srgbClr val="16262E"/>
                </a:solidFill>
                <a:latin typeface="Calibri" pitchFamily="34" charset="0"/>
                <a:ea typeface="Calibri" pitchFamily="34" charset="-122"/>
                <a:cs typeface="Calibri" pitchFamily="34" charset="-120"/>
              </a:rPr>
              <a:t>Partially implemented</a:t>
            </a:r>
            <a:pPr indent="0" marL="0">
              <a:lnSpc>
                <a:spcPts val="1900"/>
              </a:lnSpc>
              <a:buNone/>
            </a:pPr>
            <a:r>
              <a:rPr lang="en-US" sz="1300" dirty="0">
                <a:solidFill>
                  <a:srgbClr val="16262E"/>
                </a:solidFill>
                <a:latin typeface="Calibri" pitchFamily="34" charset="0"/>
                <a:ea typeface="Calibri" pitchFamily="34" charset="-122"/>
                <a:cs typeface="Calibri" pitchFamily="34" charset="-120"/>
              </a:rPr>
              <a:t> - exists but incomplete, undocumented, or inconsistently applied.    </a:t>
            </a:r>
            <a:pPr indent="0" marL="0">
              <a:lnSpc>
                <a:spcPts val="1900"/>
              </a:lnSpc>
              <a:buNone/>
            </a:pPr>
            <a:r>
              <a:rPr lang="en-US" sz="1300" b="1" dirty="0">
                <a:solidFill>
                  <a:srgbClr val="16262E"/>
                </a:solidFill>
                <a:latin typeface="Calibri" pitchFamily="34" charset="0"/>
                <a:ea typeface="Calibri" pitchFamily="34" charset="-122"/>
                <a:cs typeface="Calibri" pitchFamily="34" charset="-120"/>
              </a:rPr>
              <a:t>Not implemented</a:t>
            </a:r>
            <a:pPr indent="0" marL="0">
              <a:lnSpc>
                <a:spcPts val="1900"/>
              </a:lnSpc>
              <a:buNone/>
            </a:pPr>
            <a:r>
              <a:rPr lang="en-US" sz="1300" dirty="0">
                <a:solidFill>
                  <a:srgbClr val="16262E"/>
                </a:solidFill>
                <a:latin typeface="Calibri" pitchFamily="34" charset="0"/>
                <a:ea typeface="Calibri" pitchFamily="34" charset="-122"/>
                <a:cs typeface="Calibri" pitchFamily="34" charset="-120"/>
              </a:rPr>
              <a:t> - absent.    </a:t>
            </a:r>
            <a:pPr indent="0" marL="0">
              <a:lnSpc>
                <a:spcPts val="1900"/>
              </a:lnSpc>
              <a:buNone/>
            </a:pPr>
            <a:r>
              <a:rPr lang="en-US" sz="1300" b="1" dirty="0">
                <a:solidFill>
                  <a:srgbClr val="16262E"/>
                </a:solidFill>
                <a:latin typeface="Calibri" pitchFamily="34" charset="0"/>
                <a:ea typeface="Calibri" pitchFamily="34" charset="-122"/>
                <a:cs typeface="Calibri" pitchFamily="34" charset="-120"/>
              </a:rPr>
              <a:t>Not applicable</a:t>
            </a:r>
            <a:pPr indent="0" marL="0">
              <a:lnSpc>
                <a:spcPts val="1900"/>
              </a:lnSpc>
              <a:buNone/>
            </a:pPr>
            <a:r>
              <a:rPr lang="en-US" sz="1300" dirty="0">
                <a:solidFill>
                  <a:srgbClr val="16262E"/>
                </a:solidFill>
                <a:latin typeface="Calibri" pitchFamily="34" charset="0"/>
                <a:ea typeface="Calibri" pitchFamily="34" charset="-122"/>
                <a:cs typeface="Calibri" pitchFamily="34" charset="-120"/>
              </a:rPr>
              <a:t> - only with a written justification. I used this sparingly; "we are small" is not a justification.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Control-family coverage</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All 20 families assessed. 42 controls in total, 10 tested in depth.</a:t>
            </a:r>
            <a:endParaRPr lang="en-US" sz="1400" dirty="0"/>
          </a:p>
        </p:txBody>
      </p:sp>
      <p:sp>
        <p:nvSpPr>
          <p:cNvPr id="4" name="Shape 2"/>
          <p:cNvSpPr/>
          <p:nvPr/>
        </p:nvSpPr>
        <p:spPr>
          <a:xfrm>
            <a:off x="640080" y="1554480"/>
            <a:ext cx="2542032" cy="1143000"/>
          </a:xfrm>
          <a:prstGeom prst="roundRect">
            <a:avLst>
              <a:gd name="adj" fmla="val 4800"/>
            </a:avLst>
          </a:prstGeom>
          <a:solidFill>
            <a:srgbClr val="EFF4F5"/>
          </a:solidFill>
          <a:ln w="9525">
            <a:solidFill>
              <a:srgbClr val="D6E0E2"/>
            </a:solidFill>
            <a:prstDash val="solid"/>
          </a:ln>
        </p:spPr>
      </p:sp>
      <p:sp>
        <p:nvSpPr>
          <p:cNvPr id="5" name="Text 3"/>
          <p:cNvSpPr txBox="1"/>
          <p:nvPr/>
        </p:nvSpPr>
        <p:spPr>
          <a:xfrm>
            <a:off x="868680" y="1664208"/>
            <a:ext cx="2103120" cy="566928"/>
          </a:xfrm>
          <a:prstGeom prst="rect">
            <a:avLst/>
          </a:prstGeom>
          <a:noFill/>
          <a:ln/>
        </p:spPr>
        <p:txBody>
          <a:bodyPr wrap="square" lIns="0" tIns="0" rIns="0" bIns="0" rtlCol="0" anchor="ctr"/>
          <a:lstStyle/>
          <a:p>
            <a:pPr indent="0" marL="0">
              <a:buNone/>
            </a:pPr>
            <a:r>
              <a:rPr lang="en-US" sz="3600" b="1" dirty="0">
                <a:solidFill>
                  <a:srgbClr val="064E57"/>
                </a:solidFill>
                <a:latin typeface="Cambria" pitchFamily="34" charset="0"/>
                <a:ea typeface="Cambria" pitchFamily="34" charset="-122"/>
                <a:cs typeface="Cambria" pitchFamily="34" charset="-120"/>
              </a:rPr>
              <a:t>42</a:t>
            </a:r>
            <a:endParaRPr lang="en-US" sz="3600" dirty="0"/>
          </a:p>
        </p:txBody>
      </p:sp>
      <p:sp>
        <p:nvSpPr>
          <p:cNvPr id="6" name="Text 4"/>
          <p:cNvSpPr txBox="1"/>
          <p:nvPr/>
        </p:nvSpPr>
        <p:spPr>
          <a:xfrm>
            <a:off x="886968" y="2249424"/>
            <a:ext cx="2103120" cy="274320"/>
          </a:xfrm>
          <a:prstGeom prst="rect">
            <a:avLst/>
          </a:prstGeom>
          <a:noFill/>
          <a:ln/>
        </p:spPr>
        <p:txBody>
          <a:bodyPr wrap="square" lIns="0" tIns="0" rIns="0" bIns="0" rtlCol="0" anchor="ctr"/>
          <a:lstStyle/>
          <a:p>
            <a:pPr indent="0" marL="0">
              <a:buNone/>
            </a:pPr>
            <a:r>
              <a:rPr lang="en-US" sz="1250" dirty="0">
                <a:solidFill>
                  <a:srgbClr val="5C6B73"/>
                </a:solidFill>
                <a:latin typeface="Calibri" pitchFamily="34" charset="0"/>
                <a:ea typeface="Calibri" pitchFamily="34" charset="-122"/>
                <a:cs typeface="Calibri" pitchFamily="34" charset="-120"/>
              </a:rPr>
              <a:t>controls assessed</a:t>
            </a:r>
            <a:endParaRPr lang="en-US" sz="1250" dirty="0"/>
          </a:p>
        </p:txBody>
      </p:sp>
      <p:sp>
        <p:nvSpPr>
          <p:cNvPr id="7" name="Shape 5"/>
          <p:cNvSpPr/>
          <p:nvPr/>
        </p:nvSpPr>
        <p:spPr>
          <a:xfrm>
            <a:off x="3410712" y="1554480"/>
            <a:ext cx="2542032" cy="1143000"/>
          </a:xfrm>
          <a:prstGeom prst="roundRect">
            <a:avLst>
              <a:gd name="adj" fmla="val 4800"/>
            </a:avLst>
          </a:prstGeom>
          <a:solidFill>
            <a:srgbClr val="EFF4F5"/>
          </a:solidFill>
          <a:ln w="9525">
            <a:solidFill>
              <a:srgbClr val="D6E0E2"/>
            </a:solidFill>
            <a:prstDash val="solid"/>
          </a:ln>
        </p:spPr>
      </p:sp>
      <p:sp>
        <p:nvSpPr>
          <p:cNvPr id="8" name="Text 6"/>
          <p:cNvSpPr txBox="1"/>
          <p:nvPr/>
        </p:nvSpPr>
        <p:spPr>
          <a:xfrm>
            <a:off x="3639312" y="1664208"/>
            <a:ext cx="2103120" cy="566928"/>
          </a:xfrm>
          <a:prstGeom prst="rect">
            <a:avLst/>
          </a:prstGeom>
          <a:noFill/>
          <a:ln/>
        </p:spPr>
        <p:txBody>
          <a:bodyPr wrap="square" lIns="0" tIns="0" rIns="0" bIns="0" rtlCol="0" anchor="ctr"/>
          <a:lstStyle/>
          <a:p>
            <a:pPr indent="0" marL="0">
              <a:buNone/>
            </a:pPr>
            <a:r>
              <a:rPr lang="en-US" sz="3600" b="1" dirty="0">
                <a:solidFill>
                  <a:srgbClr val="064E57"/>
                </a:solidFill>
                <a:latin typeface="Cambria" pitchFamily="34" charset="0"/>
                <a:ea typeface="Cambria" pitchFamily="34" charset="-122"/>
                <a:cs typeface="Cambria" pitchFamily="34" charset="-120"/>
              </a:rPr>
              <a:t>20</a:t>
            </a:r>
            <a:endParaRPr lang="en-US" sz="3600" dirty="0"/>
          </a:p>
        </p:txBody>
      </p:sp>
      <p:sp>
        <p:nvSpPr>
          <p:cNvPr id="9" name="Text 7"/>
          <p:cNvSpPr txBox="1"/>
          <p:nvPr/>
        </p:nvSpPr>
        <p:spPr>
          <a:xfrm>
            <a:off x="3657600" y="2249424"/>
            <a:ext cx="2103120" cy="274320"/>
          </a:xfrm>
          <a:prstGeom prst="rect">
            <a:avLst/>
          </a:prstGeom>
          <a:noFill/>
          <a:ln/>
        </p:spPr>
        <p:txBody>
          <a:bodyPr wrap="square" lIns="0" tIns="0" rIns="0" bIns="0" rtlCol="0" anchor="ctr"/>
          <a:lstStyle/>
          <a:p>
            <a:pPr indent="0" marL="0">
              <a:buNone/>
            </a:pPr>
            <a:r>
              <a:rPr lang="en-US" sz="1250" dirty="0">
                <a:solidFill>
                  <a:srgbClr val="5C6B73"/>
                </a:solidFill>
                <a:latin typeface="Calibri" pitchFamily="34" charset="0"/>
                <a:ea typeface="Calibri" pitchFamily="34" charset="-122"/>
                <a:cs typeface="Calibri" pitchFamily="34" charset="-120"/>
              </a:rPr>
              <a:t>families covered</a:t>
            </a:r>
            <a:endParaRPr lang="en-US" sz="1250" dirty="0"/>
          </a:p>
        </p:txBody>
      </p:sp>
      <p:sp>
        <p:nvSpPr>
          <p:cNvPr id="10" name="Shape 8"/>
          <p:cNvSpPr/>
          <p:nvPr/>
        </p:nvSpPr>
        <p:spPr>
          <a:xfrm>
            <a:off x="6181344" y="1554480"/>
            <a:ext cx="2542032" cy="1143000"/>
          </a:xfrm>
          <a:prstGeom prst="roundRect">
            <a:avLst>
              <a:gd name="adj" fmla="val 4800"/>
            </a:avLst>
          </a:prstGeom>
          <a:solidFill>
            <a:srgbClr val="EFF4F5"/>
          </a:solidFill>
          <a:ln w="9525">
            <a:solidFill>
              <a:srgbClr val="D6E0E2"/>
            </a:solidFill>
            <a:prstDash val="solid"/>
          </a:ln>
        </p:spPr>
      </p:sp>
      <p:sp>
        <p:nvSpPr>
          <p:cNvPr id="11" name="Text 9"/>
          <p:cNvSpPr txBox="1"/>
          <p:nvPr/>
        </p:nvSpPr>
        <p:spPr>
          <a:xfrm>
            <a:off x="6409944" y="1664208"/>
            <a:ext cx="2103120" cy="566928"/>
          </a:xfrm>
          <a:prstGeom prst="rect">
            <a:avLst/>
          </a:prstGeom>
          <a:noFill/>
          <a:ln/>
        </p:spPr>
        <p:txBody>
          <a:bodyPr wrap="square" lIns="0" tIns="0" rIns="0" bIns="0" rtlCol="0" anchor="ctr"/>
          <a:lstStyle/>
          <a:p>
            <a:pPr indent="0" marL="0">
              <a:buNone/>
            </a:pPr>
            <a:r>
              <a:rPr lang="en-US" sz="3600" b="1" dirty="0">
                <a:solidFill>
                  <a:srgbClr val="064E57"/>
                </a:solidFill>
                <a:latin typeface="Cambria" pitchFamily="34" charset="0"/>
                <a:ea typeface="Cambria" pitchFamily="34" charset="-122"/>
                <a:cs typeface="Cambria" pitchFamily="34" charset="-120"/>
              </a:rPr>
              <a:t>10</a:t>
            </a:r>
            <a:endParaRPr lang="en-US" sz="3600" dirty="0"/>
          </a:p>
        </p:txBody>
      </p:sp>
      <p:sp>
        <p:nvSpPr>
          <p:cNvPr id="12" name="Text 10"/>
          <p:cNvSpPr txBox="1"/>
          <p:nvPr/>
        </p:nvSpPr>
        <p:spPr>
          <a:xfrm>
            <a:off x="6428232" y="2249424"/>
            <a:ext cx="2103120" cy="274320"/>
          </a:xfrm>
          <a:prstGeom prst="rect">
            <a:avLst/>
          </a:prstGeom>
          <a:noFill/>
          <a:ln/>
        </p:spPr>
        <p:txBody>
          <a:bodyPr wrap="square" lIns="0" tIns="0" rIns="0" bIns="0" rtlCol="0" anchor="ctr"/>
          <a:lstStyle/>
          <a:p>
            <a:pPr indent="0" marL="0">
              <a:buNone/>
            </a:pPr>
            <a:r>
              <a:rPr lang="en-US" sz="1250" dirty="0">
                <a:solidFill>
                  <a:srgbClr val="5C6B73"/>
                </a:solidFill>
                <a:latin typeface="Calibri" pitchFamily="34" charset="0"/>
                <a:ea typeface="Calibri" pitchFamily="34" charset="-122"/>
                <a:cs typeface="Calibri" pitchFamily="34" charset="-120"/>
              </a:rPr>
              <a:t>deep-dive tests</a:t>
            </a:r>
            <a:endParaRPr lang="en-US" sz="1250" dirty="0"/>
          </a:p>
        </p:txBody>
      </p:sp>
      <p:sp>
        <p:nvSpPr>
          <p:cNvPr id="13" name="Shape 11"/>
          <p:cNvSpPr/>
          <p:nvPr/>
        </p:nvSpPr>
        <p:spPr>
          <a:xfrm>
            <a:off x="8951976" y="1554480"/>
            <a:ext cx="2542032" cy="1143000"/>
          </a:xfrm>
          <a:prstGeom prst="roundRect">
            <a:avLst>
              <a:gd name="adj" fmla="val 4800"/>
            </a:avLst>
          </a:prstGeom>
          <a:solidFill>
            <a:srgbClr val="EFF4F5"/>
          </a:solidFill>
          <a:ln w="9525">
            <a:solidFill>
              <a:srgbClr val="D6E0E2"/>
            </a:solidFill>
            <a:prstDash val="solid"/>
          </a:ln>
        </p:spPr>
      </p:sp>
      <p:sp>
        <p:nvSpPr>
          <p:cNvPr id="14" name="Text 12"/>
          <p:cNvSpPr txBox="1"/>
          <p:nvPr/>
        </p:nvSpPr>
        <p:spPr>
          <a:xfrm>
            <a:off x="9180576" y="1664208"/>
            <a:ext cx="2103120" cy="566928"/>
          </a:xfrm>
          <a:prstGeom prst="rect">
            <a:avLst/>
          </a:prstGeom>
          <a:noFill/>
          <a:ln/>
        </p:spPr>
        <p:txBody>
          <a:bodyPr wrap="square" lIns="0" tIns="0" rIns="0" bIns="0" rtlCol="0" anchor="ctr"/>
          <a:lstStyle/>
          <a:p>
            <a:pPr indent="0" marL="0">
              <a:buNone/>
            </a:pPr>
            <a:r>
              <a:rPr lang="en-US" sz="3600" b="1" dirty="0">
                <a:solidFill>
                  <a:srgbClr val="064E57"/>
                </a:solidFill>
                <a:latin typeface="Cambria" pitchFamily="34" charset="0"/>
                <a:ea typeface="Cambria" pitchFamily="34" charset="-122"/>
                <a:cs typeface="Cambria" pitchFamily="34" charset="-120"/>
              </a:rPr>
              <a:t>12</a:t>
            </a:r>
            <a:endParaRPr lang="en-US" sz="3600" dirty="0"/>
          </a:p>
        </p:txBody>
      </p:sp>
      <p:sp>
        <p:nvSpPr>
          <p:cNvPr id="15" name="Text 13"/>
          <p:cNvSpPr txBox="1"/>
          <p:nvPr/>
        </p:nvSpPr>
        <p:spPr>
          <a:xfrm>
            <a:off x="9198864" y="2249424"/>
            <a:ext cx="2103120" cy="274320"/>
          </a:xfrm>
          <a:prstGeom prst="rect">
            <a:avLst/>
          </a:prstGeom>
          <a:noFill/>
          <a:ln/>
        </p:spPr>
        <p:txBody>
          <a:bodyPr wrap="square" lIns="0" tIns="0" rIns="0" bIns="0" rtlCol="0" anchor="ctr"/>
          <a:lstStyle/>
          <a:p>
            <a:pPr indent="0" marL="0">
              <a:buNone/>
            </a:pPr>
            <a:r>
              <a:rPr lang="en-US" sz="1250" dirty="0">
                <a:solidFill>
                  <a:srgbClr val="5C6B73"/>
                </a:solidFill>
                <a:latin typeface="Calibri" pitchFamily="34" charset="0"/>
                <a:ea typeface="Calibri" pitchFamily="34" charset="-122"/>
                <a:cs typeface="Calibri" pitchFamily="34" charset="-120"/>
              </a:rPr>
              <a:t>risks registered</a:t>
            </a:r>
            <a:endParaRPr lang="en-US" sz="1250" dirty="0"/>
          </a:p>
        </p:txBody>
      </p:sp>
      <p:sp>
        <p:nvSpPr>
          <p:cNvPr id="16" name="Shape 14"/>
          <p:cNvSpPr/>
          <p:nvPr/>
        </p:nvSpPr>
        <p:spPr>
          <a:xfrm>
            <a:off x="640080" y="2926080"/>
            <a:ext cx="2057400" cy="603504"/>
          </a:xfrm>
          <a:prstGeom prst="roundRect">
            <a:avLst>
              <a:gd name="adj" fmla="val 7576"/>
            </a:avLst>
          </a:prstGeom>
          <a:solidFill>
            <a:srgbClr val="FFFFFF"/>
          </a:solidFill>
          <a:ln w="9525">
            <a:solidFill>
              <a:srgbClr val="D6E0E2"/>
            </a:solidFill>
            <a:prstDash val="solid"/>
          </a:ln>
        </p:spPr>
      </p:sp>
      <p:sp>
        <p:nvSpPr>
          <p:cNvPr id="17" name="Shape 15"/>
          <p:cNvSpPr/>
          <p:nvPr/>
        </p:nvSpPr>
        <p:spPr>
          <a:xfrm>
            <a:off x="768096" y="3154680"/>
            <a:ext cx="137160" cy="137160"/>
          </a:xfrm>
          <a:prstGeom prst="ellipse">
            <a:avLst/>
          </a:prstGeom>
          <a:solidFill>
            <a:srgbClr val="9E2B25"/>
          </a:solidFill>
          <a:ln/>
        </p:spPr>
      </p:sp>
      <p:sp>
        <p:nvSpPr>
          <p:cNvPr id="18" name="Text 16"/>
          <p:cNvSpPr txBox="1"/>
          <p:nvPr/>
        </p:nvSpPr>
        <p:spPr>
          <a:xfrm>
            <a:off x="987552" y="2980944"/>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AC</a:t>
            </a:r>
            <a:endParaRPr lang="en-US" sz="1300" dirty="0"/>
          </a:p>
        </p:txBody>
      </p:sp>
      <p:sp>
        <p:nvSpPr>
          <p:cNvPr id="19" name="Text 17"/>
          <p:cNvSpPr txBox="1"/>
          <p:nvPr/>
        </p:nvSpPr>
        <p:spPr>
          <a:xfrm>
            <a:off x="987552" y="3218688"/>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Access Control</a:t>
            </a:r>
            <a:endParaRPr lang="en-US" sz="950" dirty="0"/>
          </a:p>
        </p:txBody>
      </p:sp>
      <p:sp>
        <p:nvSpPr>
          <p:cNvPr id="20" name="Shape 18"/>
          <p:cNvSpPr/>
          <p:nvPr/>
        </p:nvSpPr>
        <p:spPr>
          <a:xfrm>
            <a:off x="2862072" y="2926080"/>
            <a:ext cx="2057400" cy="603504"/>
          </a:xfrm>
          <a:prstGeom prst="roundRect">
            <a:avLst>
              <a:gd name="adj" fmla="val 7576"/>
            </a:avLst>
          </a:prstGeom>
          <a:solidFill>
            <a:srgbClr val="FFFFFF"/>
          </a:solidFill>
          <a:ln w="9525">
            <a:solidFill>
              <a:srgbClr val="D6E0E2"/>
            </a:solidFill>
            <a:prstDash val="solid"/>
          </a:ln>
        </p:spPr>
      </p:sp>
      <p:sp>
        <p:nvSpPr>
          <p:cNvPr id="21" name="Shape 19"/>
          <p:cNvSpPr/>
          <p:nvPr/>
        </p:nvSpPr>
        <p:spPr>
          <a:xfrm>
            <a:off x="2990088" y="3154680"/>
            <a:ext cx="137160" cy="137160"/>
          </a:xfrm>
          <a:prstGeom prst="ellipse">
            <a:avLst/>
          </a:prstGeom>
          <a:solidFill>
            <a:srgbClr val="9A6A10"/>
          </a:solidFill>
          <a:ln/>
        </p:spPr>
      </p:sp>
      <p:sp>
        <p:nvSpPr>
          <p:cNvPr id="22" name="Text 20"/>
          <p:cNvSpPr txBox="1"/>
          <p:nvPr/>
        </p:nvSpPr>
        <p:spPr>
          <a:xfrm>
            <a:off x="3209544" y="2980944"/>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AT</a:t>
            </a:r>
            <a:endParaRPr lang="en-US" sz="1300" dirty="0"/>
          </a:p>
        </p:txBody>
      </p:sp>
      <p:sp>
        <p:nvSpPr>
          <p:cNvPr id="23" name="Text 21"/>
          <p:cNvSpPr txBox="1"/>
          <p:nvPr/>
        </p:nvSpPr>
        <p:spPr>
          <a:xfrm>
            <a:off x="3209544" y="3218688"/>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Awareness &amp; Training</a:t>
            </a:r>
            <a:endParaRPr lang="en-US" sz="950" dirty="0"/>
          </a:p>
        </p:txBody>
      </p:sp>
      <p:sp>
        <p:nvSpPr>
          <p:cNvPr id="24" name="Shape 22"/>
          <p:cNvSpPr/>
          <p:nvPr/>
        </p:nvSpPr>
        <p:spPr>
          <a:xfrm>
            <a:off x="5084064" y="2926080"/>
            <a:ext cx="2057400" cy="603504"/>
          </a:xfrm>
          <a:prstGeom prst="roundRect">
            <a:avLst>
              <a:gd name="adj" fmla="val 7576"/>
            </a:avLst>
          </a:prstGeom>
          <a:solidFill>
            <a:srgbClr val="FFFFFF"/>
          </a:solidFill>
          <a:ln w="9525">
            <a:solidFill>
              <a:srgbClr val="D6E0E2"/>
            </a:solidFill>
            <a:prstDash val="solid"/>
          </a:ln>
        </p:spPr>
      </p:sp>
      <p:sp>
        <p:nvSpPr>
          <p:cNvPr id="25" name="Shape 23"/>
          <p:cNvSpPr/>
          <p:nvPr/>
        </p:nvSpPr>
        <p:spPr>
          <a:xfrm>
            <a:off x="5212080" y="3154680"/>
            <a:ext cx="137160" cy="137160"/>
          </a:xfrm>
          <a:prstGeom prst="ellipse">
            <a:avLst/>
          </a:prstGeom>
          <a:solidFill>
            <a:srgbClr val="9A6A10"/>
          </a:solidFill>
          <a:ln/>
        </p:spPr>
      </p:sp>
      <p:sp>
        <p:nvSpPr>
          <p:cNvPr id="26" name="Text 24"/>
          <p:cNvSpPr txBox="1"/>
          <p:nvPr/>
        </p:nvSpPr>
        <p:spPr>
          <a:xfrm>
            <a:off x="5431536" y="2980944"/>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AU</a:t>
            </a:r>
            <a:endParaRPr lang="en-US" sz="1300" dirty="0"/>
          </a:p>
        </p:txBody>
      </p:sp>
      <p:sp>
        <p:nvSpPr>
          <p:cNvPr id="27" name="Text 25"/>
          <p:cNvSpPr txBox="1"/>
          <p:nvPr/>
        </p:nvSpPr>
        <p:spPr>
          <a:xfrm>
            <a:off x="5431536" y="3218688"/>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Audit &amp; Accountability</a:t>
            </a:r>
            <a:endParaRPr lang="en-US" sz="950" dirty="0"/>
          </a:p>
        </p:txBody>
      </p:sp>
      <p:sp>
        <p:nvSpPr>
          <p:cNvPr id="28" name="Shape 26"/>
          <p:cNvSpPr/>
          <p:nvPr/>
        </p:nvSpPr>
        <p:spPr>
          <a:xfrm>
            <a:off x="7306056" y="2926080"/>
            <a:ext cx="2057400" cy="603504"/>
          </a:xfrm>
          <a:prstGeom prst="roundRect">
            <a:avLst>
              <a:gd name="adj" fmla="val 7576"/>
            </a:avLst>
          </a:prstGeom>
          <a:solidFill>
            <a:srgbClr val="FFFFFF"/>
          </a:solidFill>
          <a:ln w="9525">
            <a:solidFill>
              <a:srgbClr val="D6E0E2"/>
            </a:solidFill>
            <a:prstDash val="solid"/>
          </a:ln>
        </p:spPr>
      </p:sp>
      <p:sp>
        <p:nvSpPr>
          <p:cNvPr id="29" name="Shape 27"/>
          <p:cNvSpPr/>
          <p:nvPr/>
        </p:nvSpPr>
        <p:spPr>
          <a:xfrm>
            <a:off x="7434072" y="3154680"/>
            <a:ext cx="137160" cy="137160"/>
          </a:xfrm>
          <a:prstGeom prst="ellipse">
            <a:avLst/>
          </a:prstGeom>
          <a:solidFill>
            <a:srgbClr val="9A6A10"/>
          </a:solidFill>
          <a:ln/>
        </p:spPr>
      </p:sp>
      <p:sp>
        <p:nvSpPr>
          <p:cNvPr id="30" name="Text 28"/>
          <p:cNvSpPr txBox="1"/>
          <p:nvPr/>
        </p:nvSpPr>
        <p:spPr>
          <a:xfrm>
            <a:off x="7653528" y="2980944"/>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CA</a:t>
            </a:r>
            <a:endParaRPr lang="en-US" sz="1300" dirty="0"/>
          </a:p>
        </p:txBody>
      </p:sp>
      <p:sp>
        <p:nvSpPr>
          <p:cNvPr id="31" name="Text 29"/>
          <p:cNvSpPr txBox="1"/>
          <p:nvPr/>
        </p:nvSpPr>
        <p:spPr>
          <a:xfrm>
            <a:off x="7653528" y="3218688"/>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Assessment &amp; Monitoring</a:t>
            </a:r>
            <a:endParaRPr lang="en-US" sz="950" dirty="0"/>
          </a:p>
        </p:txBody>
      </p:sp>
      <p:sp>
        <p:nvSpPr>
          <p:cNvPr id="32" name="Shape 30"/>
          <p:cNvSpPr/>
          <p:nvPr/>
        </p:nvSpPr>
        <p:spPr>
          <a:xfrm>
            <a:off x="9528048" y="2926080"/>
            <a:ext cx="2057400" cy="603504"/>
          </a:xfrm>
          <a:prstGeom prst="roundRect">
            <a:avLst>
              <a:gd name="adj" fmla="val 7576"/>
            </a:avLst>
          </a:prstGeom>
          <a:solidFill>
            <a:srgbClr val="FFFFFF"/>
          </a:solidFill>
          <a:ln w="9525">
            <a:solidFill>
              <a:srgbClr val="D6E0E2"/>
            </a:solidFill>
            <a:prstDash val="solid"/>
          </a:ln>
        </p:spPr>
      </p:sp>
      <p:sp>
        <p:nvSpPr>
          <p:cNvPr id="33" name="Shape 31"/>
          <p:cNvSpPr/>
          <p:nvPr/>
        </p:nvSpPr>
        <p:spPr>
          <a:xfrm>
            <a:off x="9656064" y="3154680"/>
            <a:ext cx="137160" cy="137160"/>
          </a:xfrm>
          <a:prstGeom prst="ellipse">
            <a:avLst/>
          </a:prstGeom>
          <a:solidFill>
            <a:srgbClr val="9E2B25"/>
          </a:solidFill>
          <a:ln/>
        </p:spPr>
      </p:sp>
      <p:sp>
        <p:nvSpPr>
          <p:cNvPr id="34" name="Text 32"/>
          <p:cNvSpPr txBox="1"/>
          <p:nvPr/>
        </p:nvSpPr>
        <p:spPr>
          <a:xfrm>
            <a:off x="9875520" y="2980944"/>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CM</a:t>
            </a:r>
            <a:endParaRPr lang="en-US" sz="1300" dirty="0"/>
          </a:p>
        </p:txBody>
      </p:sp>
      <p:sp>
        <p:nvSpPr>
          <p:cNvPr id="35" name="Text 33"/>
          <p:cNvSpPr txBox="1"/>
          <p:nvPr/>
        </p:nvSpPr>
        <p:spPr>
          <a:xfrm>
            <a:off x="9875520" y="3218688"/>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Configuration Mgmt</a:t>
            </a:r>
            <a:endParaRPr lang="en-US" sz="950" dirty="0"/>
          </a:p>
        </p:txBody>
      </p:sp>
      <p:sp>
        <p:nvSpPr>
          <p:cNvPr id="36" name="Shape 34"/>
          <p:cNvSpPr/>
          <p:nvPr/>
        </p:nvSpPr>
        <p:spPr>
          <a:xfrm>
            <a:off x="640080" y="3639312"/>
            <a:ext cx="2057400" cy="603504"/>
          </a:xfrm>
          <a:prstGeom prst="roundRect">
            <a:avLst>
              <a:gd name="adj" fmla="val 7576"/>
            </a:avLst>
          </a:prstGeom>
          <a:solidFill>
            <a:srgbClr val="FFFFFF"/>
          </a:solidFill>
          <a:ln w="9525">
            <a:solidFill>
              <a:srgbClr val="D6E0E2"/>
            </a:solidFill>
            <a:prstDash val="solid"/>
          </a:ln>
        </p:spPr>
      </p:sp>
      <p:sp>
        <p:nvSpPr>
          <p:cNvPr id="37" name="Shape 35"/>
          <p:cNvSpPr/>
          <p:nvPr/>
        </p:nvSpPr>
        <p:spPr>
          <a:xfrm>
            <a:off x="768096" y="3867912"/>
            <a:ext cx="137160" cy="137160"/>
          </a:xfrm>
          <a:prstGeom prst="ellipse">
            <a:avLst/>
          </a:prstGeom>
          <a:solidFill>
            <a:srgbClr val="9E2B25"/>
          </a:solidFill>
          <a:ln/>
        </p:spPr>
      </p:sp>
      <p:sp>
        <p:nvSpPr>
          <p:cNvPr id="38" name="Text 36"/>
          <p:cNvSpPr txBox="1"/>
          <p:nvPr/>
        </p:nvSpPr>
        <p:spPr>
          <a:xfrm>
            <a:off x="987552" y="3694176"/>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CP</a:t>
            </a:r>
            <a:endParaRPr lang="en-US" sz="1300" dirty="0"/>
          </a:p>
        </p:txBody>
      </p:sp>
      <p:sp>
        <p:nvSpPr>
          <p:cNvPr id="39" name="Text 37"/>
          <p:cNvSpPr txBox="1"/>
          <p:nvPr/>
        </p:nvSpPr>
        <p:spPr>
          <a:xfrm>
            <a:off x="987552" y="3931920"/>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Contingency Planning</a:t>
            </a:r>
            <a:endParaRPr lang="en-US" sz="950" dirty="0"/>
          </a:p>
        </p:txBody>
      </p:sp>
      <p:sp>
        <p:nvSpPr>
          <p:cNvPr id="40" name="Shape 38"/>
          <p:cNvSpPr/>
          <p:nvPr/>
        </p:nvSpPr>
        <p:spPr>
          <a:xfrm>
            <a:off x="2862072" y="3639312"/>
            <a:ext cx="2057400" cy="603504"/>
          </a:xfrm>
          <a:prstGeom prst="roundRect">
            <a:avLst>
              <a:gd name="adj" fmla="val 7576"/>
            </a:avLst>
          </a:prstGeom>
          <a:solidFill>
            <a:srgbClr val="FFFFFF"/>
          </a:solidFill>
          <a:ln w="9525">
            <a:solidFill>
              <a:srgbClr val="D6E0E2"/>
            </a:solidFill>
            <a:prstDash val="solid"/>
          </a:ln>
        </p:spPr>
      </p:sp>
      <p:sp>
        <p:nvSpPr>
          <p:cNvPr id="41" name="Shape 39"/>
          <p:cNvSpPr/>
          <p:nvPr/>
        </p:nvSpPr>
        <p:spPr>
          <a:xfrm>
            <a:off x="2990088" y="3867912"/>
            <a:ext cx="137160" cy="137160"/>
          </a:xfrm>
          <a:prstGeom prst="ellipse">
            <a:avLst/>
          </a:prstGeom>
          <a:solidFill>
            <a:srgbClr val="9E2B25"/>
          </a:solidFill>
          <a:ln/>
        </p:spPr>
      </p:sp>
      <p:sp>
        <p:nvSpPr>
          <p:cNvPr id="42" name="Text 40"/>
          <p:cNvSpPr txBox="1"/>
          <p:nvPr/>
        </p:nvSpPr>
        <p:spPr>
          <a:xfrm>
            <a:off x="3209544" y="3694176"/>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IA</a:t>
            </a:r>
            <a:endParaRPr lang="en-US" sz="1300" dirty="0"/>
          </a:p>
        </p:txBody>
      </p:sp>
      <p:sp>
        <p:nvSpPr>
          <p:cNvPr id="43" name="Text 41"/>
          <p:cNvSpPr txBox="1"/>
          <p:nvPr/>
        </p:nvSpPr>
        <p:spPr>
          <a:xfrm>
            <a:off x="3209544" y="3931920"/>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Identification &amp; Auth</a:t>
            </a:r>
            <a:endParaRPr lang="en-US" sz="950" dirty="0"/>
          </a:p>
        </p:txBody>
      </p:sp>
      <p:sp>
        <p:nvSpPr>
          <p:cNvPr id="44" name="Shape 42"/>
          <p:cNvSpPr/>
          <p:nvPr/>
        </p:nvSpPr>
        <p:spPr>
          <a:xfrm>
            <a:off x="5084064" y="3639312"/>
            <a:ext cx="2057400" cy="603504"/>
          </a:xfrm>
          <a:prstGeom prst="roundRect">
            <a:avLst>
              <a:gd name="adj" fmla="val 7576"/>
            </a:avLst>
          </a:prstGeom>
          <a:solidFill>
            <a:srgbClr val="FFFFFF"/>
          </a:solidFill>
          <a:ln w="9525">
            <a:solidFill>
              <a:srgbClr val="D6E0E2"/>
            </a:solidFill>
            <a:prstDash val="solid"/>
          </a:ln>
        </p:spPr>
      </p:sp>
      <p:sp>
        <p:nvSpPr>
          <p:cNvPr id="45" name="Shape 43"/>
          <p:cNvSpPr/>
          <p:nvPr/>
        </p:nvSpPr>
        <p:spPr>
          <a:xfrm>
            <a:off x="5212080" y="3867912"/>
            <a:ext cx="137160" cy="137160"/>
          </a:xfrm>
          <a:prstGeom prst="ellipse">
            <a:avLst/>
          </a:prstGeom>
          <a:solidFill>
            <a:srgbClr val="9E2B25"/>
          </a:solidFill>
          <a:ln/>
        </p:spPr>
      </p:sp>
      <p:sp>
        <p:nvSpPr>
          <p:cNvPr id="46" name="Text 44"/>
          <p:cNvSpPr txBox="1"/>
          <p:nvPr/>
        </p:nvSpPr>
        <p:spPr>
          <a:xfrm>
            <a:off x="5431536" y="3694176"/>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IR</a:t>
            </a:r>
            <a:endParaRPr lang="en-US" sz="1300" dirty="0"/>
          </a:p>
        </p:txBody>
      </p:sp>
      <p:sp>
        <p:nvSpPr>
          <p:cNvPr id="47" name="Text 45"/>
          <p:cNvSpPr txBox="1"/>
          <p:nvPr/>
        </p:nvSpPr>
        <p:spPr>
          <a:xfrm>
            <a:off x="5431536" y="3931920"/>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Incident Response</a:t>
            </a:r>
            <a:endParaRPr lang="en-US" sz="950" dirty="0"/>
          </a:p>
        </p:txBody>
      </p:sp>
      <p:sp>
        <p:nvSpPr>
          <p:cNvPr id="48" name="Shape 46"/>
          <p:cNvSpPr/>
          <p:nvPr/>
        </p:nvSpPr>
        <p:spPr>
          <a:xfrm>
            <a:off x="7306056" y="3639312"/>
            <a:ext cx="2057400" cy="603504"/>
          </a:xfrm>
          <a:prstGeom prst="roundRect">
            <a:avLst>
              <a:gd name="adj" fmla="val 7576"/>
            </a:avLst>
          </a:prstGeom>
          <a:solidFill>
            <a:srgbClr val="FFFFFF"/>
          </a:solidFill>
          <a:ln w="9525">
            <a:solidFill>
              <a:srgbClr val="D6E0E2"/>
            </a:solidFill>
            <a:prstDash val="solid"/>
          </a:ln>
        </p:spPr>
      </p:sp>
      <p:sp>
        <p:nvSpPr>
          <p:cNvPr id="49" name="Shape 47"/>
          <p:cNvSpPr/>
          <p:nvPr/>
        </p:nvSpPr>
        <p:spPr>
          <a:xfrm>
            <a:off x="7434072" y="3867912"/>
            <a:ext cx="137160" cy="137160"/>
          </a:xfrm>
          <a:prstGeom prst="ellipse">
            <a:avLst/>
          </a:prstGeom>
          <a:solidFill>
            <a:srgbClr val="2E6B4F"/>
          </a:solidFill>
          <a:ln/>
        </p:spPr>
      </p:sp>
      <p:sp>
        <p:nvSpPr>
          <p:cNvPr id="50" name="Text 48"/>
          <p:cNvSpPr txBox="1"/>
          <p:nvPr/>
        </p:nvSpPr>
        <p:spPr>
          <a:xfrm>
            <a:off x="7653528" y="3694176"/>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MA</a:t>
            </a:r>
            <a:endParaRPr lang="en-US" sz="1300" dirty="0"/>
          </a:p>
        </p:txBody>
      </p:sp>
      <p:sp>
        <p:nvSpPr>
          <p:cNvPr id="51" name="Text 49"/>
          <p:cNvSpPr txBox="1"/>
          <p:nvPr/>
        </p:nvSpPr>
        <p:spPr>
          <a:xfrm>
            <a:off x="7653528" y="3931920"/>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Maintenance</a:t>
            </a:r>
            <a:endParaRPr lang="en-US" sz="950" dirty="0"/>
          </a:p>
        </p:txBody>
      </p:sp>
      <p:sp>
        <p:nvSpPr>
          <p:cNvPr id="52" name="Shape 50"/>
          <p:cNvSpPr/>
          <p:nvPr/>
        </p:nvSpPr>
        <p:spPr>
          <a:xfrm>
            <a:off x="9528048" y="3639312"/>
            <a:ext cx="2057400" cy="603504"/>
          </a:xfrm>
          <a:prstGeom prst="roundRect">
            <a:avLst>
              <a:gd name="adj" fmla="val 7576"/>
            </a:avLst>
          </a:prstGeom>
          <a:solidFill>
            <a:srgbClr val="FFFFFF"/>
          </a:solidFill>
          <a:ln w="9525">
            <a:solidFill>
              <a:srgbClr val="D6E0E2"/>
            </a:solidFill>
            <a:prstDash val="solid"/>
          </a:ln>
        </p:spPr>
      </p:sp>
      <p:sp>
        <p:nvSpPr>
          <p:cNvPr id="53" name="Shape 51"/>
          <p:cNvSpPr/>
          <p:nvPr/>
        </p:nvSpPr>
        <p:spPr>
          <a:xfrm>
            <a:off x="9656064" y="3867912"/>
            <a:ext cx="137160" cy="137160"/>
          </a:xfrm>
          <a:prstGeom prst="ellipse">
            <a:avLst/>
          </a:prstGeom>
          <a:solidFill>
            <a:srgbClr val="9A6A10"/>
          </a:solidFill>
          <a:ln/>
        </p:spPr>
      </p:sp>
      <p:sp>
        <p:nvSpPr>
          <p:cNvPr id="54" name="Text 52"/>
          <p:cNvSpPr txBox="1"/>
          <p:nvPr/>
        </p:nvSpPr>
        <p:spPr>
          <a:xfrm>
            <a:off x="9875520" y="3694176"/>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MP</a:t>
            </a:r>
            <a:endParaRPr lang="en-US" sz="1300" dirty="0"/>
          </a:p>
        </p:txBody>
      </p:sp>
      <p:sp>
        <p:nvSpPr>
          <p:cNvPr id="55" name="Text 53"/>
          <p:cNvSpPr txBox="1"/>
          <p:nvPr/>
        </p:nvSpPr>
        <p:spPr>
          <a:xfrm>
            <a:off x="9875520" y="3931920"/>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Media Protection</a:t>
            </a:r>
            <a:endParaRPr lang="en-US" sz="950" dirty="0"/>
          </a:p>
        </p:txBody>
      </p:sp>
      <p:sp>
        <p:nvSpPr>
          <p:cNvPr id="56" name="Shape 54"/>
          <p:cNvSpPr/>
          <p:nvPr/>
        </p:nvSpPr>
        <p:spPr>
          <a:xfrm>
            <a:off x="640080" y="4352544"/>
            <a:ext cx="2057400" cy="603504"/>
          </a:xfrm>
          <a:prstGeom prst="roundRect">
            <a:avLst>
              <a:gd name="adj" fmla="val 7576"/>
            </a:avLst>
          </a:prstGeom>
          <a:solidFill>
            <a:srgbClr val="FFFFFF"/>
          </a:solidFill>
          <a:ln w="9525">
            <a:solidFill>
              <a:srgbClr val="D6E0E2"/>
            </a:solidFill>
            <a:prstDash val="solid"/>
          </a:ln>
        </p:spPr>
      </p:sp>
      <p:sp>
        <p:nvSpPr>
          <p:cNvPr id="57" name="Shape 55"/>
          <p:cNvSpPr/>
          <p:nvPr/>
        </p:nvSpPr>
        <p:spPr>
          <a:xfrm>
            <a:off x="768096" y="4581144"/>
            <a:ext cx="137160" cy="137160"/>
          </a:xfrm>
          <a:prstGeom prst="ellipse">
            <a:avLst/>
          </a:prstGeom>
          <a:solidFill>
            <a:srgbClr val="2E6B4F"/>
          </a:solidFill>
          <a:ln/>
        </p:spPr>
      </p:sp>
      <p:sp>
        <p:nvSpPr>
          <p:cNvPr id="58" name="Text 56"/>
          <p:cNvSpPr txBox="1"/>
          <p:nvPr/>
        </p:nvSpPr>
        <p:spPr>
          <a:xfrm>
            <a:off x="987552" y="4407408"/>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PE</a:t>
            </a:r>
            <a:endParaRPr lang="en-US" sz="1300" dirty="0"/>
          </a:p>
        </p:txBody>
      </p:sp>
      <p:sp>
        <p:nvSpPr>
          <p:cNvPr id="59" name="Text 57"/>
          <p:cNvSpPr txBox="1"/>
          <p:nvPr/>
        </p:nvSpPr>
        <p:spPr>
          <a:xfrm>
            <a:off x="987552" y="4645152"/>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Physical &amp; Environmental</a:t>
            </a:r>
            <a:endParaRPr lang="en-US" sz="950" dirty="0"/>
          </a:p>
        </p:txBody>
      </p:sp>
      <p:sp>
        <p:nvSpPr>
          <p:cNvPr id="60" name="Shape 58"/>
          <p:cNvSpPr/>
          <p:nvPr/>
        </p:nvSpPr>
        <p:spPr>
          <a:xfrm>
            <a:off x="2862072" y="4352544"/>
            <a:ext cx="2057400" cy="603504"/>
          </a:xfrm>
          <a:prstGeom prst="roundRect">
            <a:avLst>
              <a:gd name="adj" fmla="val 7576"/>
            </a:avLst>
          </a:prstGeom>
          <a:solidFill>
            <a:srgbClr val="FFFFFF"/>
          </a:solidFill>
          <a:ln w="9525">
            <a:solidFill>
              <a:srgbClr val="D6E0E2"/>
            </a:solidFill>
            <a:prstDash val="solid"/>
          </a:ln>
        </p:spPr>
      </p:sp>
      <p:sp>
        <p:nvSpPr>
          <p:cNvPr id="61" name="Shape 59"/>
          <p:cNvSpPr/>
          <p:nvPr/>
        </p:nvSpPr>
        <p:spPr>
          <a:xfrm>
            <a:off x="2990088" y="4581144"/>
            <a:ext cx="137160" cy="137160"/>
          </a:xfrm>
          <a:prstGeom prst="ellipse">
            <a:avLst/>
          </a:prstGeom>
          <a:solidFill>
            <a:srgbClr val="9A6A10"/>
          </a:solidFill>
          <a:ln/>
        </p:spPr>
      </p:sp>
      <p:sp>
        <p:nvSpPr>
          <p:cNvPr id="62" name="Text 60"/>
          <p:cNvSpPr txBox="1"/>
          <p:nvPr/>
        </p:nvSpPr>
        <p:spPr>
          <a:xfrm>
            <a:off x="3209544" y="4407408"/>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PL</a:t>
            </a:r>
            <a:endParaRPr lang="en-US" sz="1300" dirty="0"/>
          </a:p>
        </p:txBody>
      </p:sp>
      <p:sp>
        <p:nvSpPr>
          <p:cNvPr id="63" name="Text 61"/>
          <p:cNvSpPr txBox="1"/>
          <p:nvPr/>
        </p:nvSpPr>
        <p:spPr>
          <a:xfrm>
            <a:off x="3209544" y="4645152"/>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Planning</a:t>
            </a:r>
            <a:endParaRPr lang="en-US" sz="950" dirty="0"/>
          </a:p>
        </p:txBody>
      </p:sp>
      <p:sp>
        <p:nvSpPr>
          <p:cNvPr id="64" name="Shape 62"/>
          <p:cNvSpPr/>
          <p:nvPr/>
        </p:nvSpPr>
        <p:spPr>
          <a:xfrm>
            <a:off x="5084064" y="4352544"/>
            <a:ext cx="2057400" cy="603504"/>
          </a:xfrm>
          <a:prstGeom prst="roundRect">
            <a:avLst>
              <a:gd name="adj" fmla="val 7576"/>
            </a:avLst>
          </a:prstGeom>
          <a:solidFill>
            <a:srgbClr val="FFFFFF"/>
          </a:solidFill>
          <a:ln w="9525">
            <a:solidFill>
              <a:srgbClr val="D6E0E2"/>
            </a:solidFill>
            <a:prstDash val="solid"/>
          </a:ln>
        </p:spPr>
      </p:sp>
      <p:sp>
        <p:nvSpPr>
          <p:cNvPr id="65" name="Shape 63"/>
          <p:cNvSpPr/>
          <p:nvPr/>
        </p:nvSpPr>
        <p:spPr>
          <a:xfrm>
            <a:off x="5212080" y="4581144"/>
            <a:ext cx="137160" cy="137160"/>
          </a:xfrm>
          <a:prstGeom prst="ellipse">
            <a:avLst/>
          </a:prstGeom>
          <a:solidFill>
            <a:srgbClr val="9A6A10"/>
          </a:solidFill>
          <a:ln/>
        </p:spPr>
      </p:sp>
      <p:sp>
        <p:nvSpPr>
          <p:cNvPr id="66" name="Text 64"/>
          <p:cNvSpPr txBox="1"/>
          <p:nvPr/>
        </p:nvSpPr>
        <p:spPr>
          <a:xfrm>
            <a:off x="5431536" y="4407408"/>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PM</a:t>
            </a:r>
            <a:endParaRPr lang="en-US" sz="1300" dirty="0"/>
          </a:p>
        </p:txBody>
      </p:sp>
      <p:sp>
        <p:nvSpPr>
          <p:cNvPr id="67" name="Text 65"/>
          <p:cNvSpPr txBox="1"/>
          <p:nvPr/>
        </p:nvSpPr>
        <p:spPr>
          <a:xfrm>
            <a:off x="5431536" y="4645152"/>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Program Management</a:t>
            </a:r>
            <a:endParaRPr lang="en-US" sz="950" dirty="0"/>
          </a:p>
        </p:txBody>
      </p:sp>
      <p:sp>
        <p:nvSpPr>
          <p:cNvPr id="68" name="Shape 66"/>
          <p:cNvSpPr/>
          <p:nvPr/>
        </p:nvSpPr>
        <p:spPr>
          <a:xfrm>
            <a:off x="7306056" y="4352544"/>
            <a:ext cx="2057400" cy="603504"/>
          </a:xfrm>
          <a:prstGeom prst="roundRect">
            <a:avLst>
              <a:gd name="adj" fmla="val 7576"/>
            </a:avLst>
          </a:prstGeom>
          <a:solidFill>
            <a:srgbClr val="FFFFFF"/>
          </a:solidFill>
          <a:ln w="9525">
            <a:solidFill>
              <a:srgbClr val="D6E0E2"/>
            </a:solidFill>
            <a:prstDash val="solid"/>
          </a:ln>
        </p:spPr>
      </p:sp>
      <p:sp>
        <p:nvSpPr>
          <p:cNvPr id="69" name="Shape 67"/>
          <p:cNvSpPr/>
          <p:nvPr/>
        </p:nvSpPr>
        <p:spPr>
          <a:xfrm>
            <a:off x="7434072" y="4581144"/>
            <a:ext cx="137160" cy="137160"/>
          </a:xfrm>
          <a:prstGeom prst="ellipse">
            <a:avLst/>
          </a:prstGeom>
          <a:solidFill>
            <a:srgbClr val="9A6A10"/>
          </a:solidFill>
          <a:ln/>
        </p:spPr>
      </p:sp>
      <p:sp>
        <p:nvSpPr>
          <p:cNvPr id="70" name="Text 68"/>
          <p:cNvSpPr txBox="1"/>
          <p:nvPr/>
        </p:nvSpPr>
        <p:spPr>
          <a:xfrm>
            <a:off x="7653528" y="4407408"/>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PS</a:t>
            </a:r>
            <a:endParaRPr lang="en-US" sz="1300" dirty="0"/>
          </a:p>
        </p:txBody>
      </p:sp>
      <p:sp>
        <p:nvSpPr>
          <p:cNvPr id="71" name="Text 69"/>
          <p:cNvSpPr txBox="1"/>
          <p:nvPr/>
        </p:nvSpPr>
        <p:spPr>
          <a:xfrm>
            <a:off x="7653528" y="4645152"/>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Personnel Security</a:t>
            </a:r>
            <a:endParaRPr lang="en-US" sz="950" dirty="0"/>
          </a:p>
        </p:txBody>
      </p:sp>
      <p:sp>
        <p:nvSpPr>
          <p:cNvPr id="72" name="Shape 70"/>
          <p:cNvSpPr/>
          <p:nvPr/>
        </p:nvSpPr>
        <p:spPr>
          <a:xfrm>
            <a:off x="9528048" y="4352544"/>
            <a:ext cx="2057400" cy="603504"/>
          </a:xfrm>
          <a:prstGeom prst="roundRect">
            <a:avLst>
              <a:gd name="adj" fmla="val 7576"/>
            </a:avLst>
          </a:prstGeom>
          <a:solidFill>
            <a:srgbClr val="FFFFFF"/>
          </a:solidFill>
          <a:ln w="9525">
            <a:solidFill>
              <a:srgbClr val="D6E0E2"/>
            </a:solidFill>
            <a:prstDash val="solid"/>
          </a:ln>
        </p:spPr>
      </p:sp>
      <p:sp>
        <p:nvSpPr>
          <p:cNvPr id="73" name="Shape 71"/>
          <p:cNvSpPr/>
          <p:nvPr/>
        </p:nvSpPr>
        <p:spPr>
          <a:xfrm>
            <a:off x="9656064" y="4581144"/>
            <a:ext cx="137160" cy="137160"/>
          </a:xfrm>
          <a:prstGeom prst="ellipse">
            <a:avLst/>
          </a:prstGeom>
          <a:solidFill>
            <a:srgbClr val="9E2B25"/>
          </a:solidFill>
          <a:ln/>
        </p:spPr>
      </p:sp>
      <p:sp>
        <p:nvSpPr>
          <p:cNvPr id="74" name="Text 72"/>
          <p:cNvSpPr txBox="1"/>
          <p:nvPr/>
        </p:nvSpPr>
        <p:spPr>
          <a:xfrm>
            <a:off x="9875520" y="4407408"/>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PT</a:t>
            </a:r>
            <a:endParaRPr lang="en-US" sz="1300" dirty="0"/>
          </a:p>
        </p:txBody>
      </p:sp>
      <p:sp>
        <p:nvSpPr>
          <p:cNvPr id="75" name="Text 73"/>
          <p:cNvSpPr txBox="1"/>
          <p:nvPr/>
        </p:nvSpPr>
        <p:spPr>
          <a:xfrm>
            <a:off x="9875520" y="4645152"/>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PII &amp; Transparency</a:t>
            </a:r>
            <a:endParaRPr lang="en-US" sz="950" dirty="0"/>
          </a:p>
        </p:txBody>
      </p:sp>
      <p:sp>
        <p:nvSpPr>
          <p:cNvPr id="76" name="Shape 74"/>
          <p:cNvSpPr/>
          <p:nvPr/>
        </p:nvSpPr>
        <p:spPr>
          <a:xfrm>
            <a:off x="640080" y="5065776"/>
            <a:ext cx="2057400" cy="603504"/>
          </a:xfrm>
          <a:prstGeom prst="roundRect">
            <a:avLst>
              <a:gd name="adj" fmla="val 7576"/>
            </a:avLst>
          </a:prstGeom>
          <a:solidFill>
            <a:srgbClr val="FFFFFF"/>
          </a:solidFill>
          <a:ln w="9525">
            <a:solidFill>
              <a:srgbClr val="D6E0E2"/>
            </a:solidFill>
            <a:prstDash val="solid"/>
          </a:ln>
        </p:spPr>
      </p:sp>
      <p:sp>
        <p:nvSpPr>
          <p:cNvPr id="77" name="Shape 75"/>
          <p:cNvSpPr/>
          <p:nvPr/>
        </p:nvSpPr>
        <p:spPr>
          <a:xfrm>
            <a:off x="768096" y="5294376"/>
            <a:ext cx="137160" cy="137160"/>
          </a:xfrm>
          <a:prstGeom prst="ellipse">
            <a:avLst/>
          </a:prstGeom>
          <a:solidFill>
            <a:srgbClr val="9A6A10"/>
          </a:solidFill>
          <a:ln/>
        </p:spPr>
      </p:sp>
      <p:sp>
        <p:nvSpPr>
          <p:cNvPr id="78" name="Text 76"/>
          <p:cNvSpPr txBox="1"/>
          <p:nvPr/>
        </p:nvSpPr>
        <p:spPr>
          <a:xfrm>
            <a:off x="987552" y="5120640"/>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RA</a:t>
            </a:r>
            <a:endParaRPr lang="en-US" sz="1300" dirty="0"/>
          </a:p>
        </p:txBody>
      </p:sp>
      <p:sp>
        <p:nvSpPr>
          <p:cNvPr id="79" name="Text 77"/>
          <p:cNvSpPr txBox="1"/>
          <p:nvPr/>
        </p:nvSpPr>
        <p:spPr>
          <a:xfrm>
            <a:off x="987552" y="5358384"/>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Risk Assessment</a:t>
            </a:r>
            <a:endParaRPr lang="en-US" sz="950" dirty="0"/>
          </a:p>
        </p:txBody>
      </p:sp>
      <p:sp>
        <p:nvSpPr>
          <p:cNvPr id="80" name="Shape 78"/>
          <p:cNvSpPr/>
          <p:nvPr/>
        </p:nvSpPr>
        <p:spPr>
          <a:xfrm>
            <a:off x="2862072" y="5065776"/>
            <a:ext cx="2057400" cy="603504"/>
          </a:xfrm>
          <a:prstGeom prst="roundRect">
            <a:avLst>
              <a:gd name="adj" fmla="val 7576"/>
            </a:avLst>
          </a:prstGeom>
          <a:solidFill>
            <a:srgbClr val="FFFFFF"/>
          </a:solidFill>
          <a:ln w="9525">
            <a:solidFill>
              <a:srgbClr val="D6E0E2"/>
            </a:solidFill>
            <a:prstDash val="solid"/>
          </a:ln>
        </p:spPr>
      </p:sp>
      <p:sp>
        <p:nvSpPr>
          <p:cNvPr id="81" name="Shape 79"/>
          <p:cNvSpPr/>
          <p:nvPr/>
        </p:nvSpPr>
        <p:spPr>
          <a:xfrm>
            <a:off x="2990088" y="5294376"/>
            <a:ext cx="137160" cy="137160"/>
          </a:xfrm>
          <a:prstGeom prst="ellipse">
            <a:avLst/>
          </a:prstGeom>
          <a:solidFill>
            <a:srgbClr val="9A6A10"/>
          </a:solidFill>
          <a:ln/>
        </p:spPr>
      </p:sp>
      <p:sp>
        <p:nvSpPr>
          <p:cNvPr id="82" name="Text 80"/>
          <p:cNvSpPr txBox="1"/>
          <p:nvPr/>
        </p:nvSpPr>
        <p:spPr>
          <a:xfrm>
            <a:off x="3209544" y="5120640"/>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SA</a:t>
            </a:r>
            <a:endParaRPr lang="en-US" sz="1300" dirty="0"/>
          </a:p>
        </p:txBody>
      </p:sp>
      <p:sp>
        <p:nvSpPr>
          <p:cNvPr id="83" name="Text 81"/>
          <p:cNvSpPr txBox="1"/>
          <p:nvPr/>
        </p:nvSpPr>
        <p:spPr>
          <a:xfrm>
            <a:off x="3209544" y="5358384"/>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Services Acquisition</a:t>
            </a:r>
            <a:endParaRPr lang="en-US" sz="950" dirty="0"/>
          </a:p>
        </p:txBody>
      </p:sp>
      <p:sp>
        <p:nvSpPr>
          <p:cNvPr id="84" name="Shape 82"/>
          <p:cNvSpPr/>
          <p:nvPr/>
        </p:nvSpPr>
        <p:spPr>
          <a:xfrm>
            <a:off x="5084064" y="5065776"/>
            <a:ext cx="2057400" cy="603504"/>
          </a:xfrm>
          <a:prstGeom prst="roundRect">
            <a:avLst>
              <a:gd name="adj" fmla="val 7576"/>
            </a:avLst>
          </a:prstGeom>
          <a:solidFill>
            <a:srgbClr val="FFFFFF"/>
          </a:solidFill>
          <a:ln w="9525">
            <a:solidFill>
              <a:srgbClr val="D6E0E2"/>
            </a:solidFill>
            <a:prstDash val="solid"/>
          </a:ln>
        </p:spPr>
      </p:sp>
      <p:sp>
        <p:nvSpPr>
          <p:cNvPr id="85" name="Shape 83"/>
          <p:cNvSpPr/>
          <p:nvPr/>
        </p:nvSpPr>
        <p:spPr>
          <a:xfrm>
            <a:off x="5212080" y="5294376"/>
            <a:ext cx="137160" cy="137160"/>
          </a:xfrm>
          <a:prstGeom prst="ellipse">
            <a:avLst/>
          </a:prstGeom>
          <a:solidFill>
            <a:srgbClr val="2E6B4F"/>
          </a:solidFill>
          <a:ln/>
        </p:spPr>
      </p:sp>
      <p:sp>
        <p:nvSpPr>
          <p:cNvPr id="86" name="Text 84"/>
          <p:cNvSpPr txBox="1"/>
          <p:nvPr/>
        </p:nvSpPr>
        <p:spPr>
          <a:xfrm>
            <a:off x="5431536" y="5120640"/>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SC</a:t>
            </a:r>
            <a:endParaRPr lang="en-US" sz="1300" dirty="0"/>
          </a:p>
        </p:txBody>
      </p:sp>
      <p:sp>
        <p:nvSpPr>
          <p:cNvPr id="87" name="Text 85"/>
          <p:cNvSpPr txBox="1"/>
          <p:nvPr/>
        </p:nvSpPr>
        <p:spPr>
          <a:xfrm>
            <a:off x="5431536" y="5358384"/>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Comms Protection</a:t>
            </a:r>
            <a:endParaRPr lang="en-US" sz="950" dirty="0"/>
          </a:p>
        </p:txBody>
      </p:sp>
      <p:sp>
        <p:nvSpPr>
          <p:cNvPr id="88" name="Shape 86"/>
          <p:cNvSpPr/>
          <p:nvPr/>
        </p:nvSpPr>
        <p:spPr>
          <a:xfrm>
            <a:off x="7306056" y="5065776"/>
            <a:ext cx="2057400" cy="603504"/>
          </a:xfrm>
          <a:prstGeom prst="roundRect">
            <a:avLst>
              <a:gd name="adj" fmla="val 7576"/>
            </a:avLst>
          </a:prstGeom>
          <a:solidFill>
            <a:srgbClr val="FFFFFF"/>
          </a:solidFill>
          <a:ln w="9525">
            <a:solidFill>
              <a:srgbClr val="D6E0E2"/>
            </a:solidFill>
            <a:prstDash val="solid"/>
          </a:ln>
        </p:spPr>
      </p:sp>
      <p:sp>
        <p:nvSpPr>
          <p:cNvPr id="89" name="Shape 87"/>
          <p:cNvSpPr/>
          <p:nvPr/>
        </p:nvSpPr>
        <p:spPr>
          <a:xfrm>
            <a:off x="7434072" y="5294376"/>
            <a:ext cx="137160" cy="137160"/>
          </a:xfrm>
          <a:prstGeom prst="ellipse">
            <a:avLst/>
          </a:prstGeom>
          <a:solidFill>
            <a:srgbClr val="9E2B25"/>
          </a:solidFill>
          <a:ln/>
        </p:spPr>
      </p:sp>
      <p:sp>
        <p:nvSpPr>
          <p:cNvPr id="90" name="Text 88"/>
          <p:cNvSpPr txBox="1"/>
          <p:nvPr/>
        </p:nvSpPr>
        <p:spPr>
          <a:xfrm>
            <a:off x="7653528" y="5120640"/>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SI</a:t>
            </a:r>
            <a:endParaRPr lang="en-US" sz="1300" dirty="0"/>
          </a:p>
        </p:txBody>
      </p:sp>
      <p:sp>
        <p:nvSpPr>
          <p:cNvPr id="91" name="Text 89"/>
          <p:cNvSpPr txBox="1"/>
          <p:nvPr/>
        </p:nvSpPr>
        <p:spPr>
          <a:xfrm>
            <a:off x="7653528" y="5358384"/>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System Integrity</a:t>
            </a:r>
            <a:endParaRPr lang="en-US" sz="950" dirty="0"/>
          </a:p>
        </p:txBody>
      </p:sp>
      <p:sp>
        <p:nvSpPr>
          <p:cNvPr id="92" name="Shape 90"/>
          <p:cNvSpPr/>
          <p:nvPr/>
        </p:nvSpPr>
        <p:spPr>
          <a:xfrm>
            <a:off x="9528048" y="5065776"/>
            <a:ext cx="2057400" cy="603504"/>
          </a:xfrm>
          <a:prstGeom prst="roundRect">
            <a:avLst>
              <a:gd name="adj" fmla="val 7576"/>
            </a:avLst>
          </a:prstGeom>
          <a:solidFill>
            <a:srgbClr val="FFFFFF"/>
          </a:solidFill>
          <a:ln w="9525">
            <a:solidFill>
              <a:srgbClr val="D6E0E2"/>
            </a:solidFill>
            <a:prstDash val="solid"/>
          </a:ln>
        </p:spPr>
      </p:sp>
      <p:sp>
        <p:nvSpPr>
          <p:cNvPr id="93" name="Shape 91"/>
          <p:cNvSpPr/>
          <p:nvPr/>
        </p:nvSpPr>
        <p:spPr>
          <a:xfrm>
            <a:off x="9656064" y="5294376"/>
            <a:ext cx="137160" cy="137160"/>
          </a:xfrm>
          <a:prstGeom prst="ellipse">
            <a:avLst/>
          </a:prstGeom>
          <a:solidFill>
            <a:srgbClr val="9A6A10"/>
          </a:solidFill>
          <a:ln/>
        </p:spPr>
      </p:sp>
      <p:sp>
        <p:nvSpPr>
          <p:cNvPr id="94" name="Text 92"/>
          <p:cNvSpPr txBox="1"/>
          <p:nvPr/>
        </p:nvSpPr>
        <p:spPr>
          <a:xfrm>
            <a:off x="9875520" y="5120640"/>
            <a:ext cx="1554480" cy="256032"/>
          </a:xfrm>
          <a:prstGeom prst="rect">
            <a:avLst/>
          </a:prstGeom>
          <a:noFill/>
          <a:ln/>
        </p:spPr>
        <p:txBody>
          <a:bodyPr wrap="square" lIns="0" tIns="0" rIns="0" bIns="0" rtlCol="0" anchor="ctr"/>
          <a:lstStyle/>
          <a:p>
            <a:pPr indent="0" marL="0">
              <a:buNone/>
            </a:pPr>
            <a:r>
              <a:rPr lang="en-US" sz="1300" b="1" dirty="0">
                <a:solidFill>
                  <a:srgbClr val="16262E"/>
                </a:solidFill>
                <a:latin typeface="Calibri" pitchFamily="34" charset="0"/>
                <a:ea typeface="Calibri" pitchFamily="34" charset="-122"/>
                <a:cs typeface="Calibri" pitchFamily="34" charset="-120"/>
              </a:rPr>
              <a:t>SR</a:t>
            </a:r>
            <a:endParaRPr lang="en-US" sz="1300" dirty="0"/>
          </a:p>
        </p:txBody>
      </p:sp>
      <p:sp>
        <p:nvSpPr>
          <p:cNvPr id="95" name="Text 93"/>
          <p:cNvSpPr txBox="1"/>
          <p:nvPr/>
        </p:nvSpPr>
        <p:spPr>
          <a:xfrm>
            <a:off x="9875520" y="5358384"/>
            <a:ext cx="1645920" cy="256032"/>
          </a:xfrm>
          <a:prstGeom prst="rect">
            <a:avLst/>
          </a:prstGeom>
          <a:noFill/>
          <a:ln/>
        </p:spPr>
        <p:txBody>
          <a:bodyPr wrap="square" lIns="0" tIns="0" rIns="0" bIns="0" rtlCol="0" anchor="ctr"/>
          <a:lstStyle/>
          <a:p>
            <a:pPr indent="0" marL="0">
              <a:buNone/>
            </a:pPr>
            <a:r>
              <a:rPr lang="en-US" sz="950" dirty="0">
                <a:solidFill>
                  <a:srgbClr val="5C6B73"/>
                </a:solidFill>
                <a:latin typeface="Calibri" pitchFamily="34" charset="0"/>
                <a:ea typeface="Calibri" pitchFamily="34" charset="-122"/>
                <a:cs typeface="Calibri" pitchFamily="34" charset="-120"/>
              </a:rPr>
              <a:t>Supply Chain</a:t>
            </a:r>
            <a:endParaRPr lang="en-US" sz="950" dirty="0"/>
          </a:p>
        </p:txBody>
      </p:sp>
      <p:sp>
        <p:nvSpPr>
          <p:cNvPr id="96" name="Text 94"/>
          <p:cNvSpPr txBox="1"/>
          <p:nvPr/>
        </p:nvSpPr>
        <p:spPr>
          <a:xfrm>
            <a:off x="640080" y="6035040"/>
            <a:ext cx="10908792" cy="274320"/>
          </a:xfrm>
          <a:prstGeom prst="rect">
            <a:avLst/>
          </a:prstGeom>
          <a:noFill/>
          <a:ln/>
        </p:spPr>
        <p:txBody>
          <a:bodyPr wrap="square" lIns="0" tIns="0" rIns="0" bIns="0" rtlCol="0" anchor="ctr"/>
          <a:lstStyle/>
          <a:p>
            <a:pPr indent="0" marL="0">
              <a:buNone/>
            </a:pPr>
            <a:r>
              <a:rPr lang="en-US" sz="1100" dirty="0">
                <a:solidFill>
                  <a:srgbClr val="5C6B73"/>
                </a:solidFill>
                <a:latin typeface="Calibri" pitchFamily="34" charset="0"/>
                <a:ea typeface="Calibri" pitchFamily="34" charset="-122"/>
                <a:cs typeface="Calibri" pitchFamily="34" charset="-120"/>
              </a:rPr>
              <a:t>Red = weakest families, most findings   |   Amber = partial, process missing   |   Green = broadly working, minor gaps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Top five risks</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Scored as likelihood x impact, each out of 5. Anything at 16 or above I have called critical.</a:t>
            </a:r>
            <a:endParaRPr lang="en-US" sz="1400" dirty="0"/>
          </a:p>
        </p:txBody>
      </p:sp>
      <p:sp>
        <p:nvSpPr>
          <p:cNvPr id="4" name="Text 2"/>
          <p:cNvSpPr txBox="1"/>
          <p:nvPr/>
        </p:nvSpPr>
        <p:spPr>
          <a:xfrm>
            <a:off x="822960" y="1572768"/>
            <a:ext cx="731520" cy="274320"/>
          </a:xfrm>
          <a:prstGeom prst="rect">
            <a:avLst/>
          </a:prstGeom>
          <a:noFill/>
          <a:ln/>
        </p:spPr>
        <p:txBody>
          <a:bodyPr wrap="square" lIns="0" tIns="0" rIns="0" bIns="0" rtlCol="0" anchor="ctr"/>
          <a:lstStyle/>
          <a:p>
            <a:pPr indent="0" marL="0">
              <a:buNone/>
            </a:pPr>
            <a:r>
              <a:rPr lang="en-US" sz="1100" b="1" dirty="0">
                <a:solidFill>
                  <a:srgbClr val="5C6B73"/>
                </a:solidFill>
                <a:latin typeface="Calibri" pitchFamily="34" charset="0"/>
                <a:ea typeface="Calibri" pitchFamily="34" charset="-122"/>
                <a:cs typeface="Calibri" pitchFamily="34" charset="-120"/>
              </a:rPr>
              <a:t>ID</a:t>
            </a:r>
            <a:endParaRPr lang="en-US" sz="1100" dirty="0"/>
          </a:p>
        </p:txBody>
      </p:sp>
      <p:sp>
        <p:nvSpPr>
          <p:cNvPr id="5" name="Text 3"/>
          <p:cNvSpPr txBox="1"/>
          <p:nvPr/>
        </p:nvSpPr>
        <p:spPr>
          <a:xfrm>
            <a:off x="1600200" y="1572768"/>
            <a:ext cx="5943600" cy="274320"/>
          </a:xfrm>
          <a:prstGeom prst="rect">
            <a:avLst/>
          </a:prstGeom>
          <a:noFill/>
          <a:ln/>
        </p:spPr>
        <p:txBody>
          <a:bodyPr wrap="square" lIns="0" tIns="0" rIns="0" bIns="0" rtlCol="0" anchor="ctr"/>
          <a:lstStyle/>
          <a:p>
            <a:pPr indent="0" marL="0">
              <a:buNone/>
            </a:pPr>
            <a:r>
              <a:rPr lang="en-US" sz="1100" b="1" dirty="0">
                <a:solidFill>
                  <a:srgbClr val="5C6B73"/>
                </a:solidFill>
                <a:latin typeface="Calibri" pitchFamily="34" charset="0"/>
                <a:ea typeface="Calibri" pitchFamily="34" charset="-122"/>
                <a:cs typeface="Calibri" pitchFamily="34" charset="-120"/>
              </a:rPr>
              <a:t>RISK</a:t>
            </a:r>
            <a:endParaRPr lang="en-US" sz="1100" dirty="0"/>
          </a:p>
        </p:txBody>
      </p:sp>
      <p:sp>
        <p:nvSpPr>
          <p:cNvPr id="6" name="Text 4"/>
          <p:cNvSpPr txBox="1"/>
          <p:nvPr/>
        </p:nvSpPr>
        <p:spPr>
          <a:xfrm>
            <a:off x="7863840" y="1572768"/>
            <a:ext cx="1554480" cy="274320"/>
          </a:xfrm>
          <a:prstGeom prst="rect">
            <a:avLst/>
          </a:prstGeom>
          <a:noFill/>
          <a:ln/>
        </p:spPr>
        <p:txBody>
          <a:bodyPr wrap="square" lIns="0" tIns="0" rIns="0" bIns="0" rtlCol="0" anchor="ctr"/>
          <a:lstStyle/>
          <a:p>
            <a:pPr indent="0" marL="0">
              <a:buNone/>
            </a:pPr>
            <a:r>
              <a:rPr lang="en-US" sz="1100" b="1" dirty="0">
                <a:solidFill>
                  <a:srgbClr val="5C6B73"/>
                </a:solidFill>
                <a:latin typeface="Calibri" pitchFamily="34" charset="0"/>
                <a:ea typeface="Calibri" pitchFamily="34" charset="-122"/>
                <a:cs typeface="Calibri" pitchFamily="34" charset="-120"/>
              </a:rPr>
              <a:t>FAMILIES</a:t>
            </a:r>
            <a:endParaRPr lang="en-US" sz="1100" dirty="0"/>
          </a:p>
        </p:txBody>
      </p:sp>
      <p:sp>
        <p:nvSpPr>
          <p:cNvPr id="7" name="Text 5"/>
          <p:cNvSpPr txBox="1"/>
          <p:nvPr/>
        </p:nvSpPr>
        <p:spPr>
          <a:xfrm>
            <a:off x="9418320" y="1572768"/>
            <a:ext cx="914400" cy="274320"/>
          </a:xfrm>
          <a:prstGeom prst="rect">
            <a:avLst/>
          </a:prstGeom>
          <a:noFill/>
          <a:ln/>
        </p:spPr>
        <p:txBody>
          <a:bodyPr wrap="square" lIns="0" tIns="0" rIns="0" bIns="0" rtlCol="0" anchor="ctr"/>
          <a:lstStyle/>
          <a:p>
            <a:pPr indent="0" marL="0">
              <a:buNone/>
            </a:pPr>
            <a:r>
              <a:rPr lang="en-US" sz="1100" b="1" dirty="0">
                <a:solidFill>
                  <a:srgbClr val="5C6B73"/>
                </a:solidFill>
                <a:latin typeface="Calibri" pitchFamily="34" charset="0"/>
                <a:ea typeface="Calibri" pitchFamily="34" charset="-122"/>
                <a:cs typeface="Calibri" pitchFamily="34" charset="-120"/>
              </a:rPr>
              <a:t>L x I</a:t>
            </a:r>
            <a:endParaRPr lang="en-US" sz="1100" dirty="0"/>
          </a:p>
        </p:txBody>
      </p:sp>
      <p:sp>
        <p:nvSpPr>
          <p:cNvPr id="8" name="Text 6"/>
          <p:cNvSpPr txBox="1"/>
          <p:nvPr/>
        </p:nvSpPr>
        <p:spPr>
          <a:xfrm>
            <a:off x="10241280" y="1572768"/>
            <a:ext cx="1097280" cy="274320"/>
          </a:xfrm>
          <a:prstGeom prst="rect">
            <a:avLst/>
          </a:prstGeom>
          <a:noFill/>
          <a:ln/>
        </p:spPr>
        <p:txBody>
          <a:bodyPr wrap="square" lIns="0" tIns="0" rIns="0" bIns="0" rtlCol="0" anchor="ctr"/>
          <a:lstStyle/>
          <a:p>
            <a:pPr indent="0" marL="0">
              <a:buNone/>
            </a:pPr>
            <a:r>
              <a:rPr lang="en-US" sz="1100" b="1" dirty="0">
                <a:solidFill>
                  <a:srgbClr val="5C6B73"/>
                </a:solidFill>
                <a:latin typeface="Calibri" pitchFamily="34" charset="0"/>
                <a:ea typeface="Calibri" pitchFamily="34" charset="-122"/>
                <a:cs typeface="Calibri" pitchFamily="34" charset="-120"/>
              </a:rPr>
              <a:t>RATING</a:t>
            </a:r>
            <a:endParaRPr lang="en-US" sz="1100" dirty="0"/>
          </a:p>
        </p:txBody>
      </p:sp>
      <p:sp>
        <p:nvSpPr>
          <p:cNvPr id="9" name="Shape 7"/>
          <p:cNvSpPr/>
          <p:nvPr/>
        </p:nvSpPr>
        <p:spPr>
          <a:xfrm>
            <a:off x="640080" y="1920240"/>
            <a:ext cx="10908792" cy="731520"/>
          </a:xfrm>
          <a:prstGeom prst="roundRect">
            <a:avLst>
              <a:gd name="adj" fmla="val 7500"/>
            </a:avLst>
          </a:prstGeom>
          <a:solidFill>
            <a:srgbClr val="FFFFFF"/>
          </a:solidFill>
          <a:ln w="9525">
            <a:solidFill>
              <a:srgbClr val="D6E0E2"/>
            </a:solidFill>
            <a:prstDash val="solid"/>
          </a:ln>
        </p:spPr>
      </p:sp>
      <p:sp>
        <p:nvSpPr>
          <p:cNvPr id="10" name="Text 8"/>
          <p:cNvSpPr txBox="1"/>
          <p:nvPr/>
        </p:nvSpPr>
        <p:spPr>
          <a:xfrm>
            <a:off x="822960" y="2139696"/>
            <a:ext cx="731520" cy="274320"/>
          </a:xfrm>
          <a:prstGeom prst="rect">
            <a:avLst/>
          </a:prstGeom>
          <a:noFill/>
          <a:ln/>
        </p:spPr>
        <p:txBody>
          <a:bodyPr wrap="square" lIns="0" tIns="0" rIns="0" bIns="0" rtlCol="0" anchor="ctr"/>
          <a:lstStyle/>
          <a:p>
            <a:pPr indent="0" marL="0">
              <a:buNone/>
            </a:pPr>
            <a:r>
              <a:rPr lang="en-US" sz="1300" b="1" dirty="0">
                <a:solidFill>
                  <a:srgbClr val="064E57"/>
                </a:solidFill>
                <a:latin typeface="Calibri" pitchFamily="34" charset="0"/>
                <a:ea typeface="Calibri" pitchFamily="34" charset="-122"/>
                <a:cs typeface="Calibri" pitchFamily="34" charset="-120"/>
              </a:rPr>
              <a:t>R-01</a:t>
            </a:r>
            <a:endParaRPr lang="en-US" sz="1300" dirty="0"/>
          </a:p>
        </p:txBody>
      </p:sp>
      <p:sp>
        <p:nvSpPr>
          <p:cNvPr id="11" name="Text 9"/>
          <p:cNvSpPr txBox="1"/>
          <p:nvPr/>
        </p:nvSpPr>
        <p:spPr>
          <a:xfrm>
            <a:off x="1600200" y="2103120"/>
            <a:ext cx="6126480" cy="457200"/>
          </a:xfrm>
          <a:prstGeom prst="rect">
            <a:avLst/>
          </a:prstGeom>
          <a:noFill/>
          <a:ln/>
        </p:spPr>
        <p:txBody>
          <a:bodyPr wrap="square" lIns="0" tIns="0" rIns="0" bIns="0" rtlCol="0" anchor="ctr"/>
          <a:lstStyle/>
          <a:p>
            <a:pPr indent="0" marL="0">
              <a:lnSpc>
                <a:spcPts val="1700"/>
              </a:lnSpc>
              <a:buNone/>
            </a:pPr>
            <a:r>
              <a:rPr lang="en-US" sz="1300" dirty="0">
                <a:solidFill>
                  <a:srgbClr val="16262E"/>
                </a:solidFill>
                <a:latin typeface="Calibri" pitchFamily="34" charset="0"/>
                <a:ea typeface="Calibri" pitchFamily="34" charset="-122"/>
                <a:cs typeface="Calibri" pitchFamily="34" charset="-120"/>
              </a:rPr>
              <a:t>Dormant contractor accounts still allow access to the M365 tenant</a:t>
            </a:r>
            <a:endParaRPr lang="en-US" sz="1300" dirty="0"/>
          </a:p>
        </p:txBody>
      </p:sp>
      <p:sp>
        <p:nvSpPr>
          <p:cNvPr id="12" name="Text 10"/>
          <p:cNvSpPr txBox="1"/>
          <p:nvPr/>
        </p:nvSpPr>
        <p:spPr>
          <a:xfrm>
            <a:off x="7863840" y="2139696"/>
            <a:ext cx="15544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AC, PS, IA</a:t>
            </a:r>
            <a:endParaRPr lang="en-US" sz="1200" dirty="0"/>
          </a:p>
        </p:txBody>
      </p:sp>
      <p:sp>
        <p:nvSpPr>
          <p:cNvPr id="13" name="Text 11"/>
          <p:cNvSpPr txBox="1"/>
          <p:nvPr/>
        </p:nvSpPr>
        <p:spPr>
          <a:xfrm>
            <a:off x="9418320" y="2139696"/>
            <a:ext cx="9144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4 x 5</a:t>
            </a:r>
            <a:endParaRPr lang="en-US" sz="1200" dirty="0"/>
          </a:p>
        </p:txBody>
      </p:sp>
      <p:sp>
        <p:nvSpPr>
          <p:cNvPr id="14" name="Shape 12"/>
          <p:cNvSpPr/>
          <p:nvPr/>
        </p:nvSpPr>
        <p:spPr>
          <a:xfrm>
            <a:off x="10195560" y="2093976"/>
            <a:ext cx="1005840" cy="384048"/>
          </a:xfrm>
          <a:prstGeom prst="roundRect">
            <a:avLst>
              <a:gd name="adj" fmla="val 11905"/>
            </a:avLst>
          </a:prstGeom>
          <a:solidFill>
            <a:srgbClr val="9E2B25"/>
          </a:solidFill>
          <a:ln/>
        </p:spPr>
      </p:sp>
      <p:sp>
        <p:nvSpPr>
          <p:cNvPr id="15" name="Text 13"/>
          <p:cNvSpPr txBox="1"/>
          <p:nvPr/>
        </p:nvSpPr>
        <p:spPr>
          <a:xfrm>
            <a:off x="10195560" y="2148840"/>
            <a:ext cx="100584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16" name="Shape 14"/>
          <p:cNvSpPr/>
          <p:nvPr/>
        </p:nvSpPr>
        <p:spPr>
          <a:xfrm>
            <a:off x="640080" y="2761488"/>
            <a:ext cx="10908792" cy="731520"/>
          </a:xfrm>
          <a:prstGeom prst="roundRect">
            <a:avLst>
              <a:gd name="adj" fmla="val 7500"/>
            </a:avLst>
          </a:prstGeom>
          <a:solidFill>
            <a:srgbClr val="FFFFFF"/>
          </a:solidFill>
          <a:ln w="9525">
            <a:solidFill>
              <a:srgbClr val="D6E0E2"/>
            </a:solidFill>
            <a:prstDash val="solid"/>
          </a:ln>
        </p:spPr>
      </p:sp>
      <p:sp>
        <p:nvSpPr>
          <p:cNvPr id="17" name="Text 15"/>
          <p:cNvSpPr txBox="1"/>
          <p:nvPr/>
        </p:nvSpPr>
        <p:spPr>
          <a:xfrm>
            <a:off x="822960" y="2980944"/>
            <a:ext cx="731520" cy="274320"/>
          </a:xfrm>
          <a:prstGeom prst="rect">
            <a:avLst/>
          </a:prstGeom>
          <a:noFill/>
          <a:ln/>
        </p:spPr>
        <p:txBody>
          <a:bodyPr wrap="square" lIns="0" tIns="0" rIns="0" bIns="0" rtlCol="0" anchor="ctr"/>
          <a:lstStyle/>
          <a:p>
            <a:pPr indent="0" marL="0">
              <a:buNone/>
            </a:pPr>
            <a:r>
              <a:rPr lang="en-US" sz="1300" b="1" dirty="0">
                <a:solidFill>
                  <a:srgbClr val="064E57"/>
                </a:solidFill>
                <a:latin typeface="Calibri" pitchFamily="34" charset="0"/>
                <a:ea typeface="Calibri" pitchFamily="34" charset="-122"/>
                <a:cs typeface="Calibri" pitchFamily="34" charset="-120"/>
              </a:rPr>
              <a:t>R-02</a:t>
            </a:r>
            <a:endParaRPr lang="en-US" sz="1300" dirty="0"/>
          </a:p>
        </p:txBody>
      </p:sp>
      <p:sp>
        <p:nvSpPr>
          <p:cNvPr id="18" name="Text 16"/>
          <p:cNvSpPr txBox="1"/>
          <p:nvPr/>
        </p:nvSpPr>
        <p:spPr>
          <a:xfrm>
            <a:off x="1600200" y="2944368"/>
            <a:ext cx="6126480" cy="457200"/>
          </a:xfrm>
          <a:prstGeom prst="rect">
            <a:avLst/>
          </a:prstGeom>
          <a:noFill/>
          <a:ln/>
        </p:spPr>
        <p:txBody>
          <a:bodyPr wrap="square" lIns="0" tIns="0" rIns="0" bIns="0" rtlCol="0" anchor="ctr"/>
          <a:lstStyle/>
          <a:p>
            <a:pPr indent="0" marL="0">
              <a:lnSpc>
                <a:spcPts val="1700"/>
              </a:lnSpc>
              <a:buNone/>
            </a:pPr>
            <a:r>
              <a:rPr lang="en-US" sz="1300" dirty="0">
                <a:solidFill>
                  <a:srgbClr val="16262E"/>
                </a:solidFill>
                <a:latin typeface="Calibri" pitchFamily="34" charset="0"/>
                <a:ea typeface="Calibri" pitchFamily="34" charset="-122"/>
                <a:cs typeface="Calibri" pitchFamily="34" charset="-120"/>
              </a:rPr>
              <a:t>Remote sign-in without MFA lets a phished password become a full account takeover</a:t>
            </a:r>
            <a:endParaRPr lang="en-US" sz="1300" dirty="0"/>
          </a:p>
        </p:txBody>
      </p:sp>
      <p:sp>
        <p:nvSpPr>
          <p:cNvPr id="19" name="Text 17"/>
          <p:cNvSpPr txBox="1"/>
          <p:nvPr/>
        </p:nvSpPr>
        <p:spPr>
          <a:xfrm>
            <a:off x="7863840" y="2980944"/>
            <a:ext cx="15544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IA, AC</a:t>
            </a:r>
            <a:endParaRPr lang="en-US" sz="1200" dirty="0"/>
          </a:p>
        </p:txBody>
      </p:sp>
      <p:sp>
        <p:nvSpPr>
          <p:cNvPr id="20" name="Text 18"/>
          <p:cNvSpPr txBox="1"/>
          <p:nvPr/>
        </p:nvSpPr>
        <p:spPr>
          <a:xfrm>
            <a:off x="9418320" y="2980944"/>
            <a:ext cx="9144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4 x 5</a:t>
            </a:r>
            <a:endParaRPr lang="en-US" sz="1200" dirty="0"/>
          </a:p>
        </p:txBody>
      </p:sp>
      <p:sp>
        <p:nvSpPr>
          <p:cNvPr id="21" name="Shape 19"/>
          <p:cNvSpPr/>
          <p:nvPr/>
        </p:nvSpPr>
        <p:spPr>
          <a:xfrm>
            <a:off x="10195560" y="2935224"/>
            <a:ext cx="1005840" cy="384048"/>
          </a:xfrm>
          <a:prstGeom prst="roundRect">
            <a:avLst>
              <a:gd name="adj" fmla="val 11905"/>
            </a:avLst>
          </a:prstGeom>
          <a:solidFill>
            <a:srgbClr val="9E2B25"/>
          </a:solidFill>
          <a:ln/>
        </p:spPr>
      </p:sp>
      <p:sp>
        <p:nvSpPr>
          <p:cNvPr id="22" name="Text 20"/>
          <p:cNvSpPr txBox="1"/>
          <p:nvPr/>
        </p:nvSpPr>
        <p:spPr>
          <a:xfrm>
            <a:off x="10195560" y="2990088"/>
            <a:ext cx="100584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23" name="Shape 21"/>
          <p:cNvSpPr/>
          <p:nvPr/>
        </p:nvSpPr>
        <p:spPr>
          <a:xfrm>
            <a:off x="640080" y="3602736"/>
            <a:ext cx="10908792" cy="731520"/>
          </a:xfrm>
          <a:prstGeom prst="roundRect">
            <a:avLst>
              <a:gd name="adj" fmla="val 7500"/>
            </a:avLst>
          </a:prstGeom>
          <a:solidFill>
            <a:srgbClr val="FFFFFF"/>
          </a:solidFill>
          <a:ln w="9525">
            <a:solidFill>
              <a:srgbClr val="D6E0E2"/>
            </a:solidFill>
            <a:prstDash val="solid"/>
          </a:ln>
        </p:spPr>
      </p:sp>
      <p:sp>
        <p:nvSpPr>
          <p:cNvPr id="24" name="Text 22"/>
          <p:cNvSpPr txBox="1"/>
          <p:nvPr/>
        </p:nvSpPr>
        <p:spPr>
          <a:xfrm>
            <a:off x="822960" y="3822192"/>
            <a:ext cx="731520" cy="274320"/>
          </a:xfrm>
          <a:prstGeom prst="rect">
            <a:avLst/>
          </a:prstGeom>
          <a:noFill/>
          <a:ln/>
        </p:spPr>
        <p:txBody>
          <a:bodyPr wrap="square" lIns="0" tIns="0" rIns="0" bIns="0" rtlCol="0" anchor="ctr"/>
          <a:lstStyle/>
          <a:p>
            <a:pPr indent="0" marL="0">
              <a:buNone/>
            </a:pPr>
            <a:r>
              <a:rPr lang="en-US" sz="1300" b="1" dirty="0">
                <a:solidFill>
                  <a:srgbClr val="064E57"/>
                </a:solidFill>
                <a:latin typeface="Calibri" pitchFamily="34" charset="0"/>
                <a:ea typeface="Calibri" pitchFamily="34" charset="-122"/>
                <a:cs typeface="Calibri" pitchFamily="34" charset="-120"/>
              </a:rPr>
              <a:t>R-03</a:t>
            </a:r>
            <a:endParaRPr lang="en-US" sz="1300" dirty="0"/>
          </a:p>
        </p:txBody>
      </p:sp>
      <p:sp>
        <p:nvSpPr>
          <p:cNvPr id="25" name="Text 23"/>
          <p:cNvSpPr txBox="1"/>
          <p:nvPr/>
        </p:nvSpPr>
        <p:spPr>
          <a:xfrm>
            <a:off x="1600200" y="3785616"/>
            <a:ext cx="6126480" cy="457200"/>
          </a:xfrm>
          <a:prstGeom prst="rect">
            <a:avLst/>
          </a:prstGeom>
          <a:noFill/>
          <a:ln/>
        </p:spPr>
        <p:txBody>
          <a:bodyPr wrap="square" lIns="0" tIns="0" rIns="0" bIns="0" rtlCol="0" anchor="ctr"/>
          <a:lstStyle/>
          <a:p>
            <a:pPr indent="0" marL="0">
              <a:lnSpc>
                <a:spcPts val="1700"/>
              </a:lnSpc>
              <a:buNone/>
            </a:pPr>
            <a:r>
              <a:rPr lang="en-US" sz="1300" dirty="0">
                <a:solidFill>
                  <a:srgbClr val="16262E"/>
                </a:solidFill>
                <a:latin typeface="Calibri" pitchFamily="34" charset="0"/>
                <a:ea typeface="Calibri" pitchFamily="34" charset="-122"/>
                <a:cs typeface="Calibri" pitchFamily="34" charset="-120"/>
              </a:rPr>
              <a:t>Backups have never been restore-tested, so recovery from ransomware is unproven</a:t>
            </a:r>
            <a:endParaRPr lang="en-US" sz="1300" dirty="0"/>
          </a:p>
        </p:txBody>
      </p:sp>
      <p:sp>
        <p:nvSpPr>
          <p:cNvPr id="26" name="Text 24"/>
          <p:cNvSpPr txBox="1"/>
          <p:nvPr/>
        </p:nvSpPr>
        <p:spPr>
          <a:xfrm>
            <a:off x="7863840" y="3822192"/>
            <a:ext cx="15544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CP, SI</a:t>
            </a:r>
            <a:endParaRPr lang="en-US" sz="1200" dirty="0"/>
          </a:p>
        </p:txBody>
      </p:sp>
      <p:sp>
        <p:nvSpPr>
          <p:cNvPr id="27" name="Text 25"/>
          <p:cNvSpPr txBox="1"/>
          <p:nvPr/>
        </p:nvSpPr>
        <p:spPr>
          <a:xfrm>
            <a:off x="9418320" y="3822192"/>
            <a:ext cx="9144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3 x 5</a:t>
            </a:r>
            <a:endParaRPr lang="en-US" sz="1200" dirty="0"/>
          </a:p>
        </p:txBody>
      </p:sp>
      <p:sp>
        <p:nvSpPr>
          <p:cNvPr id="28" name="Shape 26"/>
          <p:cNvSpPr/>
          <p:nvPr/>
        </p:nvSpPr>
        <p:spPr>
          <a:xfrm>
            <a:off x="10195560" y="3776472"/>
            <a:ext cx="1005840" cy="384048"/>
          </a:xfrm>
          <a:prstGeom prst="roundRect">
            <a:avLst>
              <a:gd name="adj" fmla="val 11905"/>
            </a:avLst>
          </a:prstGeom>
          <a:solidFill>
            <a:srgbClr val="9A6A10"/>
          </a:solidFill>
          <a:ln/>
        </p:spPr>
      </p:sp>
      <p:sp>
        <p:nvSpPr>
          <p:cNvPr id="29" name="Text 27"/>
          <p:cNvSpPr txBox="1"/>
          <p:nvPr/>
        </p:nvSpPr>
        <p:spPr>
          <a:xfrm>
            <a:off x="10195560" y="3831336"/>
            <a:ext cx="100584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30" name="Shape 28"/>
          <p:cNvSpPr/>
          <p:nvPr/>
        </p:nvSpPr>
        <p:spPr>
          <a:xfrm>
            <a:off x="640080" y="4443984"/>
            <a:ext cx="10908792" cy="731520"/>
          </a:xfrm>
          <a:prstGeom prst="roundRect">
            <a:avLst>
              <a:gd name="adj" fmla="val 7500"/>
            </a:avLst>
          </a:prstGeom>
          <a:solidFill>
            <a:srgbClr val="FFFFFF"/>
          </a:solidFill>
          <a:ln w="9525">
            <a:solidFill>
              <a:srgbClr val="D6E0E2"/>
            </a:solidFill>
            <a:prstDash val="solid"/>
          </a:ln>
        </p:spPr>
      </p:sp>
      <p:sp>
        <p:nvSpPr>
          <p:cNvPr id="31" name="Text 29"/>
          <p:cNvSpPr txBox="1"/>
          <p:nvPr/>
        </p:nvSpPr>
        <p:spPr>
          <a:xfrm>
            <a:off x="822960" y="4663440"/>
            <a:ext cx="731520" cy="274320"/>
          </a:xfrm>
          <a:prstGeom prst="rect">
            <a:avLst/>
          </a:prstGeom>
          <a:noFill/>
          <a:ln/>
        </p:spPr>
        <p:txBody>
          <a:bodyPr wrap="square" lIns="0" tIns="0" rIns="0" bIns="0" rtlCol="0" anchor="ctr"/>
          <a:lstStyle/>
          <a:p>
            <a:pPr indent="0" marL="0">
              <a:buNone/>
            </a:pPr>
            <a:r>
              <a:rPr lang="en-US" sz="1300" b="1" dirty="0">
                <a:solidFill>
                  <a:srgbClr val="064E57"/>
                </a:solidFill>
                <a:latin typeface="Calibri" pitchFamily="34" charset="0"/>
                <a:ea typeface="Calibri" pitchFamily="34" charset="-122"/>
                <a:cs typeface="Calibri" pitchFamily="34" charset="-120"/>
              </a:rPr>
              <a:t>R-04</a:t>
            </a:r>
            <a:endParaRPr lang="en-US" sz="1300" dirty="0"/>
          </a:p>
        </p:txBody>
      </p:sp>
      <p:sp>
        <p:nvSpPr>
          <p:cNvPr id="32" name="Text 30"/>
          <p:cNvSpPr txBox="1"/>
          <p:nvPr/>
        </p:nvSpPr>
        <p:spPr>
          <a:xfrm>
            <a:off x="1600200" y="4626864"/>
            <a:ext cx="6126480" cy="457200"/>
          </a:xfrm>
          <a:prstGeom prst="rect">
            <a:avLst/>
          </a:prstGeom>
          <a:noFill/>
          <a:ln/>
        </p:spPr>
        <p:txBody>
          <a:bodyPr wrap="square" lIns="0" tIns="0" rIns="0" bIns="0" rtlCol="0" anchor="ctr"/>
          <a:lstStyle/>
          <a:p>
            <a:pPr indent="0" marL="0">
              <a:lnSpc>
                <a:spcPts val="1700"/>
              </a:lnSpc>
              <a:buNone/>
            </a:pPr>
            <a:r>
              <a:rPr lang="en-US" sz="1300" dirty="0">
                <a:solidFill>
                  <a:srgbClr val="16262E"/>
                </a:solidFill>
                <a:latin typeface="Calibri" pitchFamily="34" charset="0"/>
                <a:ea typeface="Calibri" pitchFamily="34" charset="-122"/>
                <a:cs typeface="Calibri" pitchFamily="34" charset="-120"/>
              </a:rPr>
              <a:t>Unpatched endpoints give a known exploit an easy route in</a:t>
            </a:r>
            <a:endParaRPr lang="en-US" sz="1300" dirty="0"/>
          </a:p>
        </p:txBody>
      </p:sp>
      <p:sp>
        <p:nvSpPr>
          <p:cNvPr id="33" name="Text 31"/>
          <p:cNvSpPr txBox="1"/>
          <p:nvPr/>
        </p:nvSpPr>
        <p:spPr>
          <a:xfrm>
            <a:off x="7863840" y="4663440"/>
            <a:ext cx="15544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SI, CM</a:t>
            </a:r>
            <a:endParaRPr lang="en-US" sz="1200" dirty="0"/>
          </a:p>
        </p:txBody>
      </p:sp>
      <p:sp>
        <p:nvSpPr>
          <p:cNvPr id="34" name="Text 32"/>
          <p:cNvSpPr txBox="1"/>
          <p:nvPr/>
        </p:nvSpPr>
        <p:spPr>
          <a:xfrm>
            <a:off x="9418320" y="4663440"/>
            <a:ext cx="9144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4 x 4</a:t>
            </a:r>
            <a:endParaRPr lang="en-US" sz="1200" dirty="0"/>
          </a:p>
        </p:txBody>
      </p:sp>
      <p:sp>
        <p:nvSpPr>
          <p:cNvPr id="35" name="Shape 33"/>
          <p:cNvSpPr/>
          <p:nvPr/>
        </p:nvSpPr>
        <p:spPr>
          <a:xfrm>
            <a:off x="10195560" y="4617720"/>
            <a:ext cx="1005840" cy="384048"/>
          </a:xfrm>
          <a:prstGeom prst="roundRect">
            <a:avLst>
              <a:gd name="adj" fmla="val 11905"/>
            </a:avLst>
          </a:prstGeom>
          <a:solidFill>
            <a:srgbClr val="9E2B25"/>
          </a:solidFill>
          <a:ln/>
        </p:spPr>
      </p:sp>
      <p:sp>
        <p:nvSpPr>
          <p:cNvPr id="36" name="Text 34"/>
          <p:cNvSpPr txBox="1"/>
          <p:nvPr/>
        </p:nvSpPr>
        <p:spPr>
          <a:xfrm>
            <a:off x="10195560" y="4672584"/>
            <a:ext cx="100584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sp>
        <p:nvSpPr>
          <p:cNvPr id="37" name="Shape 35"/>
          <p:cNvSpPr/>
          <p:nvPr/>
        </p:nvSpPr>
        <p:spPr>
          <a:xfrm>
            <a:off x="640080" y="5285232"/>
            <a:ext cx="10908792" cy="731520"/>
          </a:xfrm>
          <a:prstGeom prst="roundRect">
            <a:avLst>
              <a:gd name="adj" fmla="val 7500"/>
            </a:avLst>
          </a:prstGeom>
          <a:solidFill>
            <a:srgbClr val="FFFFFF"/>
          </a:solidFill>
          <a:ln w="9525">
            <a:solidFill>
              <a:srgbClr val="D6E0E2"/>
            </a:solidFill>
            <a:prstDash val="solid"/>
          </a:ln>
        </p:spPr>
      </p:sp>
      <p:sp>
        <p:nvSpPr>
          <p:cNvPr id="38" name="Text 36"/>
          <p:cNvSpPr txBox="1"/>
          <p:nvPr/>
        </p:nvSpPr>
        <p:spPr>
          <a:xfrm>
            <a:off x="822960" y="5504688"/>
            <a:ext cx="731520" cy="274320"/>
          </a:xfrm>
          <a:prstGeom prst="rect">
            <a:avLst/>
          </a:prstGeom>
          <a:noFill/>
          <a:ln/>
        </p:spPr>
        <p:txBody>
          <a:bodyPr wrap="square" lIns="0" tIns="0" rIns="0" bIns="0" rtlCol="0" anchor="ctr"/>
          <a:lstStyle/>
          <a:p>
            <a:pPr indent="0" marL="0">
              <a:buNone/>
            </a:pPr>
            <a:r>
              <a:rPr lang="en-US" sz="1300" b="1" dirty="0">
                <a:solidFill>
                  <a:srgbClr val="064E57"/>
                </a:solidFill>
                <a:latin typeface="Calibri" pitchFamily="34" charset="0"/>
                <a:ea typeface="Calibri" pitchFamily="34" charset="-122"/>
                <a:cs typeface="Calibri" pitchFamily="34" charset="-120"/>
              </a:rPr>
              <a:t>R-05</a:t>
            </a:r>
            <a:endParaRPr lang="en-US" sz="1300" dirty="0"/>
          </a:p>
        </p:txBody>
      </p:sp>
      <p:sp>
        <p:nvSpPr>
          <p:cNvPr id="39" name="Text 37"/>
          <p:cNvSpPr txBox="1"/>
          <p:nvPr/>
        </p:nvSpPr>
        <p:spPr>
          <a:xfrm>
            <a:off x="1600200" y="5468112"/>
            <a:ext cx="6126480" cy="457200"/>
          </a:xfrm>
          <a:prstGeom prst="rect">
            <a:avLst/>
          </a:prstGeom>
          <a:noFill/>
          <a:ln/>
        </p:spPr>
        <p:txBody>
          <a:bodyPr wrap="square" lIns="0" tIns="0" rIns="0" bIns="0" rtlCol="0" anchor="ctr"/>
          <a:lstStyle/>
          <a:p>
            <a:pPr indent="0" marL="0">
              <a:lnSpc>
                <a:spcPts val="1700"/>
              </a:lnSpc>
              <a:buNone/>
            </a:pPr>
            <a:r>
              <a:rPr lang="en-US" sz="1300" dirty="0">
                <a:solidFill>
                  <a:srgbClr val="16262E"/>
                </a:solidFill>
                <a:latin typeface="Calibri" pitchFamily="34" charset="0"/>
                <a:ea typeface="Calibri" pitchFamily="34" charset="-122"/>
                <a:cs typeface="Calibri" pitchFamily="34" charset="-120"/>
              </a:rPr>
              <a:t>No PII inventory - we cannot show a customer or regulator where health data goes</a:t>
            </a:r>
            <a:endParaRPr lang="en-US" sz="1300" dirty="0"/>
          </a:p>
        </p:txBody>
      </p:sp>
      <p:sp>
        <p:nvSpPr>
          <p:cNvPr id="40" name="Text 38"/>
          <p:cNvSpPr txBox="1"/>
          <p:nvPr/>
        </p:nvSpPr>
        <p:spPr>
          <a:xfrm>
            <a:off x="7863840" y="5504688"/>
            <a:ext cx="15544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PT, RA, SR</a:t>
            </a:r>
            <a:endParaRPr lang="en-US" sz="1200" dirty="0"/>
          </a:p>
        </p:txBody>
      </p:sp>
      <p:sp>
        <p:nvSpPr>
          <p:cNvPr id="41" name="Text 39"/>
          <p:cNvSpPr txBox="1"/>
          <p:nvPr/>
        </p:nvSpPr>
        <p:spPr>
          <a:xfrm>
            <a:off x="9418320" y="5504688"/>
            <a:ext cx="9144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4 x 4</a:t>
            </a:r>
            <a:endParaRPr lang="en-US" sz="1200" dirty="0"/>
          </a:p>
        </p:txBody>
      </p:sp>
      <p:sp>
        <p:nvSpPr>
          <p:cNvPr id="42" name="Shape 40"/>
          <p:cNvSpPr/>
          <p:nvPr/>
        </p:nvSpPr>
        <p:spPr>
          <a:xfrm>
            <a:off x="10195560" y="5458968"/>
            <a:ext cx="1005840" cy="384048"/>
          </a:xfrm>
          <a:prstGeom prst="roundRect">
            <a:avLst>
              <a:gd name="adj" fmla="val 11905"/>
            </a:avLst>
          </a:prstGeom>
          <a:solidFill>
            <a:srgbClr val="9E2B25"/>
          </a:solidFill>
          <a:ln/>
        </p:spPr>
      </p:sp>
      <p:sp>
        <p:nvSpPr>
          <p:cNvPr id="43" name="Text 41"/>
          <p:cNvSpPr txBox="1"/>
          <p:nvPr/>
        </p:nvSpPr>
        <p:spPr>
          <a:xfrm>
            <a:off x="10195560" y="5513832"/>
            <a:ext cx="100584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Access Control and Identification &amp; Authentication</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The two families carrying our two highest risks - and the cheapest to fix.</a:t>
            </a:r>
            <a:endParaRPr lang="en-US" sz="1400" dirty="0"/>
          </a:p>
        </p:txBody>
      </p:sp>
      <p:sp>
        <p:nvSpPr>
          <p:cNvPr id="4" name="Shape 2"/>
          <p:cNvSpPr/>
          <p:nvPr/>
        </p:nvSpPr>
        <p:spPr>
          <a:xfrm>
            <a:off x="640080" y="1554480"/>
            <a:ext cx="5303520" cy="4206240"/>
          </a:xfrm>
          <a:prstGeom prst="roundRect">
            <a:avLst>
              <a:gd name="adj" fmla="val 1304"/>
            </a:avLst>
          </a:prstGeom>
          <a:solidFill>
            <a:srgbClr val="EFF4F5"/>
          </a:solidFill>
          <a:ln w="9525">
            <a:solidFill>
              <a:srgbClr val="D6E0E2"/>
            </a:solidFill>
            <a:prstDash val="solid"/>
          </a:ln>
        </p:spPr>
      </p:sp>
      <p:sp>
        <p:nvSpPr>
          <p:cNvPr id="5" name="Shape 3"/>
          <p:cNvSpPr/>
          <p:nvPr/>
        </p:nvSpPr>
        <p:spPr>
          <a:xfrm>
            <a:off x="6446520" y="1554480"/>
            <a:ext cx="5102352" cy="4206240"/>
          </a:xfrm>
          <a:prstGeom prst="roundRect">
            <a:avLst>
              <a:gd name="adj" fmla="val 1304"/>
            </a:avLst>
          </a:prstGeom>
          <a:solidFill>
            <a:srgbClr val="EFF4F5"/>
          </a:solidFill>
          <a:ln w="9525">
            <a:solidFill>
              <a:srgbClr val="D6E0E2"/>
            </a:solidFill>
            <a:prstDash val="solid"/>
          </a:ln>
        </p:spPr>
      </p:sp>
      <p:sp>
        <p:nvSpPr>
          <p:cNvPr id="6" name="Text 4"/>
          <p:cNvSpPr txBox="1"/>
          <p:nvPr/>
        </p:nvSpPr>
        <p:spPr>
          <a:xfrm>
            <a:off x="960120" y="1783080"/>
            <a:ext cx="4663440" cy="320040"/>
          </a:xfrm>
          <a:prstGeom prst="rect">
            <a:avLst/>
          </a:prstGeom>
          <a:noFill/>
          <a:ln/>
        </p:spPr>
        <p:txBody>
          <a:bodyPr wrap="square" lIns="0" tIns="0" rIns="0" bIns="0" rtlCol="0" anchor="ctr"/>
          <a:lstStyle/>
          <a:p>
            <a:pPr indent="0" marL="0">
              <a:buNone/>
            </a:pPr>
            <a:r>
              <a:rPr lang="en-US" sz="1900" b="1" dirty="0">
                <a:solidFill>
                  <a:srgbClr val="064E57"/>
                </a:solidFill>
                <a:latin typeface="Cambria" pitchFamily="34" charset="0"/>
                <a:ea typeface="Cambria" pitchFamily="34" charset="-122"/>
                <a:cs typeface="Cambria" pitchFamily="34" charset="-120"/>
              </a:rPr>
              <a:t>What we found</a:t>
            </a:r>
            <a:endParaRPr lang="en-US" sz="1900" dirty="0"/>
          </a:p>
        </p:txBody>
      </p:sp>
      <p:sp>
        <p:nvSpPr>
          <p:cNvPr id="7" name="Text 5"/>
          <p:cNvSpPr txBox="1"/>
          <p:nvPr/>
        </p:nvSpPr>
        <p:spPr>
          <a:xfrm>
            <a:off x="960120" y="2121408"/>
            <a:ext cx="4663440" cy="365760"/>
          </a:xfrm>
          <a:prstGeom prst="rect">
            <a:avLst/>
          </a:prstGeom>
          <a:noFill/>
          <a:ln/>
        </p:spPr>
        <p:txBody>
          <a:bodyPr wrap="square" lIns="0" tIns="0" rIns="0" bIns="0" rtlCol="0" anchor="ctr"/>
          <a:lstStyle/>
          <a:p>
            <a:pPr indent="0" marL="0">
              <a:buNone/>
            </a:pPr>
            <a:r>
              <a:rPr lang="en-US" sz="1200" i="1" dirty="0">
                <a:solidFill>
                  <a:srgbClr val="5C6B73"/>
                </a:solidFill>
                <a:latin typeface="Calibri" pitchFamily="34" charset="0"/>
                <a:ea typeface="Calibri" pitchFamily="34" charset="-122"/>
                <a:cs typeface="Calibri" pitchFamily="34" charset="-120"/>
              </a:rPr>
              <a:t>AC-2, AC-6, IA-2, IA-5 assessed</a:t>
            </a:r>
            <a:endParaRPr lang="en-US" sz="1200" dirty="0"/>
          </a:p>
        </p:txBody>
      </p:sp>
      <p:sp>
        <p:nvSpPr>
          <p:cNvPr id="8" name="Text 6"/>
          <p:cNvSpPr txBox="1"/>
          <p:nvPr/>
        </p:nvSpPr>
        <p:spPr>
          <a:xfrm>
            <a:off x="960120" y="2542032"/>
            <a:ext cx="4663440" cy="30175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AC-2 partial: two former contractors still active; no evidence any quarterly review ever happened</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AC-6 partial: local administrator rights vary laptop to laptop, granted informally</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IA-2 partial: MFA enforced for admins, optional in practice for remote staff</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IA-5 partial: password rules exist in policy but are not enforced in the tenant</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No joiner-mover-leaver workflow - HR tells IT by email, sometimes late</a:t>
            </a:r>
            <a:endParaRPr lang="en-US" sz="1300" dirty="0"/>
          </a:p>
        </p:txBody>
      </p:sp>
      <p:sp>
        <p:nvSpPr>
          <p:cNvPr id="9" name="Text 7"/>
          <p:cNvSpPr txBox="1"/>
          <p:nvPr/>
        </p:nvSpPr>
        <p:spPr>
          <a:xfrm>
            <a:off x="6766560" y="1783080"/>
            <a:ext cx="4480560" cy="320040"/>
          </a:xfrm>
          <a:prstGeom prst="rect">
            <a:avLst/>
          </a:prstGeom>
          <a:noFill/>
          <a:ln/>
        </p:spPr>
        <p:txBody>
          <a:bodyPr wrap="square" lIns="0" tIns="0" rIns="0" bIns="0" rtlCol="0" anchor="ctr"/>
          <a:lstStyle/>
          <a:p>
            <a:pPr indent="0" marL="0">
              <a:buNone/>
            </a:pPr>
            <a:r>
              <a:rPr lang="en-US" sz="1900" b="1" dirty="0">
                <a:solidFill>
                  <a:srgbClr val="064E57"/>
                </a:solidFill>
                <a:latin typeface="Cambria" pitchFamily="34" charset="0"/>
                <a:ea typeface="Cambria" pitchFamily="34" charset="-122"/>
                <a:cs typeface="Cambria" pitchFamily="34" charset="-120"/>
              </a:rPr>
              <a:t>What we are doing about it</a:t>
            </a:r>
            <a:endParaRPr lang="en-US" sz="1900" dirty="0"/>
          </a:p>
        </p:txBody>
      </p:sp>
      <p:sp>
        <p:nvSpPr>
          <p:cNvPr id="10" name="Text 8"/>
          <p:cNvSpPr txBox="1"/>
          <p:nvPr/>
        </p:nvSpPr>
        <p:spPr>
          <a:xfrm>
            <a:off x="6766560" y="2121408"/>
            <a:ext cx="4480560" cy="365760"/>
          </a:xfrm>
          <a:prstGeom prst="rect">
            <a:avLst/>
          </a:prstGeom>
          <a:noFill/>
          <a:ln/>
        </p:spPr>
        <p:txBody>
          <a:bodyPr wrap="square" lIns="0" tIns="0" rIns="0" bIns="0" rtlCol="0" anchor="ctr"/>
          <a:lstStyle/>
          <a:p>
            <a:pPr indent="0" marL="0">
              <a:buNone/>
            </a:pPr>
            <a:r>
              <a:rPr lang="en-US" sz="1200" i="1" dirty="0">
                <a:solidFill>
                  <a:srgbClr val="5C6B73"/>
                </a:solidFill>
                <a:latin typeface="Calibri" pitchFamily="34" charset="0"/>
                <a:ea typeface="Calibri" pitchFamily="34" charset="-122"/>
                <a:cs typeface="Calibri" pitchFamily="34" charset="-120"/>
              </a:rPr>
              <a:t>Owner: IT Manager, with HR</a:t>
            </a:r>
            <a:endParaRPr lang="en-US" sz="1200" dirty="0"/>
          </a:p>
        </p:txBody>
      </p:sp>
      <p:sp>
        <p:nvSpPr>
          <p:cNvPr id="11" name="Text 9"/>
          <p:cNvSpPr txBox="1"/>
          <p:nvPr/>
        </p:nvSpPr>
        <p:spPr>
          <a:xfrm>
            <a:off x="6766560" y="2542032"/>
            <a:ext cx="4480560" cy="30175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Disable the two dormant accounts this week and export proof</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Turn on conditional access so MFA is required for every sign-in from outside the office</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Publish a role-based access matrix: role vs system vs privilege</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Run a documented quarterly access review, signed off by the system owner</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Agree a joiner-mover-leaver workflow with HR, with a 24-hour leaver SLA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Audit, monitoring and incident response</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We collect logs. We do not read them. And the plan for a bad day has never been rehearsed.</a:t>
            </a:r>
            <a:endParaRPr lang="en-US" sz="1400" dirty="0"/>
          </a:p>
        </p:txBody>
      </p:sp>
      <p:sp>
        <p:nvSpPr>
          <p:cNvPr id="4" name="Shape 2"/>
          <p:cNvSpPr/>
          <p:nvPr/>
        </p:nvSpPr>
        <p:spPr>
          <a:xfrm>
            <a:off x="640080" y="1554480"/>
            <a:ext cx="3456432" cy="4206240"/>
          </a:xfrm>
          <a:prstGeom prst="roundRect">
            <a:avLst>
              <a:gd name="adj" fmla="val 1587"/>
            </a:avLst>
          </a:prstGeom>
          <a:solidFill>
            <a:srgbClr val="EFF4F5"/>
          </a:solidFill>
          <a:ln w="9525">
            <a:solidFill>
              <a:srgbClr val="D6E0E2"/>
            </a:solidFill>
            <a:prstDash val="solid"/>
          </a:ln>
        </p:spPr>
      </p:sp>
      <p:sp>
        <p:nvSpPr>
          <p:cNvPr id="5" name="Text 3"/>
          <p:cNvSpPr txBox="1"/>
          <p:nvPr/>
        </p:nvSpPr>
        <p:spPr>
          <a:xfrm>
            <a:off x="914400" y="1783080"/>
            <a:ext cx="2926080" cy="502920"/>
          </a:xfrm>
          <a:prstGeom prst="rect">
            <a:avLst/>
          </a:prstGeom>
          <a:noFill/>
          <a:ln/>
        </p:spPr>
        <p:txBody>
          <a:bodyPr wrap="square" lIns="0" tIns="0" rIns="0" bIns="0" rtlCol="0" anchor="ctr"/>
          <a:lstStyle/>
          <a:p>
            <a:pPr indent="0" marL="0">
              <a:buNone/>
            </a:pPr>
            <a:r>
              <a:rPr lang="en-US" sz="1650" b="1" dirty="0">
                <a:solidFill>
                  <a:srgbClr val="064E57"/>
                </a:solidFill>
                <a:latin typeface="Cambria" pitchFamily="34" charset="0"/>
                <a:ea typeface="Cambria" pitchFamily="34" charset="-122"/>
                <a:cs typeface="Cambria" pitchFamily="34" charset="-120"/>
              </a:rPr>
              <a:t>AU - Audit &amp; Accountability</a:t>
            </a:r>
            <a:endParaRPr lang="en-US" sz="1650" dirty="0"/>
          </a:p>
        </p:txBody>
      </p:sp>
      <p:sp>
        <p:nvSpPr>
          <p:cNvPr id="6" name="Text 4"/>
          <p:cNvSpPr txBox="1"/>
          <p:nvPr/>
        </p:nvSpPr>
        <p:spPr>
          <a:xfrm>
            <a:off x="914400" y="2331720"/>
            <a:ext cx="2926080" cy="1371600"/>
          </a:xfrm>
          <a:prstGeom prst="rect">
            <a:avLst/>
          </a:prstGeom>
          <a:noFill/>
          <a:ln/>
        </p:spPr>
        <p:txBody>
          <a:bodyPr wrap="square" lIns="0" tIns="0" rIns="0" bIns="0" rtlCol="0" anchor="t"/>
          <a:lstStyle/>
          <a:p>
            <a:pPr indent="0" marL="0">
              <a:lnSpc>
                <a:spcPts val="1700"/>
              </a:lnSpc>
              <a:buNone/>
            </a:pPr>
            <a:r>
              <a:rPr lang="en-US" sz="1250" dirty="0">
                <a:solidFill>
                  <a:srgbClr val="5C6B73"/>
                </a:solidFill>
                <a:latin typeface="Calibri" pitchFamily="34" charset="0"/>
                <a:ea typeface="Calibri" pitchFamily="34" charset="-122"/>
                <a:cs typeface="Calibri" pitchFamily="34" charset="-120"/>
              </a:rPr>
              <a:t>Cloud, endpoint, firewall and app logs all retain for different periods and nobody reviews them on a schedule. We are collecting evidence we would never find in time.</a:t>
            </a:r>
            <a:endParaRPr lang="en-US" sz="1250" dirty="0"/>
          </a:p>
        </p:txBody>
      </p:sp>
      <p:sp>
        <p:nvSpPr>
          <p:cNvPr id="7" name="Text 5"/>
          <p:cNvSpPr txBox="1"/>
          <p:nvPr/>
        </p:nvSpPr>
        <p:spPr>
          <a:xfrm>
            <a:off x="914400" y="3794760"/>
            <a:ext cx="2926080" cy="18288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Log-source inventory with retention set to 12 months minimum</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Weekly review record with named reviewer</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Written escalation criteria</a:t>
            </a:r>
            <a:endParaRPr lang="en-US" sz="1250" dirty="0"/>
          </a:p>
        </p:txBody>
      </p:sp>
      <p:sp>
        <p:nvSpPr>
          <p:cNvPr id="8" name="Shape 6"/>
          <p:cNvSpPr/>
          <p:nvPr/>
        </p:nvSpPr>
        <p:spPr>
          <a:xfrm>
            <a:off x="4343400" y="1554480"/>
            <a:ext cx="3456432" cy="4206240"/>
          </a:xfrm>
          <a:prstGeom prst="roundRect">
            <a:avLst>
              <a:gd name="adj" fmla="val 1587"/>
            </a:avLst>
          </a:prstGeom>
          <a:solidFill>
            <a:srgbClr val="EFF4F5"/>
          </a:solidFill>
          <a:ln w="9525">
            <a:solidFill>
              <a:srgbClr val="D6E0E2"/>
            </a:solidFill>
            <a:prstDash val="solid"/>
          </a:ln>
        </p:spPr>
      </p:sp>
      <p:sp>
        <p:nvSpPr>
          <p:cNvPr id="9" name="Text 7"/>
          <p:cNvSpPr txBox="1"/>
          <p:nvPr/>
        </p:nvSpPr>
        <p:spPr>
          <a:xfrm>
            <a:off x="4617720" y="1783080"/>
            <a:ext cx="2926080" cy="502920"/>
          </a:xfrm>
          <a:prstGeom prst="rect">
            <a:avLst/>
          </a:prstGeom>
          <a:noFill/>
          <a:ln/>
        </p:spPr>
        <p:txBody>
          <a:bodyPr wrap="square" lIns="0" tIns="0" rIns="0" bIns="0" rtlCol="0" anchor="ctr"/>
          <a:lstStyle/>
          <a:p>
            <a:pPr indent="0" marL="0">
              <a:buNone/>
            </a:pPr>
            <a:r>
              <a:rPr lang="en-US" sz="1650" b="1" dirty="0">
                <a:solidFill>
                  <a:srgbClr val="064E57"/>
                </a:solidFill>
                <a:latin typeface="Cambria" pitchFamily="34" charset="0"/>
                <a:ea typeface="Cambria" pitchFamily="34" charset="-122"/>
                <a:cs typeface="Cambria" pitchFamily="34" charset="-120"/>
              </a:rPr>
              <a:t>CA - Assessment &amp; Monitoring</a:t>
            </a:r>
            <a:endParaRPr lang="en-US" sz="1650" dirty="0"/>
          </a:p>
        </p:txBody>
      </p:sp>
      <p:sp>
        <p:nvSpPr>
          <p:cNvPr id="10" name="Text 8"/>
          <p:cNvSpPr txBox="1"/>
          <p:nvPr/>
        </p:nvSpPr>
        <p:spPr>
          <a:xfrm>
            <a:off x="4617720" y="2331720"/>
            <a:ext cx="2926080" cy="1371600"/>
          </a:xfrm>
          <a:prstGeom prst="rect">
            <a:avLst/>
          </a:prstGeom>
          <a:noFill/>
          <a:ln/>
        </p:spPr>
        <p:txBody>
          <a:bodyPr wrap="square" lIns="0" tIns="0" rIns="0" bIns="0" rtlCol="0" anchor="t"/>
          <a:lstStyle/>
          <a:p>
            <a:pPr indent="0" marL="0">
              <a:lnSpc>
                <a:spcPts val="1700"/>
              </a:lnSpc>
              <a:buNone/>
            </a:pPr>
            <a:r>
              <a:rPr lang="en-US" sz="1250" dirty="0">
                <a:solidFill>
                  <a:srgbClr val="5C6B73"/>
                </a:solidFill>
                <a:latin typeface="Calibri" pitchFamily="34" charset="0"/>
                <a:ea typeface="Calibri" pitchFamily="34" charset="-122"/>
                <a:cs typeface="Calibri" pitchFamily="34" charset="-120"/>
              </a:rPr>
              <a:t>Controls have never been assessed before this project, so there is no baseline to monitor drift against.</a:t>
            </a:r>
            <a:endParaRPr lang="en-US" sz="1250" dirty="0"/>
          </a:p>
        </p:txBody>
      </p:sp>
      <p:sp>
        <p:nvSpPr>
          <p:cNvPr id="11" name="Text 9"/>
          <p:cNvSpPr txBox="1"/>
          <p:nvPr/>
        </p:nvSpPr>
        <p:spPr>
          <a:xfrm>
            <a:off x="4617720" y="3794760"/>
            <a:ext cx="2926080" cy="18288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Annual control assessment plan</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Continuous monitoring schedule by family</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POA&amp;M as the single tracker</a:t>
            </a:r>
            <a:endParaRPr lang="en-US" sz="1250" dirty="0"/>
          </a:p>
        </p:txBody>
      </p:sp>
      <p:sp>
        <p:nvSpPr>
          <p:cNvPr id="12" name="Shape 10"/>
          <p:cNvSpPr/>
          <p:nvPr/>
        </p:nvSpPr>
        <p:spPr>
          <a:xfrm>
            <a:off x="8046720" y="1554480"/>
            <a:ext cx="3456432" cy="4206240"/>
          </a:xfrm>
          <a:prstGeom prst="roundRect">
            <a:avLst>
              <a:gd name="adj" fmla="val 1587"/>
            </a:avLst>
          </a:prstGeom>
          <a:solidFill>
            <a:srgbClr val="EFF4F5"/>
          </a:solidFill>
          <a:ln w="9525">
            <a:solidFill>
              <a:srgbClr val="D6E0E2"/>
            </a:solidFill>
            <a:prstDash val="solid"/>
          </a:ln>
        </p:spPr>
      </p:sp>
      <p:sp>
        <p:nvSpPr>
          <p:cNvPr id="13" name="Text 11"/>
          <p:cNvSpPr txBox="1"/>
          <p:nvPr/>
        </p:nvSpPr>
        <p:spPr>
          <a:xfrm>
            <a:off x="8321040" y="1783080"/>
            <a:ext cx="2926080" cy="502920"/>
          </a:xfrm>
          <a:prstGeom prst="rect">
            <a:avLst/>
          </a:prstGeom>
          <a:noFill/>
          <a:ln/>
        </p:spPr>
        <p:txBody>
          <a:bodyPr wrap="square" lIns="0" tIns="0" rIns="0" bIns="0" rtlCol="0" anchor="ctr"/>
          <a:lstStyle/>
          <a:p>
            <a:pPr indent="0" marL="0">
              <a:buNone/>
            </a:pPr>
            <a:r>
              <a:rPr lang="en-US" sz="1650" b="1" dirty="0">
                <a:solidFill>
                  <a:srgbClr val="064E57"/>
                </a:solidFill>
                <a:latin typeface="Cambria" pitchFamily="34" charset="0"/>
                <a:ea typeface="Cambria" pitchFamily="34" charset="-122"/>
                <a:cs typeface="Cambria" pitchFamily="34" charset="-120"/>
              </a:rPr>
              <a:t>IR - Incident Response</a:t>
            </a:r>
            <a:endParaRPr lang="en-US" sz="1650" dirty="0"/>
          </a:p>
        </p:txBody>
      </p:sp>
      <p:sp>
        <p:nvSpPr>
          <p:cNvPr id="14" name="Text 12"/>
          <p:cNvSpPr txBox="1"/>
          <p:nvPr/>
        </p:nvSpPr>
        <p:spPr>
          <a:xfrm>
            <a:off x="8321040" y="2331720"/>
            <a:ext cx="2926080" cy="1371600"/>
          </a:xfrm>
          <a:prstGeom prst="rect">
            <a:avLst/>
          </a:prstGeom>
          <a:noFill/>
          <a:ln/>
        </p:spPr>
        <p:txBody>
          <a:bodyPr wrap="square" lIns="0" tIns="0" rIns="0" bIns="0" rtlCol="0" anchor="t"/>
          <a:lstStyle/>
          <a:p>
            <a:pPr indent="0" marL="0">
              <a:lnSpc>
                <a:spcPts val="1700"/>
              </a:lnSpc>
              <a:buNone/>
            </a:pPr>
            <a:r>
              <a:rPr lang="en-US" sz="1250" dirty="0">
                <a:solidFill>
                  <a:srgbClr val="5C6B73"/>
                </a:solidFill>
                <a:latin typeface="Calibri" pitchFamily="34" charset="0"/>
                <a:ea typeface="Calibri" pitchFamily="34" charset="-122"/>
                <a:cs typeface="Calibri" pitchFamily="34" charset="-120"/>
              </a:rPr>
              <a:t>The plan is a draft. Nobody has been through it, and staff are not sure who to call first.</a:t>
            </a:r>
            <a:endParaRPr lang="en-US" sz="1250" dirty="0"/>
          </a:p>
        </p:txBody>
      </p:sp>
      <p:sp>
        <p:nvSpPr>
          <p:cNvPr id="15" name="Text 13"/>
          <p:cNvSpPr txBox="1"/>
          <p:nvPr/>
        </p:nvSpPr>
        <p:spPr>
          <a:xfrm>
            <a:off x="8321040" y="3794760"/>
            <a:ext cx="2926080" cy="18288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Severity matrix and one-page reporting form</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Ransomware and account-compromise playbooks</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One tabletop exercise inside 60 days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Configuration, system integrity and communications</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Fifty laptops, no agreed baseline, and some of them 45 days behind on patches.</a:t>
            </a:r>
            <a:endParaRPr lang="en-US" sz="1400" dirty="0"/>
          </a:p>
        </p:txBody>
      </p:sp>
      <p:sp>
        <p:nvSpPr>
          <p:cNvPr id="4" name="Shape 2"/>
          <p:cNvSpPr/>
          <p:nvPr/>
        </p:nvSpPr>
        <p:spPr>
          <a:xfrm>
            <a:off x="640080" y="1554480"/>
            <a:ext cx="3456432" cy="4206240"/>
          </a:xfrm>
          <a:prstGeom prst="roundRect">
            <a:avLst>
              <a:gd name="adj" fmla="val 1587"/>
            </a:avLst>
          </a:prstGeom>
          <a:solidFill>
            <a:srgbClr val="EFF4F5"/>
          </a:solidFill>
          <a:ln w="9525">
            <a:solidFill>
              <a:srgbClr val="D6E0E2"/>
            </a:solidFill>
            <a:prstDash val="solid"/>
          </a:ln>
        </p:spPr>
      </p:sp>
      <p:sp>
        <p:nvSpPr>
          <p:cNvPr id="5" name="Text 3"/>
          <p:cNvSpPr txBox="1"/>
          <p:nvPr/>
        </p:nvSpPr>
        <p:spPr>
          <a:xfrm>
            <a:off x="914400" y="1783080"/>
            <a:ext cx="2926080" cy="502920"/>
          </a:xfrm>
          <a:prstGeom prst="rect">
            <a:avLst/>
          </a:prstGeom>
          <a:noFill/>
          <a:ln/>
        </p:spPr>
        <p:txBody>
          <a:bodyPr wrap="square" lIns="0" tIns="0" rIns="0" bIns="0" rtlCol="0" anchor="ctr"/>
          <a:lstStyle/>
          <a:p>
            <a:pPr indent="0" marL="0">
              <a:buNone/>
            </a:pPr>
            <a:r>
              <a:rPr lang="en-US" sz="1650" b="1" dirty="0">
                <a:solidFill>
                  <a:srgbClr val="064E57"/>
                </a:solidFill>
                <a:latin typeface="Cambria" pitchFamily="34" charset="0"/>
                <a:ea typeface="Cambria" pitchFamily="34" charset="-122"/>
                <a:cs typeface="Cambria" pitchFamily="34" charset="-120"/>
              </a:rPr>
              <a:t>CM - Configuration Management</a:t>
            </a:r>
            <a:endParaRPr lang="en-US" sz="1650" dirty="0"/>
          </a:p>
        </p:txBody>
      </p:sp>
      <p:sp>
        <p:nvSpPr>
          <p:cNvPr id="6" name="Text 4"/>
          <p:cNvSpPr txBox="1"/>
          <p:nvPr/>
        </p:nvSpPr>
        <p:spPr>
          <a:xfrm>
            <a:off x="914400" y="2331720"/>
            <a:ext cx="2926080" cy="1371600"/>
          </a:xfrm>
          <a:prstGeom prst="rect">
            <a:avLst/>
          </a:prstGeom>
          <a:noFill/>
          <a:ln/>
        </p:spPr>
        <p:txBody>
          <a:bodyPr wrap="square" lIns="0" tIns="0" rIns="0" bIns="0" rtlCol="0" anchor="t"/>
          <a:lstStyle/>
          <a:p>
            <a:pPr indent="0" marL="0">
              <a:lnSpc>
                <a:spcPts val="1700"/>
              </a:lnSpc>
              <a:buNone/>
            </a:pPr>
            <a:r>
              <a:rPr lang="en-US" sz="1250" dirty="0">
                <a:solidFill>
                  <a:srgbClr val="5C6B73"/>
                </a:solidFill>
                <a:latin typeface="Calibri" pitchFamily="34" charset="0"/>
                <a:ea typeface="Calibri" pitchFamily="34" charset="-122"/>
                <a:cs typeface="Calibri" pitchFamily="34" charset="-120"/>
              </a:rPr>
              <a:t>No approved build for a MedLink laptop. Two machines bought the same week can look nothing alike.</a:t>
            </a:r>
            <a:endParaRPr lang="en-US" sz="1250" dirty="0"/>
          </a:p>
        </p:txBody>
      </p:sp>
      <p:sp>
        <p:nvSpPr>
          <p:cNvPr id="7" name="Text 5"/>
          <p:cNvSpPr txBox="1"/>
          <p:nvPr/>
        </p:nvSpPr>
        <p:spPr>
          <a:xfrm>
            <a:off x="914400" y="3794760"/>
            <a:ext cx="2926080" cy="18288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One documented baseline: disk encryption, firewall on, screen lock, no standing local admin</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Authorised software list</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Change request and approval template</a:t>
            </a:r>
            <a:endParaRPr lang="en-US" sz="1250" dirty="0"/>
          </a:p>
        </p:txBody>
      </p:sp>
      <p:sp>
        <p:nvSpPr>
          <p:cNvPr id="8" name="Shape 6"/>
          <p:cNvSpPr/>
          <p:nvPr/>
        </p:nvSpPr>
        <p:spPr>
          <a:xfrm>
            <a:off x="4343400" y="1554480"/>
            <a:ext cx="3456432" cy="4206240"/>
          </a:xfrm>
          <a:prstGeom prst="roundRect">
            <a:avLst>
              <a:gd name="adj" fmla="val 1587"/>
            </a:avLst>
          </a:prstGeom>
          <a:solidFill>
            <a:srgbClr val="EFF4F5"/>
          </a:solidFill>
          <a:ln w="9525">
            <a:solidFill>
              <a:srgbClr val="D6E0E2"/>
            </a:solidFill>
            <a:prstDash val="solid"/>
          </a:ln>
        </p:spPr>
      </p:sp>
      <p:sp>
        <p:nvSpPr>
          <p:cNvPr id="9" name="Text 7"/>
          <p:cNvSpPr txBox="1"/>
          <p:nvPr/>
        </p:nvSpPr>
        <p:spPr>
          <a:xfrm>
            <a:off x="4617720" y="1783080"/>
            <a:ext cx="2926080" cy="502920"/>
          </a:xfrm>
          <a:prstGeom prst="rect">
            <a:avLst/>
          </a:prstGeom>
          <a:noFill/>
          <a:ln/>
        </p:spPr>
        <p:txBody>
          <a:bodyPr wrap="square" lIns="0" tIns="0" rIns="0" bIns="0" rtlCol="0" anchor="ctr"/>
          <a:lstStyle/>
          <a:p>
            <a:pPr indent="0" marL="0">
              <a:buNone/>
            </a:pPr>
            <a:r>
              <a:rPr lang="en-US" sz="1650" b="1" dirty="0">
                <a:solidFill>
                  <a:srgbClr val="064E57"/>
                </a:solidFill>
                <a:latin typeface="Cambria" pitchFamily="34" charset="0"/>
                <a:ea typeface="Cambria" pitchFamily="34" charset="-122"/>
                <a:cs typeface="Cambria" pitchFamily="34" charset="-120"/>
              </a:rPr>
              <a:t>SI - System &amp; Information Integrity</a:t>
            </a:r>
            <a:endParaRPr lang="en-US" sz="1650" dirty="0"/>
          </a:p>
        </p:txBody>
      </p:sp>
      <p:sp>
        <p:nvSpPr>
          <p:cNvPr id="10" name="Text 8"/>
          <p:cNvSpPr txBox="1"/>
          <p:nvPr/>
        </p:nvSpPr>
        <p:spPr>
          <a:xfrm>
            <a:off x="4617720" y="2331720"/>
            <a:ext cx="2926080" cy="1371600"/>
          </a:xfrm>
          <a:prstGeom prst="rect">
            <a:avLst/>
          </a:prstGeom>
          <a:noFill/>
          <a:ln/>
        </p:spPr>
        <p:txBody>
          <a:bodyPr wrap="square" lIns="0" tIns="0" rIns="0" bIns="0" rtlCol="0" anchor="t"/>
          <a:lstStyle/>
          <a:p>
            <a:pPr indent="0" marL="0">
              <a:lnSpc>
                <a:spcPts val="1700"/>
              </a:lnSpc>
              <a:buNone/>
            </a:pPr>
            <a:r>
              <a:rPr lang="en-US" sz="1250" dirty="0">
                <a:solidFill>
                  <a:srgbClr val="5C6B73"/>
                </a:solidFill>
                <a:latin typeface="Calibri" pitchFamily="34" charset="0"/>
                <a:ea typeface="Calibri" pitchFamily="34" charset="-122"/>
                <a:cs typeface="Calibri" pitchFamily="34" charset="-120"/>
              </a:rPr>
              <a:t>Patching happens when someone remembers. Several endpoints are over 45 days behind.</a:t>
            </a:r>
            <a:endParaRPr lang="en-US" sz="1250" dirty="0"/>
          </a:p>
        </p:txBody>
      </p:sp>
      <p:sp>
        <p:nvSpPr>
          <p:cNvPr id="11" name="Text 9"/>
          <p:cNvSpPr txBox="1"/>
          <p:nvPr/>
        </p:nvSpPr>
        <p:spPr>
          <a:xfrm>
            <a:off x="4617720" y="3794760"/>
            <a:ext cx="2926080" cy="18288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Patch SLA: critical 7 days, high 14, medium 30</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Endpoint protection on 100% of devices, verified monthly</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Monthly patch and vulnerability status report</a:t>
            </a:r>
            <a:endParaRPr lang="en-US" sz="1250" dirty="0"/>
          </a:p>
        </p:txBody>
      </p:sp>
      <p:sp>
        <p:nvSpPr>
          <p:cNvPr id="12" name="Shape 10"/>
          <p:cNvSpPr/>
          <p:nvPr/>
        </p:nvSpPr>
        <p:spPr>
          <a:xfrm>
            <a:off x="8046720" y="1554480"/>
            <a:ext cx="3456432" cy="4206240"/>
          </a:xfrm>
          <a:prstGeom prst="roundRect">
            <a:avLst>
              <a:gd name="adj" fmla="val 1587"/>
            </a:avLst>
          </a:prstGeom>
          <a:solidFill>
            <a:srgbClr val="EFF4F5"/>
          </a:solidFill>
          <a:ln w="9525">
            <a:solidFill>
              <a:srgbClr val="D6E0E2"/>
            </a:solidFill>
            <a:prstDash val="solid"/>
          </a:ln>
        </p:spPr>
      </p:sp>
      <p:sp>
        <p:nvSpPr>
          <p:cNvPr id="13" name="Text 11"/>
          <p:cNvSpPr txBox="1"/>
          <p:nvPr/>
        </p:nvSpPr>
        <p:spPr>
          <a:xfrm>
            <a:off x="8321040" y="1783080"/>
            <a:ext cx="2926080" cy="502920"/>
          </a:xfrm>
          <a:prstGeom prst="rect">
            <a:avLst/>
          </a:prstGeom>
          <a:noFill/>
          <a:ln/>
        </p:spPr>
        <p:txBody>
          <a:bodyPr wrap="square" lIns="0" tIns="0" rIns="0" bIns="0" rtlCol="0" anchor="ctr"/>
          <a:lstStyle/>
          <a:p>
            <a:pPr indent="0" marL="0">
              <a:buNone/>
            </a:pPr>
            <a:r>
              <a:rPr lang="en-US" sz="1650" b="1" dirty="0">
                <a:solidFill>
                  <a:srgbClr val="064E57"/>
                </a:solidFill>
                <a:latin typeface="Cambria" pitchFamily="34" charset="0"/>
                <a:ea typeface="Cambria" pitchFamily="34" charset="-122"/>
                <a:cs typeface="Cambria" pitchFamily="34" charset="-120"/>
              </a:rPr>
              <a:t>SC - System &amp; Communications Protection</a:t>
            </a:r>
            <a:endParaRPr lang="en-US" sz="1650" dirty="0"/>
          </a:p>
        </p:txBody>
      </p:sp>
      <p:sp>
        <p:nvSpPr>
          <p:cNvPr id="14" name="Text 12"/>
          <p:cNvSpPr txBox="1"/>
          <p:nvPr/>
        </p:nvSpPr>
        <p:spPr>
          <a:xfrm>
            <a:off x="8321040" y="2331720"/>
            <a:ext cx="2926080" cy="1371600"/>
          </a:xfrm>
          <a:prstGeom prst="rect">
            <a:avLst/>
          </a:prstGeom>
          <a:noFill/>
          <a:ln/>
        </p:spPr>
        <p:txBody>
          <a:bodyPr wrap="square" lIns="0" tIns="0" rIns="0" bIns="0" rtlCol="0" anchor="t"/>
          <a:lstStyle/>
          <a:p>
            <a:pPr indent="0" marL="0">
              <a:lnSpc>
                <a:spcPts val="1700"/>
              </a:lnSpc>
              <a:buNone/>
            </a:pPr>
            <a:r>
              <a:rPr lang="en-US" sz="1250" dirty="0">
                <a:solidFill>
                  <a:srgbClr val="5C6B73"/>
                </a:solidFill>
                <a:latin typeface="Calibri" pitchFamily="34" charset="0"/>
                <a:ea typeface="Calibri" pitchFamily="34" charset="-122"/>
                <a:cs typeface="Calibri" pitchFamily="34" charset="-120"/>
              </a:rPr>
              <a:t>The strongest of the three. TLS is in use and the firewall is in place, but the rules have never been reviewed and the flat network means one laptop can reach the file server directly.</a:t>
            </a:r>
            <a:endParaRPr lang="en-US" sz="1250" dirty="0"/>
          </a:p>
        </p:txBody>
      </p:sp>
      <p:sp>
        <p:nvSpPr>
          <p:cNvPr id="15" name="Text 13"/>
          <p:cNvSpPr txBox="1"/>
          <p:nvPr/>
        </p:nvSpPr>
        <p:spPr>
          <a:xfrm>
            <a:off x="8321040" y="3794760"/>
            <a:ext cx="2926080" cy="18288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Quarterly firewall rule review</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Segment the server VLAN from user devices</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Remote access only through managed devices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Contingency planning and recovery</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Backups run every night. We have no evidence that any of them can be restored.</a:t>
            </a:r>
            <a:endParaRPr lang="en-US" sz="1400" dirty="0"/>
          </a:p>
        </p:txBody>
      </p:sp>
      <p:sp>
        <p:nvSpPr>
          <p:cNvPr id="4" name="Shape 2"/>
          <p:cNvSpPr/>
          <p:nvPr/>
        </p:nvSpPr>
        <p:spPr>
          <a:xfrm>
            <a:off x="640080" y="1600200"/>
            <a:ext cx="5760720" cy="4114800"/>
          </a:xfrm>
          <a:prstGeom prst="roundRect">
            <a:avLst>
              <a:gd name="adj" fmla="val 1333"/>
            </a:avLst>
          </a:prstGeom>
          <a:solidFill>
            <a:srgbClr val="EFF4F5"/>
          </a:solidFill>
          <a:ln w="9525">
            <a:solidFill>
              <a:srgbClr val="D6E0E2"/>
            </a:solidFill>
            <a:prstDash val="solid"/>
          </a:ln>
        </p:spPr>
      </p:sp>
      <p:sp>
        <p:nvSpPr>
          <p:cNvPr id="5" name="Text 3"/>
          <p:cNvSpPr txBox="1"/>
          <p:nvPr/>
        </p:nvSpPr>
        <p:spPr>
          <a:xfrm>
            <a:off x="960120" y="1828800"/>
            <a:ext cx="5120640" cy="320040"/>
          </a:xfrm>
          <a:prstGeom prst="rect">
            <a:avLst/>
          </a:prstGeom>
          <a:noFill/>
          <a:ln/>
        </p:spPr>
        <p:txBody>
          <a:bodyPr wrap="square" lIns="0" tIns="0" rIns="0" bIns="0" rtlCol="0" anchor="ctr"/>
          <a:lstStyle/>
          <a:p>
            <a:pPr indent="0" marL="0">
              <a:buNone/>
            </a:pPr>
            <a:r>
              <a:rPr lang="en-US" sz="1900" b="1" dirty="0">
                <a:solidFill>
                  <a:srgbClr val="064E57"/>
                </a:solidFill>
                <a:latin typeface="Cambria" pitchFamily="34" charset="0"/>
                <a:ea typeface="Cambria" pitchFamily="34" charset="-122"/>
                <a:cs typeface="Cambria" pitchFamily="34" charset="-120"/>
              </a:rPr>
              <a:t>Recovery targets we are proposing</a:t>
            </a:r>
            <a:endParaRPr lang="en-US" sz="1900" dirty="0"/>
          </a:p>
        </p:txBody>
      </p:sp>
      <p:sp>
        <p:nvSpPr>
          <p:cNvPr id="6" name="Text 4"/>
          <p:cNvSpPr txBox="1"/>
          <p:nvPr/>
        </p:nvSpPr>
        <p:spPr>
          <a:xfrm>
            <a:off x="960120" y="2331720"/>
            <a:ext cx="3108960" cy="274320"/>
          </a:xfrm>
          <a:prstGeom prst="rect">
            <a:avLst/>
          </a:prstGeom>
          <a:noFill/>
          <a:ln/>
        </p:spPr>
        <p:txBody>
          <a:bodyPr wrap="square" lIns="0" tIns="0" rIns="0" bIns="0" rtlCol="0" anchor="ctr"/>
          <a:lstStyle/>
          <a:p>
            <a:pPr indent="0" marL="0">
              <a:buNone/>
            </a:pPr>
            <a:r>
              <a:rPr lang="en-US" sz="1350" b="1" dirty="0">
                <a:solidFill>
                  <a:srgbClr val="16262E"/>
                </a:solidFill>
                <a:latin typeface="Calibri" pitchFamily="34" charset="0"/>
                <a:ea typeface="Calibri" pitchFamily="34" charset="-122"/>
                <a:cs typeface="Calibri" pitchFamily="34" charset="-120"/>
              </a:rPr>
              <a:t>Microsoft 365 (mail, files)</a:t>
            </a:r>
            <a:endParaRPr lang="en-US" sz="1350" dirty="0"/>
          </a:p>
        </p:txBody>
      </p:sp>
      <p:sp>
        <p:nvSpPr>
          <p:cNvPr id="7" name="Text 5"/>
          <p:cNvSpPr txBox="1"/>
          <p:nvPr/>
        </p:nvSpPr>
        <p:spPr>
          <a:xfrm>
            <a:off x="960120" y="2587752"/>
            <a:ext cx="310896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RTO 4h   ·   RPO 1h</a:t>
            </a:r>
            <a:endParaRPr lang="en-US" sz="1200" dirty="0"/>
          </a:p>
        </p:txBody>
      </p:sp>
      <p:sp>
        <p:nvSpPr>
          <p:cNvPr id="8" name="Shape 6"/>
          <p:cNvSpPr/>
          <p:nvPr/>
        </p:nvSpPr>
        <p:spPr>
          <a:xfrm>
            <a:off x="960120" y="2953512"/>
            <a:ext cx="5120640" cy="0"/>
          </a:xfrm>
          <a:prstGeom prst="line">
            <a:avLst/>
          </a:prstGeom>
          <a:noFill/>
          <a:ln w="9525">
            <a:solidFill>
              <a:srgbClr val="D6E0E2"/>
            </a:solidFill>
            <a:prstDash val="solid"/>
          </a:ln>
        </p:spPr>
      </p:sp>
      <p:sp>
        <p:nvSpPr>
          <p:cNvPr id="9" name="Text 7"/>
          <p:cNvSpPr txBox="1"/>
          <p:nvPr/>
        </p:nvSpPr>
        <p:spPr>
          <a:xfrm>
            <a:off x="960120" y="3108960"/>
            <a:ext cx="3108960" cy="274320"/>
          </a:xfrm>
          <a:prstGeom prst="rect">
            <a:avLst/>
          </a:prstGeom>
          <a:noFill/>
          <a:ln/>
        </p:spPr>
        <p:txBody>
          <a:bodyPr wrap="square" lIns="0" tIns="0" rIns="0" bIns="0" rtlCol="0" anchor="ctr"/>
          <a:lstStyle/>
          <a:p>
            <a:pPr indent="0" marL="0">
              <a:buNone/>
            </a:pPr>
            <a:r>
              <a:rPr lang="en-US" sz="1350" b="1" dirty="0">
                <a:solidFill>
                  <a:srgbClr val="16262E"/>
                </a:solidFill>
                <a:latin typeface="Calibri" pitchFamily="34" charset="0"/>
                <a:ea typeface="Calibri" pitchFamily="34" charset="-122"/>
                <a:cs typeface="Calibri" pitchFamily="34" charset="-120"/>
              </a:rPr>
              <a:t>Customer portal</a:t>
            </a:r>
            <a:endParaRPr lang="en-US" sz="1350" dirty="0"/>
          </a:p>
        </p:txBody>
      </p:sp>
      <p:sp>
        <p:nvSpPr>
          <p:cNvPr id="10" name="Text 8"/>
          <p:cNvSpPr txBox="1"/>
          <p:nvPr/>
        </p:nvSpPr>
        <p:spPr>
          <a:xfrm>
            <a:off x="960120" y="3364992"/>
            <a:ext cx="310896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RTO 8h   ·   RPO 4h</a:t>
            </a:r>
            <a:endParaRPr lang="en-US" sz="1200" dirty="0"/>
          </a:p>
        </p:txBody>
      </p:sp>
      <p:sp>
        <p:nvSpPr>
          <p:cNvPr id="11" name="Shape 9"/>
          <p:cNvSpPr/>
          <p:nvPr/>
        </p:nvSpPr>
        <p:spPr>
          <a:xfrm>
            <a:off x="960120" y="3730752"/>
            <a:ext cx="5120640" cy="0"/>
          </a:xfrm>
          <a:prstGeom prst="line">
            <a:avLst/>
          </a:prstGeom>
          <a:noFill/>
          <a:ln w="9525">
            <a:solidFill>
              <a:srgbClr val="D6E0E2"/>
            </a:solidFill>
            <a:prstDash val="solid"/>
          </a:ln>
        </p:spPr>
      </p:sp>
      <p:sp>
        <p:nvSpPr>
          <p:cNvPr id="12" name="Text 10"/>
          <p:cNvSpPr txBox="1"/>
          <p:nvPr/>
        </p:nvSpPr>
        <p:spPr>
          <a:xfrm>
            <a:off x="960120" y="3886200"/>
            <a:ext cx="3108960" cy="274320"/>
          </a:xfrm>
          <a:prstGeom prst="rect">
            <a:avLst/>
          </a:prstGeom>
          <a:noFill/>
          <a:ln/>
        </p:spPr>
        <p:txBody>
          <a:bodyPr wrap="square" lIns="0" tIns="0" rIns="0" bIns="0" rtlCol="0" anchor="ctr"/>
          <a:lstStyle/>
          <a:p>
            <a:pPr indent="0" marL="0">
              <a:buNone/>
            </a:pPr>
            <a:r>
              <a:rPr lang="en-US" sz="1350" b="1" dirty="0">
                <a:solidFill>
                  <a:srgbClr val="16262E"/>
                </a:solidFill>
                <a:latin typeface="Calibri" pitchFamily="34" charset="0"/>
                <a:ea typeface="Calibri" pitchFamily="34" charset="-122"/>
                <a:cs typeface="Calibri" pitchFamily="34" charset="-120"/>
              </a:rPr>
              <a:t>HR &amp; payroll app</a:t>
            </a:r>
            <a:endParaRPr lang="en-US" sz="1350" dirty="0"/>
          </a:p>
        </p:txBody>
      </p:sp>
      <p:sp>
        <p:nvSpPr>
          <p:cNvPr id="13" name="Text 11"/>
          <p:cNvSpPr txBox="1"/>
          <p:nvPr/>
        </p:nvSpPr>
        <p:spPr>
          <a:xfrm>
            <a:off x="960120" y="4142232"/>
            <a:ext cx="310896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RTO 24h   ·   RPO 24h</a:t>
            </a:r>
            <a:endParaRPr lang="en-US" sz="1200" dirty="0"/>
          </a:p>
        </p:txBody>
      </p:sp>
      <p:sp>
        <p:nvSpPr>
          <p:cNvPr id="14" name="Shape 12"/>
          <p:cNvSpPr/>
          <p:nvPr/>
        </p:nvSpPr>
        <p:spPr>
          <a:xfrm>
            <a:off x="960120" y="4507992"/>
            <a:ext cx="5120640" cy="0"/>
          </a:xfrm>
          <a:prstGeom prst="line">
            <a:avLst/>
          </a:prstGeom>
          <a:noFill/>
          <a:ln w="9525">
            <a:solidFill>
              <a:srgbClr val="D6E0E2"/>
            </a:solidFill>
            <a:prstDash val="solid"/>
          </a:ln>
        </p:spPr>
      </p:sp>
      <p:sp>
        <p:nvSpPr>
          <p:cNvPr id="15" name="Text 13"/>
          <p:cNvSpPr txBox="1"/>
          <p:nvPr/>
        </p:nvSpPr>
        <p:spPr>
          <a:xfrm>
            <a:off x="960120" y="4663440"/>
            <a:ext cx="3108960" cy="274320"/>
          </a:xfrm>
          <a:prstGeom prst="rect">
            <a:avLst/>
          </a:prstGeom>
          <a:noFill/>
          <a:ln/>
        </p:spPr>
        <p:txBody>
          <a:bodyPr wrap="square" lIns="0" tIns="0" rIns="0" bIns="0" rtlCol="0" anchor="ctr"/>
          <a:lstStyle/>
          <a:p>
            <a:pPr indent="0" marL="0">
              <a:buNone/>
            </a:pPr>
            <a:r>
              <a:rPr lang="en-US" sz="1350" b="1" dirty="0">
                <a:solidFill>
                  <a:srgbClr val="16262E"/>
                </a:solidFill>
                <a:latin typeface="Calibri" pitchFamily="34" charset="0"/>
                <a:ea typeface="Calibri" pitchFamily="34" charset="-122"/>
                <a:cs typeface="Calibri" pitchFamily="34" charset="-120"/>
              </a:rPr>
              <a:t>On-prem file server</a:t>
            </a:r>
            <a:endParaRPr lang="en-US" sz="1350" dirty="0"/>
          </a:p>
        </p:txBody>
      </p:sp>
      <p:sp>
        <p:nvSpPr>
          <p:cNvPr id="16" name="Text 14"/>
          <p:cNvSpPr txBox="1"/>
          <p:nvPr/>
        </p:nvSpPr>
        <p:spPr>
          <a:xfrm>
            <a:off x="960120" y="4919472"/>
            <a:ext cx="310896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RTO 24h   ·   RPO 24h</a:t>
            </a:r>
            <a:endParaRPr lang="en-US" sz="1200" dirty="0"/>
          </a:p>
        </p:txBody>
      </p:sp>
      <p:sp>
        <p:nvSpPr>
          <p:cNvPr id="17" name="Shape 15"/>
          <p:cNvSpPr/>
          <p:nvPr/>
        </p:nvSpPr>
        <p:spPr>
          <a:xfrm>
            <a:off x="6720840" y="1600200"/>
            <a:ext cx="4828032" cy="1920240"/>
          </a:xfrm>
          <a:prstGeom prst="roundRect">
            <a:avLst>
              <a:gd name="adj" fmla="val 2857"/>
            </a:avLst>
          </a:prstGeom>
          <a:solidFill>
            <a:srgbClr val="FDF6E6"/>
          </a:solidFill>
          <a:ln w="9525">
            <a:solidFill>
              <a:srgbClr val="D6E0E2"/>
            </a:solidFill>
            <a:prstDash val="solid"/>
          </a:ln>
        </p:spPr>
      </p:sp>
      <p:sp>
        <p:nvSpPr>
          <p:cNvPr id="18" name="Text 16"/>
          <p:cNvSpPr txBox="1"/>
          <p:nvPr/>
        </p:nvSpPr>
        <p:spPr>
          <a:xfrm>
            <a:off x="7040880" y="1828800"/>
            <a:ext cx="4206240" cy="320040"/>
          </a:xfrm>
          <a:prstGeom prst="rect">
            <a:avLst/>
          </a:prstGeom>
          <a:noFill/>
          <a:ln/>
        </p:spPr>
        <p:txBody>
          <a:bodyPr wrap="square" lIns="0" tIns="0" rIns="0" bIns="0" rtlCol="0" anchor="ctr"/>
          <a:lstStyle/>
          <a:p>
            <a:pPr indent="0" marL="0">
              <a:buNone/>
            </a:pPr>
            <a:r>
              <a:rPr lang="en-US" sz="1900" b="1" dirty="0">
                <a:solidFill>
                  <a:srgbClr val="9A6A10"/>
                </a:solidFill>
                <a:latin typeface="Cambria" pitchFamily="34" charset="0"/>
                <a:ea typeface="Cambria" pitchFamily="34" charset="-122"/>
                <a:cs typeface="Cambria" pitchFamily="34" charset="-120"/>
              </a:rPr>
              <a:t>The honest position</a:t>
            </a:r>
            <a:endParaRPr lang="en-US" sz="1900" dirty="0"/>
          </a:p>
        </p:txBody>
      </p:sp>
      <p:sp>
        <p:nvSpPr>
          <p:cNvPr id="19" name="Text 17"/>
          <p:cNvSpPr txBox="1"/>
          <p:nvPr/>
        </p:nvSpPr>
        <p:spPr>
          <a:xfrm>
            <a:off x="7040880" y="2240280"/>
            <a:ext cx="4206240" cy="1143000"/>
          </a:xfrm>
          <a:prstGeom prst="rect">
            <a:avLst/>
          </a:prstGeom>
          <a:noFill/>
          <a:ln/>
        </p:spPr>
        <p:txBody>
          <a:bodyPr wrap="square" lIns="0" tIns="0" rIns="0" bIns="0" rtlCol="0" anchor="ctr"/>
          <a:lstStyle/>
          <a:p>
            <a:pPr indent="0" marL="0">
              <a:lnSpc>
                <a:spcPts val="1900"/>
              </a:lnSpc>
              <a:buNone/>
            </a:pPr>
            <a:r>
              <a:rPr lang="en-US" sz="1300" dirty="0">
                <a:solidFill>
                  <a:srgbClr val="16262E"/>
                </a:solidFill>
                <a:latin typeface="Calibri" pitchFamily="34" charset="0"/>
                <a:ea typeface="Calibri" pitchFamily="34" charset="-122"/>
                <a:cs typeface="Calibri" pitchFamily="34" charset="-120"/>
              </a:rPr>
              <a:t>An untested backup is a hope, not a control. Until we have restored something and timed it, these targets are aspirations and I would not defend them to a customer.</a:t>
            </a:r>
            <a:endParaRPr lang="en-US" sz="1300" dirty="0"/>
          </a:p>
        </p:txBody>
      </p:sp>
      <p:sp>
        <p:nvSpPr>
          <p:cNvPr id="20" name="Shape 18"/>
          <p:cNvSpPr/>
          <p:nvPr/>
        </p:nvSpPr>
        <p:spPr>
          <a:xfrm>
            <a:off x="6720840" y="3703320"/>
            <a:ext cx="4828032" cy="2011680"/>
          </a:xfrm>
          <a:prstGeom prst="roundRect">
            <a:avLst>
              <a:gd name="adj" fmla="val 2727"/>
            </a:avLst>
          </a:prstGeom>
          <a:solidFill>
            <a:srgbClr val="EFF4F5"/>
          </a:solidFill>
          <a:ln w="9525">
            <a:solidFill>
              <a:srgbClr val="D6E0E2"/>
            </a:solidFill>
            <a:prstDash val="solid"/>
          </a:ln>
        </p:spPr>
      </p:sp>
      <p:sp>
        <p:nvSpPr>
          <p:cNvPr id="21" name="Text 19"/>
          <p:cNvSpPr txBox="1"/>
          <p:nvPr/>
        </p:nvSpPr>
        <p:spPr>
          <a:xfrm>
            <a:off x="7040880" y="3931920"/>
            <a:ext cx="4206240" cy="320040"/>
          </a:xfrm>
          <a:prstGeom prst="rect">
            <a:avLst/>
          </a:prstGeom>
          <a:noFill/>
          <a:ln/>
        </p:spPr>
        <p:txBody>
          <a:bodyPr wrap="square" lIns="0" tIns="0" rIns="0" bIns="0" rtlCol="0" anchor="ctr"/>
          <a:lstStyle/>
          <a:p>
            <a:pPr indent="0" marL="0">
              <a:buNone/>
            </a:pPr>
            <a:r>
              <a:rPr lang="en-US" sz="1900" b="1" dirty="0">
                <a:solidFill>
                  <a:srgbClr val="064E57"/>
                </a:solidFill>
                <a:latin typeface="Cambria" pitchFamily="34" charset="0"/>
                <a:ea typeface="Cambria" pitchFamily="34" charset="-122"/>
                <a:cs typeface="Cambria" pitchFamily="34" charset="-120"/>
              </a:rPr>
              <a:t>What we will do in 30 days</a:t>
            </a:r>
            <a:endParaRPr lang="en-US" sz="1900" dirty="0"/>
          </a:p>
        </p:txBody>
      </p:sp>
      <p:sp>
        <p:nvSpPr>
          <p:cNvPr id="22" name="Text 20"/>
          <p:cNvSpPr txBox="1"/>
          <p:nvPr/>
        </p:nvSpPr>
        <p:spPr>
          <a:xfrm>
            <a:off x="7040880" y="4343400"/>
            <a:ext cx="4206240" cy="128016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Restore one file server folder and one mailbox, timed and recorded</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Write up the result as evidence, including what went wrong</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Put a quarterly restore test in the calendar with an owner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PII processing and transparency</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The finding that a health-services customer will ask about first.</a:t>
            </a:r>
            <a:endParaRPr lang="en-US" sz="1400" dirty="0"/>
          </a:p>
        </p:txBody>
      </p:sp>
      <p:sp>
        <p:nvSpPr>
          <p:cNvPr id="4" name="Shape 2"/>
          <p:cNvSpPr/>
          <p:nvPr/>
        </p:nvSpPr>
        <p:spPr>
          <a:xfrm>
            <a:off x="640080" y="1600200"/>
            <a:ext cx="5394960" cy="1965960"/>
          </a:xfrm>
          <a:prstGeom prst="roundRect">
            <a:avLst>
              <a:gd name="adj" fmla="val 2791"/>
            </a:avLst>
          </a:prstGeom>
          <a:solidFill>
            <a:srgbClr val="FBEDEC"/>
          </a:solidFill>
          <a:ln w="9525">
            <a:solidFill>
              <a:srgbClr val="D6E0E2"/>
            </a:solidFill>
            <a:prstDash val="solid"/>
          </a:ln>
        </p:spPr>
      </p:sp>
      <p:sp>
        <p:nvSpPr>
          <p:cNvPr id="5" name="Text 3"/>
          <p:cNvSpPr txBox="1"/>
          <p:nvPr/>
        </p:nvSpPr>
        <p:spPr>
          <a:xfrm>
            <a:off x="960120" y="1828800"/>
            <a:ext cx="4754880" cy="320040"/>
          </a:xfrm>
          <a:prstGeom prst="rect">
            <a:avLst/>
          </a:prstGeom>
          <a:noFill/>
          <a:ln/>
        </p:spPr>
        <p:txBody>
          <a:bodyPr wrap="square" lIns="0" tIns="0" rIns="0" bIns="0" rtlCol="0" anchor="ctr"/>
          <a:lstStyle/>
          <a:p>
            <a:pPr indent="0" marL="0">
              <a:buNone/>
            </a:pPr>
            <a:r>
              <a:rPr lang="en-US" sz="1900" b="1" dirty="0">
                <a:solidFill>
                  <a:srgbClr val="9E2B25"/>
                </a:solidFill>
                <a:latin typeface="Cambria" pitchFamily="34" charset="0"/>
                <a:ea typeface="Cambria" pitchFamily="34" charset="-122"/>
                <a:cs typeface="Cambria" pitchFamily="34" charset="-120"/>
              </a:rPr>
              <a:t>Where we are</a:t>
            </a:r>
            <a:endParaRPr lang="en-US" sz="1900" dirty="0"/>
          </a:p>
        </p:txBody>
      </p:sp>
      <p:sp>
        <p:nvSpPr>
          <p:cNvPr id="6" name="Text 4"/>
          <p:cNvSpPr txBox="1"/>
          <p:nvPr/>
        </p:nvSpPr>
        <p:spPr>
          <a:xfrm>
            <a:off x="960120" y="2212848"/>
            <a:ext cx="4754880" cy="1234440"/>
          </a:xfrm>
          <a:prstGeom prst="rect">
            <a:avLst/>
          </a:prstGeom>
          <a:noFill/>
          <a:ln/>
        </p:spPr>
        <p:txBody>
          <a:bodyPr wrap="square" lIns="0" tIns="0" rIns="0" bIns="0" rtlCol="0" anchor="ctr"/>
          <a:lstStyle/>
          <a:p>
            <a:pPr indent="0" marL="0">
              <a:lnSpc>
                <a:spcPts val="1900"/>
              </a:lnSpc>
              <a:buNone/>
            </a:pPr>
            <a:r>
              <a:rPr lang="en-US" sz="1300" dirty="0">
                <a:solidFill>
                  <a:srgbClr val="16262E"/>
                </a:solidFill>
                <a:latin typeface="Calibri" pitchFamily="34" charset="0"/>
                <a:ea typeface="Calibri" pitchFamily="34" charset="-122"/>
                <a:cs typeface="Calibri" pitchFamily="34" charset="-120"/>
              </a:rPr>
              <a:t>We hold employee, customer and limited health-related data, and we cannot currently produce a document showing where it is collected, who it is shared with, or when it is deleted. That is F-10, and it is also why several other answers are guesses.</a:t>
            </a:r>
            <a:endParaRPr lang="en-US" sz="1300" dirty="0"/>
          </a:p>
        </p:txBody>
      </p:sp>
      <p:sp>
        <p:nvSpPr>
          <p:cNvPr id="7" name="Shape 5"/>
          <p:cNvSpPr/>
          <p:nvPr/>
        </p:nvSpPr>
        <p:spPr>
          <a:xfrm>
            <a:off x="640080" y="3749040"/>
            <a:ext cx="5394960" cy="2011680"/>
          </a:xfrm>
          <a:prstGeom prst="roundRect">
            <a:avLst>
              <a:gd name="adj" fmla="val 2727"/>
            </a:avLst>
          </a:prstGeom>
          <a:solidFill>
            <a:srgbClr val="EFF4F5"/>
          </a:solidFill>
          <a:ln w="9525">
            <a:solidFill>
              <a:srgbClr val="D6E0E2"/>
            </a:solidFill>
            <a:prstDash val="solid"/>
          </a:ln>
        </p:spPr>
      </p:sp>
      <p:sp>
        <p:nvSpPr>
          <p:cNvPr id="8" name="Text 6"/>
          <p:cNvSpPr txBox="1"/>
          <p:nvPr/>
        </p:nvSpPr>
        <p:spPr>
          <a:xfrm>
            <a:off x="960120" y="3977640"/>
            <a:ext cx="4754880" cy="320040"/>
          </a:xfrm>
          <a:prstGeom prst="rect">
            <a:avLst/>
          </a:prstGeom>
          <a:noFill/>
          <a:ln/>
        </p:spPr>
        <p:txBody>
          <a:bodyPr wrap="square" lIns="0" tIns="0" rIns="0" bIns="0" rtlCol="0" anchor="ctr"/>
          <a:lstStyle/>
          <a:p>
            <a:pPr indent="0" marL="0">
              <a:buNone/>
            </a:pPr>
            <a:r>
              <a:rPr lang="en-US" sz="1900" b="1" dirty="0">
                <a:solidFill>
                  <a:srgbClr val="064E57"/>
                </a:solidFill>
                <a:latin typeface="Cambria" pitchFamily="34" charset="0"/>
                <a:ea typeface="Cambria" pitchFamily="34" charset="-122"/>
                <a:cs typeface="Cambria" pitchFamily="34" charset="-120"/>
              </a:rPr>
              <a:t>Why it is a security issue too</a:t>
            </a:r>
            <a:endParaRPr lang="en-US" sz="1900" dirty="0"/>
          </a:p>
        </p:txBody>
      </p:sp>
      <p:sp>
        <p:nvSpPr>
          <p:cNvPr id="9" name="Text 7"/>
          <p:cNvSpPr txBox="1"/>
          <p:nvPr/>
        </p:nvSpPr>
        <p:spPr>
          <a:xfrm>
            <a:off x="960120" y="4370832"/>
            <a:ext cx="4754880" cy="1188720"/>
          </a:xfrm>
          <a:prstGeom prst="rect">
            <a:avLst/>
          </a:prstGeom>
          <a:noFill/>
          <a:ln/>
        </p:spPr>
        <p:txBody>
          <a:bodyPr wrap="square" lIns="0" tIns="0" rIns="0" bIns="0" rtlCol="0" anchor="ctr"/>
          <a:lstStyle/>
          <a:p>
            <a:pPr indent="0" marL="0">
              <a:lnSpc>
                <a:spcPts val="1900"/>
              </a:lnSpc>
              <a:buNone/>
            </a:pPr>
            <a:r>
              <a:rPr lang="en-US" sz="1300" dirty="0">
                <a:solidFill>
                  <a:srgbClr val="16262E"/>
                </a:solidFill>
                <a:latin typeface="Calibri" pitchFamily="34" charset="0"/>
                <a:ea typeface="Calibri" pitchFamily="34" charset="-122"/>
                <a:cs typeface="Calibri" pitchFamily="34" charset="-120"/>
              </a:rPr>
              <a:t>You cannot protect, classify, retain or delete data you have not located. Every access decision, backup scope and vendor clause downstream depends on this one inventory.</a:t>
            </a:r>
            <a:endParaRPr lang="en-US" sz="1300" dirty="0"/>
          </a:p>
        </p:txBody>
      </p:sp>
      <p:sp>
        <p:nvSpPr>
          <p:cNvPr id="10" name="Shape 8"/>
          <p:cNvSpPr/>
          <p:nvPr/>
        </p:nvSpPr>
        <p:spPr>
          <a:xfrm>
            <a:off x="6446520" y="1600200"/>
            <a:ext cx="5102352" cy="4160520"/>
          </a:xfrm>
          <a:prstGeom prst="roundRect">
            <a:avLst>
              <a:gd name="adj" fmla="val 1319"/>
            </a:avLst>
          </a:prstGeom>
          <a:solidFill>
            <a:srgbClr val="EFF4F5"/>
          </a:solidFill>
          <a:ln w="9525">
            <a:solidFill>
              <a:srgbClr val="D6E0E2"/>
            </a:solidFill>
            <a:prstDash val="solid"/>
          </a:ln>
        </p:spPr>
      </p:sp>
      <p:sp>
        <p:nvSpPr>
          <p:cNvPr id="11" name="Text 9"/>
          <p:cNvSpPr txBox="1"/>
          <p:nvPr/>
        </p:nvSpPr>
        <p:spPr>
          <a:xfrm>
            <a:off x="6766560" y="1828800"/>
            <a:ext cx="4480560" cy="320040"/>
          </a:xfrm>
          <a:prstGeom prst="rect">
            <a:avLst/>
          </a:prstGeom>
          <a:noFill/>
          <a:ln/>
        </p:spPr>
        <p:txBody>
          <a:bodyPr wrap="square" lIns="0" tIns="0" rIns="0" bIns="0" rtlCol="0" anchor="ctr"/>
          <a:lstStyle/>
          <a:p>
            <a:pPr indent="0" marL="0">
              <a:buNone/>
            </a:pPr>
            <a:r>
              <a:rPr lang="en-US" sz="1900" b="1" dirty="0">
                <a:solidFill>
                  <a:srgbClr val="064E57"/>
                </a:solidFill>
                <a:latin typeface="Cambria" pitchFamily="34" charset="0"/>
                <a:ea typeface="Cambria" pitchFamily="34" charset="-122"/>
                <a:cs typeface="Cambria" pitchFamily="34" charset="-120"/>
              </a:rPr>
              <a:t>The four deliverables</a:t>
            </a:r>
            <a:endParaRPr lang="en-US" sz="1900" dirty="0"/>
          </a:p>
        </p:txBody>
      </p:sp>
      <p:sp>
        <p:nvSpPr>
          <p:cNvPr id="12" name="Shape 10"/>
          <p:cNvSpPr/>
          <p:nvPr/>
        </p:nvSpPr>
        <p:spPr>
          <a:xfrm>
            <a:off x="6766560" y="2286000"/>
            <a:ext cx="310896" cy="310896"/>
          </a:xfrm>
          <a:prstGeom prst="ellipse">
            <a:avLst/>
          </a:prstGeom>
          <a:solidFill>
            <a:srgbClr val="0A7C86"/>
          </a:solidFill>
          <a:ln/>
        </p:spPr>
      </p:sp>
      <p:sp>
        <p:nvSpPr>
          <p:cNvPr id="13" name="Text 11"/>
          <p:cNvSpPr txBox="1"/>
          <p:nvPr/>
        </p:nvSpPr>
        <p:spPr>
          <a:xfrm>
            <a:off x="6766560" y="2313432"/>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2"/>
          <p:cNvSpPr txBox="1"/>
          <p:nvPr/>
        </p:nvSpPr>
        <p:spPr>
          <a:xfrm>
            <a:off x="7269480" y="2267712"/>
            <a:ext cx="4023360" cy="274320"/>
          </a:xfrm>
          <a:prstGeom prst="rect">
            <a:avLst/>
          </a:prstGeom>
          <a:noFill/>
          <a:ln/>
        </p:spPr>
        <p:txBody>
          <a:bodyPr wrap="square" lIns="0" tIns="0" rIns="0" bIns="0" rtlCol="0" anchor="ctr"/>
          <a:lstStyle/>
          <a:p>
            <a:pPr indent="0" marL="0">
              <a:buNone/>
            </a:pPr>
            <a:r>
              <a:rPr lang="en-US" sz="1400" b="1" dirty="0">
                <a:solidFill>
                  <a:srgbClr val="16262E"/>
                </a:solidFill>
                <a:latin typeface="Calibri" pitchFamily="34" charset="0"/>
                <a:ea typeface="Calibri" pitchFamily="34" charset="-122"/>
                <a:cs typeface="Calibri" pitchFamily="34" charset="-120"/>
              </a:rPr>
              <a:t>PII inventory and data map</a:t>
            </a:r>
            <a:endParaRPr lang="en-US" sz="1400" dirty="0"/>
          </a:p>
        </p:txBody>
      </p:sp>
      <p:sp>
        <p:nvSpPr>
          <p:cNvPr id="15" name="Text 13"/>
          <p:cNvSpPr txBox="1"/>
          <p:nvPr/>
        </p:nvSpPr>
        <p:spPr>
          <a:xfrm>
            <a:off x="7269480" y="2542032"/>
            <a:ext cx="4023360" cy="502920"/>
          </a:xfrm>
          <a:prstGeom prst="rect">
            <a:avLst/>
          </a:prstGeom>
          <a:noFill/>
          <a:ln/>
        </p:spPr>
        <p:txBody>
          <a:bodyPr wrap="square" lIns="0" tIns="0" rIns="0" bIns="0" rtlCol="0" anchor="ctr"/>
          <a:lstStyle/>
          <a:p>
            <a:pPr indent="0" marL="0">
              <a:lnSpc>
                <a:spcPts val="1600"/>
              </a:lnSpc>
              <a:buNone/>
            </a:pPr>
            <a:r>
              <a:rPr lang="en-US" sz="1200" dirty="0">
                <a:solidFill>
                  <a:srgbClr val="5C6B73"/>
                </a:solidFill>
                <a:latin typeface="Calibri" pitchFamily="34" charset="0"/>
                <a:ea typeface="Calibri" pitchFamily="34" charset="-122"/>
                <a:cs typeface="Calibri" pitchFamily="34" charset="-120"/>
              </a:rPr>
              <a:t>Every system, field group, source and recipient - including the payroll vendor.</a:t>
            </a:r>
            <a:endParaRPr lang="en-US" sz="1200" dirty="0"/>
          </a:p>
        </p:txBody>
      </p:sp>
      <p:sp>
        <p:nvSpPr>
          <p:cNvPr id="16" name="Shape 14"/>
          <p:cNvSpPr/>
          <p:nvPr/>
        </p:nvSpPr>
        <p:spPr>
          <a:xfrm>
            <a:off x="6766560" y="3145536"/>
            <a:ext cx="310896" cy="310896"/>
          </a:xfrm>
          <a:prstGeom prst="ellipse">
            <a:avLst/>
          </a:prstGeom>
          <a:solidFill>
            <a:srgbClr val="0A7C86"/>
          </a:solidFill>
          <a:ln/>
        </p:spPr>
      </p:sp>
      <p:sp>
        <p:nvSpPr>
          <p:cNvPr id="17" name="Text 15"/>
          <p:cNvSpPr txBox="1"/>
          <p:nvPr/>
        </p:nvSpPr>
        <p:spPr>
          <a:xfrm>
            <a:off x="6766560" y="3172968"/>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txBox="1"/>
          <p:nvPr/>
        </p:nvSpPr>
        <p:spPr>
          <a:xfrm>
            <a:off x="7269480" y="3127248"/>
            <a:ext cx="4023360" cy="274320"/>
          </a:xfrm>
          <a:prstGeom prst="rect">
            <a:avLst/>
          </a:prstGeom>
          <a:noFill/>
          <a:ln/>
        </p:spPr>
        <p:txBody>
          <a:bodyPr wrap="square" lIns="0" tIns="0" rIns="0" bIns="0" rtlCol="0" anchor="ctr"/>
          <a:lstStyle/>
          <a:p>
            <a:pPr indent="0" marL="0">
              <a:buNone/>
            </a:pPr>
            <a:r>
              <a:rPr lang="en-US" sz="1400" b="1" dirty="0">
                <a:solidFill>
                  <a:srgbClr val="16262E"/>
                </a:solidFill>
                <a:latin typeface="Calibri" pitchFamily="34" charset="0"/>
                <a:ea typeface="Calibri" pitchFamily="34" charset="-122"/>
                <a:cs typeface="Calibri" pitchFamily="34" charset="-120"/>
              </a:rPr>
              <a:t>Purpose statement per data set</a:t>
            </a:r>
            <a:endParaRPr lang="en-US" sz="1400" dirty="0"/>
          </a:p>
        </p:txBody>
      </p:sp>
      <p:sp>
        <p:nvSpPr>
          <p:cNvPr id="19" name="Text 17"/>
          <p:cNvSpPr txBox="1"/>
          <p:nvPr/>
        </p:nvSpPr>
        <p:spPr>
          <a:xfrm>
            <a:off x="7269480" y="3401568"/>
            <a:ext cx="4023360" cy="502920"/>
          </a:xfrm>
          <a:prstGeom prst="rect">
            <a:avLst/>
          </a:prstGeom>
          <a:noFill/>
          <a:ln/>
        </p:spPr>
        <p:txBody>
          <a:bodyPr wrap="square" lIns="0" tIns="0" rIns="0" bIns="0" rtlCol="0" anchor="ctr"/>
          <a:lstStyle/>
          <a:p>
            <a:pPr indent="0" marL="0">
              <a:lnSpc>
                <a:spcPts val="1600"/>
              </a:lnSpc>
              <a:buNone/>
            </a:pPr>
            <a:r>
              <a:rPr lang="en-US" sz="1200" dirty="0">
                <a:solidFill>
                  <a:srgbClr val="5C6B73"/>
                </a:solidFill>
                <a:latin typeface="Calibri" pitchFamily="34" charset="0"/>
                <a:ea typeface="Calibri" pitchFamily="34" charset="-122"/>
                <a:cs typeface="Calibri" pitchFamily="34" charset="-120"/>
              </a:rPr>
              <a:t>Why we need it, in one sentence a customer would accept.</a:t>
            </a:r>
            <a:endParaRPr lang="en-US" sz="1200" dirty="0"/>
          </a:p>
        </p:txBody>
      </p:sp>
      <p:sp>
        <p:nvSpPr>
          <p:cNvPr id="20" name="Shape 18"/>
          <p:cNvSpPr/>
          <p:nvPr/>
        </p:nvSpPr>
        <p:spPr>
          <a:xfrm>
            <a:off x="6766560" y="4005072"/>
            <a:ext cx="310896" cy="310896"/>
          </a:xfrm>
          <a:prstGeom prst="ellipse">
            <a:avLst/>
          </a:prstGeom>
          <a:solidFill>
            <a:srgbClr val="0A7C86"/>
          </a:solidFill>
          <a:ln/>
        </p:spPr>
      </p:sp>
      <p:sp>
        <p:nvSpPr>
          <p:cNvPr id="21" name="Text 19"/>
          <p:cNvSpPr txBox="1"/>
          <p:nvPr/>
        </p:nvSpPr>
        <p:spPr>
          <a:xfrm>
            <a:off x="6766560" y="4032504"/>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txBox="1"/>
          <p:nvPr/>
        </p:nvSpPr>
        <p:spPr>
          <a:xfrm>
            <a:off x="7269480" y="3986784"/>
            <a:ext cx="4023360" cy="274320"/>
          </a:xfrm>
          <a:prstGeom prst="rect">
            <a:avLst/>
          </a:prstGeom>
          <a:noFill/>
          <a:ln/>
        </p:spPr>
        <p:txBody>
          <a:bodyPr wrap="square" lIns="0" tIns="0" rIns="0" bIns="0" rtlCol="0" anchor="ctr"/>
          <a:lstStyle/>
          <a:p>
            <a:pPr indent="0" marL="0">
              <a:buNone/>
            </a:pPr>
            <a:r>
              <a:rPr lang="en-US" sz="1400" b="1" dirty="0">
                <a:solidFill>
                  <a:srgbClr val="16262E"/>
                </a:solidFill>
                <a:latin typeface="Calibri" pitchFamily="34" charset="0"/>
                <a:ea typeface="Calibri" pitchFamily="34" charset="-122"/>
                <a:cs typeface="Calibri" pitchFamily="34" charset="-120"/>
              </a:rPr>
              <a:t>Retention and deletion schedule</a:t>
            </a:r>
            <a:endParaRPr lang="en-US" sz="1400" dirty="0"/>
          </a:p>
        </p:txBody>
      </p:sp>
      <p:sp>
        <p:nvSpPr>
          <p:cNvPr id="23" name="Text 21"/>
          <p:cNvSpPr txBox="1"/>
          <p:nvPr/>
        </p:nvSpPr>
        <p:spPr>
          <a:xfrm>
            <a:off x="7269480" y="4261104"/>
            <a:ext cx="4023360" cy="502920"/>
          </a:xfrm>
          <a:prstGeom prst="rect">
            <a:avLst/>
          </a:prstGeom>
          <a:noFill/>
          <a:ln/>
        </p:spPr>
        <p:txBody>
          <a:bodyPr wrap="square" lIns="0" tIns="0" rIns="0" bIns="0" rtlCol="0" anchor="ctr"/>
          <a:lstStyle/>
          <a:p>
            <a:pPr indent="0" marL="0">
              <a:lnSpc>
                <a:spcPts val="1600"/>
              </a:lnSpc>
              <a:buNone/>
            </a:pPr>
            <a:r>
              <a:rPr lang="en-US" sz="1200" dirty="0">
                <a:solidFill>
                  <a:srgbClr val="5C6B73"/>
                </a:solidFill>
                <a:latin typeface="Calibri" pitchFamily="34" charset="0"/>
                <a:ea typeface="Calibri" pitchFamily="34" charset="-122"/>
                <a:cs typeface="Calibri" pitchFamily="34" charset="-120"/>
              </a:rPr>
              <a:t>How long we keep it and what actually deletes it.</a:t>
            </a:r>
            <a:endParaRPr lang="en-US" sz="1200" dirty="0"/>
          </a:p>
        </p:txBody>
      </p:sp>
      <p:sp>
        <p:nvSpPr>
          <p:cNvPr id="24" name="Shape 22"/>
          <p:cNvSpPr/>
          <p:nvPr/>
        </p:nvSpPr>
        <p:spPr>
          <a:xfrm>
            <a:off x="6766560" y="4864608"/>
            <a:ext cx="310896" cy="310896"/>
          </a:xfrm>
          <a:prstGeom prst="ellipse">
            <a:avLst/>
          </a:prstGeom>
          <a:solidFill>
            <a:srgbClr val="0A7C86"/>
          </a:solidFill>
          <a:ln/>
        </p:spPr>
      </p:sp>
      <p:sp>
        <p:nvSpPr>
          <p:cNvPr id="25" name="Text 23"/>
          <p:cNvSpPr txBox="1"/>
          <p:nvPr/>
        </p:nvSpPr>
        <p:spPr>
          <a:xfrm>
            <a:off x="6766560" y="4892040"/>
            <a:ext cx="310896"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7269480" y="4846320"/>
            <a:ext cx="4023360" cy="274320"/>
          </a:xfrm>
          <a:prstGeom prst="rect">
            <a:avLst/>
          </a:prstGeom>
          <a:noFill/>
          <a:ln/>
        </p:spPr>
        <p:txBody>
          <a:bodyPr wrap="square" lIns="0" tIns="0" rIns="0" bIns="0" rtlCol="0" anchor="ctr"/>
          <a:lstStyle/>
          <a:p>
            <a:pPr indent="0" marL="0">
              <a:buNone/>
            </a:pPr>
            <a:r>
              <a:rPr lang="en-US" sz="1400" b="1" dirty="0">
                <a:solidFill>
                  <a:srgbClr val="16262E"/>
                </a:solidFill>
                <a:latin typeface="Calibri" pitchFamily="34" charset="0"/>
                <a:ea typeface="Calibri" pitchFamily="34" charset="-122"/>
                <a:cs typeface="Calibri" pitchFamily="34" charset="-120"/>
              </a:rPr>
              <a:t>Privacy notice refresh</a:t>
            </a:r>
            <a:endParaRPr lang="en-US" sz="1400" dirty="0"/>
          </a:p>
        </p:txBody>
      </p:sp>
      <p:sp>
        <p:nvSpPr>
          <p:cNvPr id="27" name="Text 25"/>
          <p:cNvSpPr txBox="1"/>
          <p:nvPr/>
        </p:nvSpPr>
        <p:spPr>
          <a:xfrm>
            <a:off x="7269480" y="5120640"/>
            <a:ext cx="4023360" cy="502920"/>
          </a:xfrm>
          <a:prstGeom prst="rect">
            <a:avLst/>
          </a:prstGeom>
          <a:noFill/>
          <a:ln/>
        </p:spPr>
        <p:txBody>
          <a:bodyPr wrap="square" lIns="0" tIns="0" rIns="0" bIns="0" rtlCol="0" anchor="ctr"/>
          <a:lstStyle/>
          <a:p>
            <a:pPr indent="0" marL="0">
              <a:lnSpc>
                <a:spcPts val="1600"/>
              </a:lnSpc>
              <a:buNone/>
            </a:pPr>
            <a:r>
              <a:rPr lang="en-US" sz="1200" dirty="0">
                <a:solidFill>
                  <a:srgbClr val="5C6B73"/>
                </a:solidFill>
                <a:latin typeface="Calibri" pitchFamily="34" charset="0"/>
                <a:ea typeface="Calibri" pitchFamily="34" charset="-122"/>
                <a:cs typeface="Calibri" pitchFamily="34" charset="-120"/>
              </a:rPr>
              <a:t>Match the notice to what the map says we really do.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Supply chain and acquisition</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Our IT support and payroll vendors can reach our data. Neither has ever been assessed.</a:t>
            </a:r>
            <a:endParaRPr lang="en-US" sz="1400" dirty="0"/>
          </a:p>
        </p:txBody>
      </p:sp>
      <p:sp>
        <p:nvSpPr>
          <p:cNvPr id="4" name="Shape 2"/>
          <p:cNvSpPr/>
          <p:nvPr/>
        </p:nvSpPr>
        <p:spPr>
          <a:xfrm>
            <a:off x="640080" y="1554480"/>
            <a:ext cx="5303520" cy="4206240"/>
          </a:xfrm>
          <a:prstGeom prst="roundRect">
            <a:avLst>
              <a:gd name="adj" fmla="val 1304"/>
            </a:avLst>
          </a:prstGeom>
          <a:solidFill>
            <a:srgbClr val="EFF4F5"/>
          </a:solidFill>
          <a:ln w="9525">
            <a:solidFill>
              <a:srgbClr val="D6E0E2"/>
            </a:solidFill>
            <a:prstDash val="solid"/>
          </a:ln>
        </p:spPr>
      </p:sp>
      <p:sp>
        <p:nvSpPr>
          <p:cNvPr id="5" name="Shape 3"/>
          <p:cNvSpPr/>
          <p:nvPr/>
        </p:nvSpPr>
        <p:spPr>
          <a:xfrm>
            <a:off x="6446520" y="1554480"/>
            <a:ext cx="5102352" cy="4206240"/>
          </a:xfrm>
          <a:prstGeom prst="roundRect">
            <a:avLst>
              <a:gd name="adj" fmla="val 1304"/>
            </a:avLst>
          </a:prstGeom>
          <a:solidFill>
            <a:srgbClr val="EFF4F5"/>
          </a:solidFill>
          <a:ln w="9525">
            <a:solidFill>
              <a:srgbClr val="D6E0E2"/>
            </a:solidFill>
            <a:prstDash val="solid"/>
          </a:ln>
        </p:spPr>
      </p:sp>
      <p:sp>
        <p:nvSpPr>
          <p:cNvPr id="6" name="Text 4"/>
          <p:cNvSpPr txBox="1"/>
          <p:nvPr/>
        </p:nvSpPr>
        <p:spPr>
          <a:xfrm>
            <a:off x="960120" y="1783080"/>
            <a:ext cx="4663440" cy="320040"/>
          </a:xfrm>
          <a:prstGeom prst="rect">
            <a:avLst/>
          </a:prstGeom>
          <a:noFill/>
          <a:ln/>
        </p:spPr>
        <p:txBody>
          <a:bodyPr wrap="square" lIns="0" tIns="0" rIns="0" bIns="0" rtlCol="0" anchor="ctr"/>
          <a:lstStyle/>
          <a:p>
            <a:pPr indent="0" marL="0">
              <a:buNone/>
            </a:pPr>
            <a:r>
              <a:rPr lang="en-US" sz="1900" b="1" dirty="0">
                <a:solidFill>
                  <a:srgbClr val="064E57"/>
                </a:solidFill>
                <a:latin typeface="Cambria" pitchFamily="34" charset="0"/>
                <a:ea typeface="Cambria" pitchFamily="34" charset="-122"/>
                <a:cs typeface="Cambria" pitchFamily="34" charset="-120"/>
              </a:rPr>
              <a:t>SR - Supply Chain Risk</a:t>
            </a:r>
            <a:endParaRPr lang="en-US" sz="1900" dirty="0"/>
          </a:p>
        </p:txBody>
      </p:sp>
      <p:sp>
        <p:nvSpPr>
          <p:cNvPr id="7" name="Text 5"/>
          <p:cNvSpPr txBox="1"/>
          <p:nvPr/>
        </p:nvSpPr>
        <p:spPr>
          <a:xfrm>
            <a:off x="960120" y="2121408"/>
            <a:ext cx="4663440" cy="365760"/>
          </a:xfrm>
          <a:prstGeom prst="rect">
            <a:avLst/>
          </a:prstGeom>
          <a:noFill/>
          <a:ln/>
        </p:spPr>
        <p:txBody>
          <a:bodyPr wrap="square" lIns="0" tIns="0" rIns="0" bIns="0" rtlCol="0" anchor="ctr"/>
          <a:lstStyle/>
          <a:p>
            <a:pPr indent="0" marL="0">
              <a:buNone/>
            </a:pPr>
            <a:r>
              <a:rPr lang="en-US" sz="1200" i="1" dirty="0">
                <a:solidFill>
                  <a:srgbClr val="5C6B73"/>
                </a:solidFill>
                <a:latin typeface="Calibri" pitchFamily="34" charset="0"/>
                <a:ea typeface="Calibri" pitchFamily="34" charset="-122"/>
                <a:cs typeface="Calibri" pitchFamily="34" charset="-120"/>
              </a:rPr>
              <a:t>Vendors inherit our risk, and our customers' trust</a:t>
            </a:r>
            <a:endParaRPr lang="en-US" sz="1200" dirty="0"/>
          </a:p>
        </p:txBody>
      </p:sp>
      <p:sp>
        <p:nvSpPr>
          <p:cNvPr id="8" name="Text 6"/>
          <p:cNvSpPr txBox="1"/>
          <p:nvPr/>
        </p:nvSpPr>
        <p:spPr>
          <a:xfrm>
            <a:off x="960120" y="2542032"/>
            <a:ext cx="4663440" cy="30175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No supplier inventory and no criticality rating - we cannot say who matters most</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The payroll vendor processes PII; the IT provider holds privileged access</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No breach-notification clause, so a vendor incident might reach us late or never</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Proposed: supplier inventory, a short standard questionnaire, annual reassessment of critical vendors, and an exit plan for each</a:t>
            </a:r>
            <a:endParaRPr lang="en-US" sz="1300" dirty="0"/>
          </a:p>
        </p:txBody>
      </p:sp>
      <p:sp>
        <p:nvSpPr>
          <p:cNvPr id="9" name="Text 7"/>
          <p:cNvSpPr txBox="1"/>
          <p:nvPr/>
        </p:nvSpPr>
        <p:spPr>
          <a:xfrm>
            <a:off x="6766560" y="1783080"/>
            <a:ext cx="4480560" cy="320040"/>
          </a:xfrm>
          <a:prstGeom prst="rect">
            <a:avLst/>
          </a:prstGeom>
          <a:noFill/>
          <a:ln/>
        </p:spPr>
        <p:txBody>
          <a:bodyPr wrap="square" lIns="0" tIns="0" rIns="0" bIns="0" rtlCol="0" anchor="ctr"/>
          <a:lstStyle/>
          <a:p>
            <a:pPr indent="0" marL="0">
              <a:buNone/>
            </a:pPr>
            <a:r>
              <a:rPr lang="en-US" sz="1900" b="1" dirty="0">
                <a:solidFill>
                  <a:srgbClr val="064E57"/>
                </a:solidFill>
                <a:latin typeface="Cambria" pitchFamily="34" charset="0"/>
                <a:ea typeface="Cambria" pitchFamily="34" charset="-122"/>
                <a:cs typeface="Cambria" pitchFamily="34" charset="-120"/>
              </a:rPr>
              <a:t>SA - Systems &amp; Services Acquisition</a:t>
            </a:r>
            <a:endParaRPr lang="en-US" sz="1900" dirty="0"/>
          </a:p>
        </p:txBody>
      </p:sp>
      <p:sp>
        <p:nvSpPr>
          <p:cNvPr id="10" name="Text 8"/>
          <p:cNvSpPr txBox="1"/>
          <p:nvPr/>
        </p:nvSpPr>
        <p:spPr>
          <a:xfrm>
            <a:off x="6766560" y="2121408"/>
            <a:ext cx="4480560" cy="365760"/>
          </a:xfrm>
          <a:prstGeom prst="rect">
            <a:avLst/>
          </a:prstGeom>
          <a:noFill/>
          <a:ln/>
        </p:spPr>
        <p:txBody>
          <a:bodyPr wrap="square" lIns="0" tIns="0" rIns="0" bIns="0" rtlCol="0" anchor="ctr"/>
          <a:lstStyle/>
          <a:p>
            <a:pPr indent="0" marL="0">
              <a:buNone/>
            </a:pPr>
            <a:r>
              <a:rPr lang="en-US" sz="1200" i="1" dirty="0">
                <a:solidFill>
                  <a:srgbClr val="5C6B73"/>
                </a:solidFill>
                <a:latin typeface="Calibri" pitchFamily="34" charset="0"/>
                <a:ea typeface="Calibri" pitchFamily="34" charset="-122"/>
                <a:cs typeface="Calibri" pitchFamily="34" charset="-120"/>
              </a:rPr>
              <a:t>The cheapest place to fix security is before signing</a:t>
            </a:r>
            <a:endParaRPr lang="en-US" sz="1200" dirty="0"/>
          </a:p>
        </p:txBody>
      </p:sp>
      <p:sp>
        <p:nvSpPr>
          <p:cNvPr id="11" name="Text 9"/>
          <p:cNvSpPr txBox="1"/>
          <p:nvPr/>
        </p:nvSpPr>
        <p:spPr>
          <a:xfrm>
            <a:off x="6766560" y="2542032"/>
            <a:ext cx="4480560" cy="30175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New cloud services are bought on function and price; security terms are inconsistent</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No acceptance criteria, so nothing is checked before a service goes live</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Proposed: a one-page security requirements checklist attached to every purchase request</a:t>
            </a:r>
            <a:endParaRPr lang="en-US" sz="1300" dirty="0"/>
          </a:p>
          <a:p>
            <a:pPr marL="342900" indent="-342900">
              <a:lnSpc>
                <a:spcPts val="1900"/>
              </a:lnSpc>
              <a:spcAft>
                <a:spcPts val="800"/>
              </a:spcAft>
              <a:buSzPct val="100000"/>
              <a:buChar char="•"/>
            </a:pPr>
            <a:r>
              <a:rPr lang="en-US" sz="1300" dirty="0">
                <a:solidFill>
                  <a:srgbClr val="16262E"/>
                </a:solidFill>
                <a:latin typeface="Calibri" pitchFamily="34" charset="0"/>
                <a:ea typeface="Calibri" pitchFamily="34" charset="-122"/>
                <a:cs typeface="Calibri" pitchFamily="34" charset="-120"/>
              </a:rPr>
              <a:t>Proposed: standard contract clauses covering data location, breach notice, sub-processors and the right to audit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POA&amp;M priorities</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Eighteen items in the full tracker. These are the first seven, by risk.</a:t>
            </a:r>
            <a:endParaRPr lang="en-US" sz="1400" dirty="0"/>
          </a:p>
        </p:txBody>
      </p:sp>
      <p:sp>
        <p:nvSpPr>
          <p:cNvPr id="4" name="Text 2"/>
          <p:cNvSpPr txBox="1"/>
          <p:nvPr/>
        </p:nvSpPr>
        <p:spPr>
          <a:xfrm>
            <a:off x="1600200" y="1572768"/>
            <a:ext cx="1463040" cy="274320"/>
          </a:xfrm>
          <a:prstGeom prst="rect">
            <a:avLst/>
          </a:prstGeom>
          <a:noFill/>
          <a:ln/>
        </p:spPr>
        <p:txBody>
          <a:bodyPr wrap="square" lIns="0" tIns="0" rIns="0" bIns="0" rtlCol="0" anchor="ctr"/>
          <a:lstStyle/>
          <a:p>
            <a:pPr indent="0" marL="0">
              <a:buNone/>
            </a:pPr>
            <a:r>
              <a:rPr lang="en-US" sz="1100" b="1" dirty="0">
                <a:solidFill>
                  <a:srgbClr val="5C6B73"/>
                </a:solidFill>
                <a:latin typeface="Calibri" pitchFamily="34" charset="0"/>
                <a:ea typeface="Calibri" pitchFamily="34" charset="-122"/>
                <a:cs typeface="Calibri" pitchFamily="34" charset="-120"/>
              </a:rPr>
              <a:t>WEAKNESS</a:t>
            </a:r>
            <a:endParaRPr lang="en-US" sz="1100" dirty="0"/>
          </a:p>
        </p:txBody>
      </p:sp>
      <p:sp>
        <p:nvSpPr>
          <p:cNvPr id="5" name="Text 3"/>
          <p:cNvSpPr txBox="1"/>
          <p:nvPr/>
        </p:nvSpPr>
        <p:spPr>
          <a:xfrm>
            <a:off x="6675120" y="1572768"/>
            <a:ext cx="1463040" cy="274320"/>
          </a:xfrm>
          <a:prstGeom prst="rect">
            <a:avLst/>
          </a:prstGeom>
          <a:noFill/>
          <a:ln/>
        </p:spPr>
        <p:txBody>
          <a:bodyPr wrap="square" lIns="0" tIns="0" rIns="0" bIns="0" rtlCol="0" anchor="ctr"/>
          <a:lstStyle/>
          <a:p>
            <a:pPr indent="0" marL="0">
              <a:buNone/>
            </a:pPr>
            <a:r>
              <a:rPr lang="en-US" sz="1100" b="1" dirty="0">
                <a:solidFill>
                  <a:srgbClr val="5C6B73"/>
                </a:solidFill>
                <a:latin typeface="Calibri" pitchFamily="34" charset="0"/>
                <a:ea typeface="Calibri" pitchFamily="34" charset="-122"/>
                <a:cs typeface="Calibri" pitchFamily="34" charset="-120"/>
              </a:rPr>
              <a:t>CONTROL</a:t>
            </a:r>
            <a:endParaRPr lang="en-US" sz="1100" dirty="0"/>
          </a:p>
        </p:txBody>
      </p:sp>
      <p:sp>
        <p:nvSpPr>
          <p:cNvPr id="6" name="Text 4"/>
          <p:cNvSpPr txBox="1"/>
          <p:nvPr/>
        </p:nvSpPr>
        <p:spPr>
          <a:xfrm>
            <a:off x="7955280" y="1572768"/>
            <a:ext cx="1463040" cy="274320"/>
          </a:xfrm>
          <a:prstGeom prst="rect">
            <a:avLst/>
          </a:prstGeom>
          <a:noFill/>
          <a:ln/>
        </p:spPr>
        <p:txBody>
          <a:bodyPr wrap="square" lIns="0" tIns="0" rIns="0" bIns="0" rtlCol="0" anchor="ctr"/>
          <a:lstStyle/>
          <a:p>
            <a:pPr indent="0" marL="0">
              <a:buNone/>
            </a:pPr>
            <a:r>
              <a:rPr lang="en-US" sz="1100" b="1" dirty="0">
                <a:solidFill>
                  <a:srgbClr val="5C6B73"/>
                </a:solidFill>
                <a:latin typeface="Calibri" pitchFamily="34" charset="0"/>
                <a:ea typeface="Calibri" pitchFamily="34" charset="-122"/>
                <a:cs typeface="Calibri" pitchFamily="34" charset="-120"/>
              </a:rPr>
              <a:t>PRIORITY</a:t>
            </a:r>
            <a:endParaRPr lang="en-US" sz="1100" dirty="0"/>
          </a:p>
        </p:txBody>
      </p:sp>
      <p:sp>
        <p:nvSpPr>
          <p:cNvPr id="7" name="Text 5"/>
          <p:cNvSpPr txBox="1"/>
          <p:nvPr/>
        </p:nvSpPr>
        <p:spPr>
          <a:xfrm>
            <a:off x="9235440" y="1572768"/>
            <a:ext cx="1463040" cy="274320"/>
          </a:xfrm>
          <a:prstGeom prst="rect">
            <a:avLst/>
          </a:prstGeom>
          <a:noFill/>
          <a:ln/>
        </p:spPr>
        <p:txBody>
          <a:bodyPr wrap="square" lIns="0" tIns="0" rIns="0" bIns="0" rtlCol="0" anchor="ctr"/>
          <a:lstStyle/>
          <a:p>
            <a:pPr indent="0" marL="0">
              <a:buNone/>
            </a:pPr>
            <a:r>
              <a:rPr lang="en-US" sz="1100" b="1" dirty="0">
                <a:solidFill>
                  <a:srgbClr val="5C6B73"/>
                </a:solidFill>
                <a:latin typeface="Calibri" pitchFamily="34" charset="0"/>
                <a:ea typeface="Calibri" pitchFamily="34" charset="-122"/>
                <a:cs typeface="Calibri" pitchFamily="34" charset="-120"/>
              </a:rPr>
              <a:t>OWNER</a:t>
            </a:r>
            <a:endParaRPr lang="en-US" sz="1100" dirty="0"/>
          </a:p>
        </p:txBody>
      </p:sp>
      <p:sp>
        <p:nvSpPr>
          <p:cNvPr id="8" name="Text 6"/>
          <p:cNvSpPr txBox="1"/>
          <p:nvPr/>
        </p:nvSpPr>
        <p:spPr>
          <a:xfrm>
            <a:off x="10607040" y="1572768"/>
            <a:ext cx="1463040" cy="274320"/>
          </a:xfrm>
          <a:prstGeom prst="rect">
            <a:avLst/>
          </a:prstGeom>
          <a:noFill/>
          <a:ln/>
        </p:spPr>
        <p:txBody>
          <a:bodyPr wrap="square" lIns="0" tIns="0" rIns="0" bIns="0" rtlCol="0" anchor="ctr"/>
          <a:lstStyle/>
          <a:p>
            <a:pPr indent="0" marL="0">
              <a:buNone/>
            </a:pPr>
            <a:r>
              <a:rPr lang="en-US" sz="1100" b="1" dirty="0">
                <a:solidFill>
                  <a:srgbClr val="5C6B73"/>
                </a:solidFill>
                <a:latin typeface="Calibri" pitchFamily="34" charset="0"/>
                <a:ea typeface="Calibri" pitchFamily="34" charset="-122"/>
                <a:cs typeface="Calibri" pitchFamily="34" charset="-120"/>
              </a:rPr>
              <a:t>TARGET</a:t>
            </a:r>
            <a:endParaRPr lang="en-US" sz="1100" dirty="0"/>
          </a:p>
        </p:txBody>
      </p:sp>
      <p:sp>
        <p:nvSpPr>
          <p:cNvPr id="9" name="Shape 7"/>
          <p:cNvSpPr/>
          <p:nvPr/>
        </p:nvSpPr>
        <p:spPr>
          <a:xfrm>
            <a:off x="640080" y="1901952"/>
            <a:ext cx="10908792" cy="512064"/>
          </a:xfrm>
          <a:prstGeom prst="roundRect">
            <a:avLst>
              <a:gd name="adj" fmla="val 10714"/>
            </a:avLst>
          </a:prstGeom>
          <a:solidFill>
            <a:srgbClr val="FFFFFF"/>
          </a:solidFill>
          <a:ln w="9525">
            <a:solidFill>
              <a:srgbClr val="D6E0E2"/>
            </a:solidFill>
            <a:prstDash val="solid"/>
          </a:ln>
        </p:spPr>
      </p:sp>
      <p:sp>
        <p:nvSpPr>
          <p:cNvPr id="10" name="Text 8"/>
          <p:cNvSpPr txBox="1"/>
          <p:nvPr/>
        </p:nvSpPr>
        <p:spPr>
          <a:xfrm>
            <a:off x="822960" y="2020824"/>
            <a:ext cx="731520" cy="274320"/>
          </a:xfrm>
          <a:prstGeom prst="rect">
            <a:avLst/>
          </a:prstGeom>
          <a:noFill/>
          <a:ln/>
        </p:spPr>
        <p:txBody>
          <a:bodyPr wrap="square" lIns="0" tIns="0" rIns="0" bIns="0" rtlCol="0" anchor="ctr"/>
          <a:lstStyle/>
          <a:p>
            <a:pPr indent="0" marL="0">
              <a:buNone/>
            </a:pPr>
            <a:r>
              <a:rPr lang="en-US" sz="1250" b="1" dirty="0">
                <a:solidFill>
                  <a:srgbClr val="064E57"/>
                </a:solidFill>
                <a:latin typeface="Calibri" pitchFamily="34" charset="0"/>
                <a:ea typeface="Calibri" pitchFamily="34" charset="-122"/>
                <a:cs typeface="Calibri" pitchFamily="34" charset="-120"/>
              </a:rPr>
              <a:t>P-01</a:t>
            </a:r>
            <a:endParaRPr lang="en-US" sz="1250" dirty="0"/>
          </a:p>
        </p:txBody>
      </p:sp>
      <p:sp>
        <p:nvSpPr>
          <p:cNvPr id="11" name="Text 9"/>
          <p:cNvSpPr txBox="1"/>
          <p:nvPr/>
        </p:nvSpPr>
        <p:spPr>
          <a:xfrm>
            <a:off x="1600200" y="2020824"/>
            <a:ext cx="4937760" cy="274320"/>
          </a:xfrm>
          <a:prstGeom prst="rect">
            <a:avLst/>
          </a:prstGeom>
          <a:noFill/>
          <a:ln/>
        </p:spPr>
        <p:txBody>
          <a:bodyPr wrap="square" lIns="0" tIns="0" rIns="0" bIns="0" rtlCol="0" anchor="ctr"/>
          <a:lstStyle/>
          <a:p>
            <a:pPr indent="0" marL="0">
              <a:buNone/>
            </a:pPr>
            <a:r>
              <a:rPr lang="en-US" sz="1300" dirty="0">
                <a:solidFill>
                  <a:srgbClr val="16262E"/>
                </a:solidFill>
                <a:latin typeface="Calibri" pitchFamily="34" charset="0"/>
                <a:ea typeface="Calibri" pitchFamily="34" charset="-122"/>
                <a:cs typeface="Calibri" pitchFamily="34" charset="-120"/>
              </a:rPr>
              <a:t>Former contractor accounts still active</a:t>
            </a:r>
            <a:endParaRPr lang="en-US" sz="1300" dirty="0"/>
          </a:p>
        </p:txBody>
      </p:sp>
      <p:sp>
        <p:nvSpPr>
          <p:cNvPr id="12" name="Text 10"/>
          <p:cNvSpPr txBox="1"/>
          <p:nvPr/>
        </p:nvSpPr>
        <p:spPr>
          <a:xfrm>
            <a:off x="6675120" y="2020824"/>
            <a:ext cx="118872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AC-2</a:t>
            </a:r>
            <a:endParaRPr lang="en-US" sz="1200" dirty="0"/>
          </a:p>
        </p:txBody>
      </p:sp>
      <p:sp>
        <p:nvSpPr>
          <p:cNvPr id="13" name="Text 11"/>
          <p:cNvSpPr txBox="1"/>
          <p:nvPr/>
        </p:nvSpPr>
        <p:spPr>
          <a:xfrm>
            <a:off x="7955280" y="2020824"/>
            <a:ext cx="1280160" cy="274320"/>
          </a:xfrm>
          <a:prstGeom prst="rect">
            <a:avLst/>
          </a:prstGeom>
          <a:noFill/>
          <a:ln/>
        </p:spPr>
        <p:txBody>
          <a:bodyPr wrap="square" lIns="0" tIns="0" rIns="0" bIns="0" rtlCol="0" anchor="ctr"/>
          <a:lstStyle/>
          <a:p>
            <a:pPr indent="0" marL="0">
              <a:buNone/>
            </a:pPr>
            <a:r>
              <a:rPr lang="en-US" sz="1200" b="1" dirty="0">
                <a:solidFill>
                  <a:srgbClr val="9E2B25"/>
                </a:solidFill>
                <a:latin typeface="Calibri" pitchFamily="34" charset="0"/>
                <a:ea typeface="Calibri" pitchFamily="34" charset="-122"/>
                <a:cs typeface="Calibri" pitchFamily="34" charset="-120"/>
              </a:rPr>
              <a:t>Critical</a:t>
            </a:r>
            <a:endParaRPr lang="en-US" sz="1200" dirty="0"/>
          </a:p>
        </p:txBody>
      </p:sp>
      <p:sp>
        <p:nvSpPr>
          <p:cNvPr id="14" name="Text 12"/>
          <p:cNvSpPr txBox="1"/>
          <p:nvPr/>
        </p:nvSpPr>
        <p:spPr>
          <a:xfrm>
            <a:off x="9235440" y="2020824"/>
            <a:ext cx="13716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IT</a:t>
            </a:r>
            <a:endParaRPr lang="en-US" sz="1200" dirty="0"/>
          </a:p>
        </p:txBody>
      </p:sp>
      <p:sp>
        <p:nvSpPr>
          <p:cNvPr id="15" name="Text 13"/>
          <p:cNvSpPr txBox="1"/>
          <p:nvPr/>
        </p:nvSpPr>
        <p:spPr>
          <a:xfrm>
            <a:off x="10607040" y="2020824"/>
            <a:ext cx="10972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14 days</a:t>
            </a:r>
            <a:endParaRPr lang="en-US" sz="1200" dirty="0"/>
          </a:p>
        </p:txBody>
      </p:sp>
      <p:sp>
        <p:nvSpPr>
          <p:cNvPr id="16" name="Shape 14"/>
          <p:cNvSpPr/>
          <p:nvPr/>
        </p:nvSpPr>
        <p:spPr>
          <a:xfrm>
            <a:off x="640080" y="2505456"/>
            <a:ext cx="10908792" cy="512064"/>
          </a:xfrm>
          <a:prstGeom prst="roundRect">
            <a:avLst>
              <a:gd name="adj" fmla="val 10714"/>
            </a:avLst>
          </a:prstGeom>
          <a:solidFill>
            <a:srgbClr val="F7FAFA"/>
          </a:solidFill>
          <a:ln w="9525">
            <a:solidFill>
              <a:srgbClr val="D6E0E2"/>
            </a:solidFill>
            <a:prstDash val="solid"/>
          </a:ln>
        </p:spPr>
      </p:sp>
      <p:sp>
        <p:nvSpPr>
          <p:cNvPr id="17" name="Text 15"/>
          <p:cNvSpPr txBox="1"/>
          <p:nvPr/>
        </p:nvSpPr>
        <p:spPr>
          <a:xfrm>
            <a:off x="822960" y="2624328"/>
            <a:ext cx="731520" cy="274320"/>
          </a:xfrm>
          <a:prstGeom prst="rect">
            <a:avLst/>
          </a:prstGeom>
          <a:noFill/>
          <a:ln/>
        </p:spPr>
        <p:txBody>
          <a:bodyPr wrap="square" lIns="0" tIns="0" rIns="0" bIns="0" rtlCol="0" anchor="ctr"/>
          <a:lstStyle/>
          <a:p>
            <a:pPr indent="0" marL="0">
              <a:buNone/>
            </a:pPr>
            <a:r>
              <a:rPr lang="en-US" sz="1250" b="1" dirty="0">
                <a:solidFill>
                  <a:srgbClr val="064E57"/>
                </a:solidFill>
                <a:latin typeface="Calibri" pitchFamily="34" charset="0"/>
                <a:ea typeface="Calibri" pitchFamily="34" charset="-122"/>
                <a:cs typeface="Calibri" pitchFamily="34" charset="-120"/>
              </a:rPr>
              <a:t>P-02</a:t>
            </a:r>
            <a:endParaRPr lang="en-US" sz="1250" dirty="0"/>
          </a:p>
        </p:txBody>
      </p:sp>
      <p:sp>
        <p:nvSpPr>
          <p:cNvPr id="18" name="Text 16"/>
          <p:cNvSpPr txBox="1"/>
          <p:nvPr/>
        </p:nvSpPr>
        <p:spPr>
          <a:xfrm>
            <a:off x="1600200" y="2624328"/>
            <a:ext cx="4937760" cy="274320"/>
          </a:xfrm>
          <a:prstGeom prst="rect">
            <a:avLst/>
          </a:prstGeom>
          <a:noFill/>
          <a:ln/>
        </p:spPr>
        <p:txBody>
          <a:bodyPr wrap="square" lIns="0" tIns="0" rIns="0" bIns="0" rtlCol="0" anchor="ctr"/>
          <a:lstStyle/>
          <a:p>
            <a:pPr indent="0" marL="0">
              <a:buNone/>
            </a:pPr>
            <a:r>
              <a:rPr lang="en-US" sz="1300" dirty="0">
                <a:solidFill>
                  <a:srgbClr val="16262E"/>
                </a:solidFill>
                <a:latin typeface="Calibri" pitchFamily="34" charset="0"/>
                <a:ea typeface="Calibri" pitchFamily="34" charset="-122"/>
                <a:cs typeface="Calibri" pitchFamily="34" charset="-120"/>
              </a:rPr>
              <a:t>MFA not enforced for remote users</a:t>
            </a:r>
            <a:endParaRPr lang="en-US" sz="1300" dirty="0"/>
          </a:p>
        </p:txBody>
      </p:sp>
      <p:sp>
        <p:nvSpPr>
          <p:cNvPr id="19" name="Text 17"/>
          <p:cNvSpPr txBox="1"/>
          <p:nvPr/>
        </p:nvSpPr>
        <p:spPr>
          <a:xfrm>
            <a:off x="6675120" y="2624328"/>
            <a:ext cx="118872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IA-2</a:t>
            </a:r>
            <a:endParaRPr lang="en-US" sz="1200" dirty="0"/>
          </a:p>
        </p:txBody>
      </p:sp>
      <p:sp>
        <p:nvSpPr>
          <p:cNvPr id="20" name="Text 18"/>
          <p:cNvSpPr txBox="1"/>
          <p:nvPr/>
        </p:nvSpPr>
        <p:spPr>
          <a:xfrm>
            <a:off x="7955280" y="2624328"/>
            <a:ext cx="1280160" cy="274320"/>
          </a:xfrm>
          <a:prstGeom prst="rect">
            <a:avLst/>
          </a:prstGeom>
          <a:noFill/>
          <a:ln/>
        </p:spPr>
        <p:txBody>
          <a:bodyPr wrap="square" lIns="0" tIns="0" rIns="0" bIns="0" rtlCol="0" anchor="ctr"/>
          <a:lstStyle/>
          <a:p>
            <a:pPr indent="0" marL="0">
              <a:buNone/>
            </a:pPr>
            <a:r>
              <a:rPr lang="en-US" sz="1200" b="1" dirty="0">
                <a:solidFill>
                  <a:srgbClr val="9E2B25"/>
                </a:solidFill>
                <a:latin typeface="Calibri" pitchFamily="34" charset="0"/>
                <a:ea typeface="Calibri" pitchFamily="34" charset="-122"/>
                <a:cs typeface="Calibri" pitchFamily="34" charset="-120"/>
              </a:rPr>
              <a:t>Critical</a:t>
            </a:r>
            <a:endParaRPr lang="en-US" sz="1200" dirty="0"/>
          </a:p>
        </p:txBody>
      </p:sp>
      <p:sp>
        <p:nvSpPr>
          <p:cNvPr id="21" name="Text 19"/>
          <p:cNvSpPr txBox="1"/>
          <p:nvPr/>
        </p:nvSpPr>
        <p:spPr>
          <a:xfrm>
            <a:off x="9235440" y="2624328"/>
            <a:ext cx="13716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IT</a:t>
            </a:r>
            <a:endParaRPr lang="en-US" sz="1200" dirty="0"/>
          </a:p>
        </p:txBody>
      </p:sp>
      <p:sp>
        <p:nvSpPr>
          <p:cNvPr id="22" name="Text 20"/>
          <p:cNvSpPr txBox="1"/>
          <p:nvPr/>
        </p:nvSpPr>
        <p:spPr>
          <a:xfrm>
            <a:off x="10607040" y="2624328"/>
            <a:ext cx="10972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21 days</a:t>
            </a:r>
            <a:endParaRPr lang="en-US" sz="1200" dirty="0"/>
          </a:p>
        </p:txBody>
      </p:sp>
      <p:sp>
        <p:nvSpPr>
          <p:cNvPr id="23" name="Shape 21"/>
          <p:cNvSpPr/>
          <p:nvPr/>
        </p:nvSpPr>
        <p:spPr>
          <a:xfrm>
            <a:off x="640080" y="3108960"/>
            <a:ext cx="10908792" cy="512064"/>
          </a:xfrm>
          <a:prstGeom prst="roundRect">
            <a:avLst>
              <a:gd name="adj" fmla="val 10714"/>
            </a:avLst>
          </a:prstGeom>
          <a:solidFill>
            <a:srgbClr val="FFFFFF"/>
          </a:solidFill>
          <a:ln w="9525">
            <a:solidFill>
              <a:srgbClr val="D6E0E2"/>
            </a:solidFill>
            <a:prstDash val="solid"/>
          </a:ln>
        </p:spPr>
      </p:sp>
      <p:sp>
        <p:nvSpPr>
          <p:cNvPr id="24" name="Text 22"/>
          <p:cNvSpPr txBox="1"/>
          <p:nvPr/>
        </p:nvSpPr>
        <p:spPr>
          <a:xfrm>
            <a:off x="822960" y="3227832"/>
            <a:ext cx="731520" cy="274320"/>
          </a:xfrm>
          <a:prstGeom prst="rect">
            <a:avLst/>
          </a:prstGeom>
          <a:noFill/>
          <a:ln/>
        </p:spPr>
        <p:txBody>
          <a:bodyPr wrap="square" lIns="0" tIns="0" rIns="0" bIns="0" rtlCol="0" anchor="ctr"/>
          <a:lstStyle/>
          <a:p>
            <a:pPr indent="0" marL="0">
              <a:buNone/>
            </a:pPr>
            <a:r>
              <a:rPr lang="en-US" sz="1250" b="1" dirty="0">
                <a:solidFill>
                  <a:srgbClr val="064E57"/>
                </a:solidFill>
                <a:latin typeface="Calibri" pitchFamily="34" charset="0"/>
                <a:ea typeface="Calibri" pitchFamily="34" charset="-122"/>
                <a:cs typeface="Calibri" pitchFamily="34" charset="-120"/>
              </a:rPr>
              <a:t>P-03</a:t>
            </a:r>
            <a:endParaRPr lang="en-US" sz="1250" dirty="0"/>
          </a:p>
        </p:txBody>
      </p:sp>
      <p:sp>
        <p:nvSpPr>
          <p:cNvPr id="25" name="Text 23"/>
          <p:cNvSpPr txBox="1"/>
          <p:nvPr/>
        </p:nvSpPr>
        <p:spPr>
          <a:xfrm>
            <a:off x="1600200" y="3227832"/>
            <a:ext cx="4937760" cy="274320"/>
          </a:xfrm>
          <a:prstGeom prst="rect">
            <a:avLst/>
          </a:prstGeom>
          <a:noFill/>
          <a:ln/>
        </p:spPr>
        <p:txBody>
          <a:bodyPr wrap="square" lIns="0" tIns="0" rIns="0" bIns="0" rtlCol="0" anchor="ctr"/>
          <a:lstStyle/>
          <a:p>
            <a:pPr indent="0" marL="0">
              <a:buNone/>
            </a:pPr>
            <a:r>
              <a:rPr lang="en-US" sz="1300" dirty="0">
                <a:solidFill>
                  <a:srgbClr val="16262E"/>
                </a:solidFill>
                <a:latin typeface="Calibri" pitchFamily="34" charset="0"/>
                <a:ea typeface="Calibri" pitchFamily="34" charset="-122"/>
                <a:cs typeface="Calibri" pitchFamily="34" charset="-120"/>
              </a:rPr>
              <a:t>Endpoints 45+ days behind on patches</a:t>
            </a:r>
            <a:endParaRPr lang="en-US" sz="1300" dirty="0"/>
          </a:p>
        </p:txBody>
      </p:sp>
      <p:sp>
        <p:nvSpPr>
          <p:cNvPr id="26" name="Text 24"/>
          <p:cNvSpPr txBox="1"/>
          <p:nvPr/>
        </p:nvSpPr>
        <p:spPr>
          <a:xfrm>
            <a:off x="6675120" y="3227832"/>
            <a:ext cx="118872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SI-2</a:t>
            </a:r>
            <a:endParaRPr lang="en-US" sz="1200" dirty="0"/>
          </a:p>
        </p:txBody>
      </p:sp>
      <p:sp>
        <p:nvSpPr>
          <p:cNvPr id="27" name="Text 25"/>
          <p:cNvSpPr txBox="1"/>
          <p:nvPr/>
        </p:nvSpPr>
        <p:spPr>
          <a:xfrm>
            <a:off x="7955280" y="3227832"/>
            <a:ext cx="1280160" cy="274320"/>
          </a:xfrm>
          <a:prstGeom prst="rect">
            <a:avLst/>
          </a:prstGeom>
          <a:noFill/>
          <a:ln/>
        </p:spPr>
        <p:txBody>
          <a:bodyPr wrap="square" lIns="0" tIns="0" rIns="0" bIns="0" rtlCol="0" anchor="ctr"/>
          <a:lstStyle/>
          <a:p>
            <a:pPr indent="0" marL="0">
              <a:buNone/>
            </a:pPr>
            <a:r>
              <a:rPr lang="en-US" sz="1200" b="1" dirty="0">
                <a:solidFill>
                  <a:srgbClr val="9E2B25"/>
                </a:solidFill>
                <a:latin typeface="Calibri" pitchFamily="34" charset="0"/>
                <a:ea typeface="Calibri" pitchFamily="34" charset="-122"/>
                <a:cs typeface="Calibri" pitchFamily="34" charset="-120"/>
              </a:rPr>
              <a:t>Critical</a:t>
            </a:r>
            <a:endParaRPr lang="en-US" sz="1200" dirty="0"/>
          </a:p>
        </p:txBody>
      </p:sp>
      <p:sp>
        <p:nvSpPr>
          <p:cNvPr id="28" name="Text 26"/>
          <p:cNvSpPr txBox="1"/>
          <p:nvPr/>
        </p:nvSpPr>
        <p:spPr>
          <a:xfrm>
            <a:off x="9235440" y="3227832"/>
            <a:ext cx="13716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IT / MSP</a:t>
            </a:r>
            <a:endParaRPr lang="en-US" sz="1200" dirty="0"/>
          </a:p>
        </p:txBody>
      </p:sp>
      <p:sp>
        <p:nvSpPr>
          <p:cNvPr id="29" name="Text 27"/>
          <p:cNvSpPr txBox="1"/>
          <p:nvPr/>
        </p:nvSpPr>
        <p:spPr>
          <a:xfrm>
            <a:off x="10607040" y="3227832"/>
            <a:ext cx="10972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30 days</a:t>
            </a:r>
            <a:endParaRPr lang="en-US" sz="1200" dirty="0"/>
          </a:p>
        </p:txBody>
      </p:sp>
      <p:sp>
        <p:nvSpPr>
          <p:cNvPr id="30" name="Shape 28"/>
          <p:cNvSpPr/>
          <p:nvPr/>
        </p:nvSpPr>
        <p:spPr>
          <a:xfrm>
            <a:off x="640080" y="3712464"/>
            <a:ext cx="10908792" cy="512064"/>
          </a:xfrm>
          <a:prstGeom prst="roundRect">
            <a:avLst>
              <a:gd name="adj" fmla="val 10714"/>
            </a:avLst>
          </a:prstGeom>
          <a:solidFill>
            <a:srgbClr val="F7FAFA"/>
          </a:solidFill>
          <a:ln w="9525">
            <a:solidFill>
              <a:srgbClr val="D6E0E2"/>
            </a:solidFill>
            <a:prstDash val="solid"/>
          </a:ln>
        </p:spPr>
      </p:sp>
      <p:sp>
        <p:nvSpPr>
          <p:cNvPr id="31" name="Text 29"/>
          <p:cNvSpPr txBox="1"/>
          <p:nvPr/>
        </p:nvSpPr>
        <p:spPr>
          <a:xfrm>
            <a:off x="822960" y="3831336"/>
            <a:ext cx="731520" cy="274320"/>
          </a:xfrm>
          <a:prstGeom prst="rect">
            <a:avLst/>
          </a:prstGeom>
          <a:noFill/>
          <a:ln/>
        </p:spPr>
        <p:txBody>
          <a:bodyPr wrap="square" lIns="0" tIns="0" rIns="0" bIns="0" rtlCol="0" anchor="ctr"/>
          <a:lstStyle/>
          <a:p>
            <a:pPr indent="0" marL="0">
              <a:buNone/>
            </a:pPr>
            <a:r>
              <a:rPr lang="en-US" sz="1250" b="1" dirty="0">
                <a:solidFill>
                  <a:srgbClr val="064E57"/>
                </a:solidFill>
                <a:latin typeface="Calibri" pitchFamily="34" charset="0"/>
                <a:ea typeface="Calibri" pitchFamily="34" charset="-122"/>
                <a:cs typeface="Calibri" pitchFamily="34" charset="-120"/>
              </a:rPr>
              <a:t>P-04</a:t>
            </a:r>
            <a:endParaRPr lang="en-US" sz="1250" dirty="0"/>
          </a:p>
        </p:txBody>
      </p:sp>
      <p:sp>
        <p:nvSpPr>
          <p:cNvPr id="32" name="Text 30"/>
          <p:cNvSpPr txBox="1"/>
          <p:nvPr/>
        </p:nvSpPr>
        <p:spPr>
          <a:xfrm>
            <a:off x="1600200" y="3831336"/>
            <a:ext cx="4937760" cy="274320"/>
          </a:xfrm>
          <a:prstGeom prst="rect">
            <a:avLst/>
          </a:prstGeom>
          <a:noFill/>
          <a:ln/>
        </p:spPr>
        <p:txBody>
          <a:bodyPr wrap="square" lIns="0" tIns="0" rIns="0" bIns="0" rtlCol="0" anchor="ctr"/>
          <a:lstStyle/>
          <a:p>
            <a:pPr indent="0" marL="0">
              <a:buNone/>
            </a:pPr>
            <a:r>
              <a:rPr lang="en-US" sz="1300" dirty="0">
                <a:solidFill>
                  <a:srgbClr val="16262E"/>
                </a:solidFill>
                <a:latin typeface="Calibri" pitchFamily="34" charset="0"/>
                <a:ea typeface="Calibri" pitchFamily="34" charset="-122"/>
                <a:cs typeface="Calibri" pitchFamily="34" charset="-120"/>
              </a:rPr>
              <a:t>Backup restore never tested</a:t>
            </a:r>
            <a:endParaRPr lang="en-US" sz="1300" dirty="0"/>
          </a:p>
        </p:txBody>
      </p:sp>
      <p:sp>
        <p:nvSpPr>
          <p:cNvPr id="33" name="Text 31"/>
          <p:cNvSpPr txBox="1"/>
          <p:nvPr/>
        </p:nvSpPr>
        <p:spPr>
          <a:xfrm>
            <a:off x="6675120" y="3831336"/>
            <a:ext cx="118872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CP-9</a:t>
            </a:r>
            <a:endParaRPr lang="en-US" sz="1200" dirty="0"/>
          </a:p>
        </p:txBody>
      </p:sp>
      <p:sp>
        <p:nvSpPr>
          <p:cNvPr id="34" name="Text 32"/>
          <p:cNvSpPr txBox="1"/>
          <p:nvPr/>
        </p:nvSpPr>
        <p:spPr>
          <a:xfrm>
            <a:off x="7955280" y="3831336"/>
            <a:ext cx="1280160" cy="274320"/>
          </a:xfrm>
          <a:prstGeom prst="rect">
            <a:avLst/>
          </a:prstGeom>
          <a:noFill/>
          <a:ln/>
        </p:spPr>
        <p:txBody>
          <a:bodyPr wrap="square" lIns="0" tIns="0" rIns="0" bIns="0" rtlCol="0" anchor="ctr"/>
          <a:lstStyle/>
          <a:p>
            <a:pPr indent="0" marL="0">
              <a:buNone/>
            </a:pPr>
            <a:r>
              <a:rPr lang="en-US" sz="1200" b="1" dirty="0">
                <a:solidFill>
                  <a:srgbClr val="9E2B25"/>
                </a:solidFill>
                <a:latin typeface="Calibri" pitchFamily="34" charset="0"/>
                <a:ea typeface="Calibri" pitchFamily="34" charset="-122"/>
                <a:cs typeface="Calibri" pitchFamily="34" charset="-120"/>
              </a:rPr>
              <a:t>Critical</a:t>
            </a:r>
            <a:endParaRPr lang="en-US" sz="1200" dirty="0"/>
          </a:p>
        </p:txBody>
      </p:sp>
      <p:sp>
        <p:nvSpPr>
          <p:cNvPr id="35" name="Text 33"/>
          <p:cNvSpPr txBox="1"/>
          <p:nvPr/>
        </p:nvSpPr>
        <p:spPr>
          <a:xfrm>
            <a:off x="9235440" y="3831336"/>
            <a:ext cx="13716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IT</a:t>
            </a:r>
            <a:endParaRPr lang="en-US" sz="1200" dirty="0"/>
          </a:p>
        </p:txBody>
      </p:sp>
      <p:sp>
        <p:nvSpPr>
          <p:cNvPr id="36" name="Text 34"/>
          <p:cNvSpPr txBox="1"/>
          <p:nvPr/>
        </p:nvSpPr>
        <p:spPr>
          <a:xfrm>
            <a:off x="10607040" y="3831336"/>
            <a:ext cx="10972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30 days</a:t>
            </a:r>
            <a:endParaRPr lang="en-US" sz="1200" dirty="0"/>
          </a:p>
        </p:txBody>
      </p:sp>
      <p:sp>
        <p:nvSpPr>
          <p:cNvPr id="37" name="Shape 35"/>
          <p:cNvSpPr/>
          <p:nvPr/>
        </p:nvSpPr>
        <p:spPr>
          <a:xfrm>
            <a:off x="640080" y="4315968"/>
            <a:ext cx="10908792" cy="512064"/>
          </a:xfrm>
          <a:prstGeom prst="roundRect">
            <a:avLst>
              <a:gd name="adj" fmla="val 10714"/>
            </a:avLst>
          </a:prstGeom>
          <a:solidFill>
            <a:srgbClr val="FFFFFF"/>
          </a:solidFill>
          <a:ln w="9525">
            <a:solidFill>
              <a:srgbClr val="D6E0E2"/>
            </a:solidFill>
            <a:prstDash val="solid"/>
          </a:ln>
        </p:spPr>
      </p:sp>
      <p:sp>
        <p:nvSpPr>
          <p:cNvPr id="38" name="Text 36"/>
          <p:cNvSpPr txBox="1"/>
          <p:nvPr/>
        </p:nvSpPr>
        <p:spPr>
          <a:xfrm>
            <a:off x="822960" y="4434840"/>
            <a:ext cx="731520" cy="274320"/>
          </a:xfrm>
          <a:prstGeom prst="rect">
            <a:avLst/>
          </a:prstGeom>
          <a:noFill/>
          <a:ln/>
        </p:spPr>
        <p:txBody>
          <a:bodyPr wrap="square" lIns="0" tIns="0" rIns="0" bIns="0" rtlCol="0" anchor="ctr"/>
          <a:lstStyle/>
          <a:p>
            <a:pPr indent="0" marL="0">
              <a:buNone/>
            </a:pPr>
            <a:r>
              <a:rPr lang="en-US" sz="1250" b="1" dirty="0">
                <a:solidFill>
                  <a:srgbClr val="064E57"/>
                </a:solidFill>
                <a:latin typeface="Calibri" pitchFamily="34" charset="0"/>
                <a:ea typeface="Calibri" pitchFamily="34" charset="-122"/>
                <a:cs typeface="Calibri" pitchFamily="34" charset="-120"/>
              </a:rPr>
              <a:t>P-05</a:t>
            </a:r>
            <a:endParaRPr lang="en-US" sz="1250" dirty="0"/>
          </a:p>
        </p:txBody>
      </p:sp>
      <p:sp>
        <p:nvSpPr>
          <p:cNvPr id="39" name="Text 37"/>
          <p:cNvSpPr txBox="1"/>
          <p:nvPr/>
        </p:nvSpPr>
        <p:spPr>
          <a:xfrm>
            <a:off x="1600200" y="4434840"/>
            <a:ext cx="4937760" cy="274320"/>
          </a:xfrm>
          <a:prstGeom prst="rect">
            <a:avLst/>
          </a:prstGeom>
          <a:noFill/>
          <a:ln/>
        </p:spPr>
        <p:txBody>
          <a:bodyPr wrap="square" lIns="0" tIns="0" rIns="0" bIns="0" rtlCol="0" anchor="ctr"/>
          <a:lstStyle/>
          <a:p>
            <a:pPr indent="0" marL="0">
              <a:buNone/>
            </a:pPr>
            <a:r>
              <a:rPr lang="en-US" sz="1300" dirty="0">
                <a:solidFill>
                  <a:srgbClr val="16262E"/>
                </a:solidFill>
                <a:latin typeface="Calibri" pitchFamily="34" charset="0"/>
                <a:ea typeface="Calibri" pitchFamily="34" charset="-122"/>
                <a:cs typeface="Calibri" pitchFamily="34" charset="-120"/>
              </a:rPr>
              <a:t>No PII inventory or data map</a:t>
            </a:r>
            <a:endParaRPr lang="en-US" sz="1300" dirty="0"/>
          </a:p>
        </p:txBody>
      </p:sp>
      <p:sp>
        <p:nvSpPr>
          <p:cNvPr id="40" name="Text 38"/>
          <p:cNvSpPr txBox="1"/>
          <p:nvPr/>
        </p:nvSpPr>
        <p:spPr>
          <a:xfrm>
            <a:off x="6675120" y="4434840"/>
            <a:ext cx="118872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PT-2</a:t>
            </a:r>
            <a:endParaRPr lang="en-US" sz="1200" dirty="0"/>
          </a:p>
        </p:txBody>
      </p:sp>
      <p:sp>
        <p:nvSpPr>
          <p:cNvPr id="41" name="Text 39"/>
          <p:cNvSpPr txBox="1"/>
          <p:nvPr/>
        </p:nvSpPr>
        <p:spPr>
          <a:xfrm>
            <a:off x="7955280" y="4434840"/>
            <a:ext cx="1280160" cy="274320"/>
          </a:xfrm>
          <a:prstGeom prst="rect">
            <a:avLst/>
          </a:prstGeom>
          <a:noFill/>
          <a:ln/>
        </p:spPr>
        <p:txBody>
          <a:bodyPr wrap="square" lIns="0" tIns="0" rIns="0" bIns="0" rtlCol="0" anchor="ctr"/>
          <a:lstStyle/>
          <a:p>
            <a:pPr indent="0" marL="0">
              <a:buNone/>
            </a:pPr>
            <a:r>
              <a:rPr lang="en-US" sz="1200" b="1" dirty="0">
                <a:solidFill>
                  <a:srgbClr val="9A6A10"/>
                </a:solidFill>
                <a:latin typeface="Calibri" pitchFamily="34" charset="0"/>
                <a:ea typeface="Calibri" pitchFamily="34" charset="-122"/>
                <a:cs typeface="Calibri" pitchFamily="34" charset="-120"/>
              </a:rPr>
              <a:t>High</a:t>
            </a:r>
            <a:endParaRPr lang="en-US" sz="1200" dirty="0"/>
          </a:p>
        </p:txBody>
      </p:sp>
      <p:sp>
        <p:nvSpPr>
          <p:cNvPr id="42" name="Text 40"/>
          <p:cNvSpPr txBox="1"/>
          <p:nvPr/>
        </p:nvSpPr>
        <p:spPr>
          <a:xfrm>
            <a:off x="9235440" y="4434840"/>
            <a:ext cx="13716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Compliance</a:t>
            </a:r>
            <a:endParaRPr lang="en-US" sz="1200" dirty="0"/>
          </a:p>
        </p:txBody>
      </p:sp>
      <p:sp>
        <p:nvSpPr>
          <p:cNvPr id="43" name="Text 41"/>
          <p:cNvSpPr txBox="1"/>
          <p:nvPr/>
        </p:nvSpPr>
        <p:spPr>
          <a:xfrm>
            <a:off x="10607040" y="4434840"/>
            <a:ext cx="10972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45 days</a:t>
            </a:r>
            <a:endParaRPr lang="en-US" sz="1200" dirty="0"/>
          </a:p>
        </p:txBody>
      </p:sp>
      <p:sp>
        <p:nvSpPr>
          <p:cNvPr id="44" name="Shape 42"/>
          <p:cNvSpPr/>
          <p:nvPr/>
        </p:nvSpPr>
        <p:spPr>
          <a:xfrm>
            <a:off x="640080" y="4919472"/>
            <a:ext cx="10908792" cy="512064"/>
          </a:xfrm>
          <a:prstGeom prst="roundRect">
            <a:avLst>
              <a:gd name="adj" fmla="val 10714"/>
            </a:avLst>
          </a:prstGeom>
          <a:solidFill>
            <a:srgbClr val="F7FAFA"/>
          </a:solidFill>
          <a:ln w="9525">
            <a:solidFill>
              <a:srgbClr val="D6E0E2"/>
            </a:solidFill>
            <a:prstDash val="solid"/>
          </a:ln>
        </p:spPr>
      </p:sp>
      <p:sp>
        <p:nvSpPr>
          <p:cNvPr id="45" name="Text 43"/>
          <p:cNvSpPr txBox="1"/>
          <p:nvPr/>
        </p:nvSpPr>
        <p:spPr>
          <a:xfrm>
            <a:off x="822960" y="5038344"/>
            <a:ext cx="731520" cy="274320"/>
          </a:xfrm>
          <a:prstGeom prst="rect">
            <a:avLst/>
          </a:prstGeom>
          <a:noFill/>
          <a:ln/>
        </p:spPr>
        <p:txBody>
          <a:bodyPr wrap="square" lIns="0" tIns="0" rIns="0" bIns="0" rtlCol="0" anchor="ctr"/>
          <a:lstStyle/>
          <a:p>
            <a:pPr indent="0" marL="0">
              <a:buNone/>
            </a:pPr>
            <a:r>
              <a:rPr lang="en-US" sz="1250" b="1" dirty="0">
                <a:solidFill>
                  <a:srgbClr val="064E57"/>
                </a:solidFill>
                <a:latin typeface="Calibri" pitchFamily="34" charset="0"/>
                <a:ea typeface="Calibri" pitchFamily="34" charset="-122"/>
                <a:cs typeface="Calibri" pitchFamily="34" charset="-120"/>
              </a:rPr>
              <a:t>P-06</a:t>
            </a:r>
            <a:endParaRPr lang="en-US" sz="1250" dirty="0"/>
          </a:p>
        </p:txBody>
      </p:sp>
      <p:sp>
        <p:nvSpPr>
          <p:cNvPr id="46" name="Text 44"/>
          <p:cNvSpPr txBox="1"/>
          <p:nvPr/>
        </p:nvSpPr>
        <p:spPr>
          <a:xfrm>
            <a:off x="1600200" y="5038344"/>
            <a:ext cx="4937760" cy="274320"/>
          </a:xfrm>
          <a:prstGeom prst="rect">
            <a:avLst/>
          </a:prstGeom>
          <a:noFill/>
          <a:ln/>
        </p:spPr>
        <p:txBody>
          <a:bodyPr wrap="square" lIns="0" tIns="0" rIns="0" bIns="0" rtlCol="0" anchor="ctr"/>
          <a:lstStyle/>
          <a:p>
            <a:pPr indent="0" marL="0">
              <a:buNone/>
            </a:pPr>
            <a:r>
              <a:rPr lang="en-US" sz="1300" dirty="0">
                <a:solidFill>
                  <a:srgbClr val="16262E"/>
                </a:solidFill>
                <a:latin typeface="Calibri" pitchFamily="34" charset="0"/>
                <a:ea typeface="Calibri" pitchFamily="34" charset="-122"/>
                <a:cs typeface="Calibri" pitchFamily="34" charset="-120"/>
              </a:rPr>
              <a:t>No central log review schedule</a:t>
            </a:r>
            <a:endParaRPr lang="en-US" sz="1300" dirty="0"/>
          </a:p>
        </p:txBody>
      </p:sp>
      <p:sp>
        <p:nvSpPr>
          <p:cNvPr id="47" name="Text 45"/>
          <p:cNvSpPr txBox="1"/>
          <p:nvPr/>
        </p:nvSpPr>
        <p:spPr>
          <a:xfrm>
            <a:off x="6675120" y="5038344"/>
            <a:ext cx="118872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AU-6</a:t>
            </a:r>
            <a:endParaRPr lang="en-US" sz="1200" dirty="0"/>
          </a:p>
        </p:txBody>
      </p:sp>
      <p:sp>
        <p:nvSpPr>
          <p:cNvPr id="48" name="Text 46"/>
          <p:cNvSpPr txBox="1"/>
          <p:nvPr/>
        </p:nvSpPr>
        <p:spPr>
          <a:xfrm>
            <a:off x="7955280" y="5038344"/>
            <a:ext cx="1280160" cy="274320"/>
          </a:xfrm>
          <a:prstGeom prst="rect">
            <a:avLst/>
          </a:prstGeom>
          <a:noFill/>
          <a:ln/>
        </p:spPr>
        <p:txBody>
          <a:bodyPr wrap="square" lIns="0" tIns="0" rIns="0" bIns="0" rtlCol="0" anchor="ctr"/>
          <a:lstStyle/>
          <a:p>
            <a:pPr indent="0" marL="0">
              <a:buNone/>
            </a:pPr>
            <a:r>
              <a:rPr lang="en-US" sz="1200" b="1" dirty="0">
                <a:solidFill>
                  <a:srgbClr val="9A6A10"/>
                </a:solidFill>
                <a:latin typeface="Calibri" pitchFamily="34" charset="0"/>
                <a:ea typeface="Calibri" pitchFamily="34" charset="-122"/>
                <a:cs typeface="Calibri" pitchFamily="34" charset="-120"/>
              </a:rPr>
              <a:t>High</a:t>
            </a:r>
            <a:endParaRPr lang="en-US" sz="1200" dirty="0"/>
          </a:p>
        </p:txBody>
      </p:sp>
      <p:sp>
        <p:nvSpPr>
          <p:cNvPr id="49" name="Text 47"/>
          <p:cNvSpPr txBox="1"/>
          <p:nvPr/>
        </p:nvSpPr>
        <p:spPr>
          <a:xfrm>
            <a:off x="9235440" y="5038344"/>
            <a:ext cx="13716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IT</a:t>
            </a:r>
            <a:endParaRPr lang="en-US" sz="1200" dirty="0"/>
          </a:p>
        </p:txBody>
      </p:sp>
      <p:sp>
        <p:nvSpPr>
          <p:cNvPr id="50" name="Text 48"/>
          <p:cNvSpPr txBox="1"/>
          <p:nvPr/>
        </p:nvSpPr>
        <p:spPr>
          <a:xfrm>
            <a:off x="10607040" y="5038344"/>
            <a:ext cx="10972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60 days</a:t>
            </a:r>
            <a:endParaRPr lang="en-US" sz="1200" dirty="0"/>
          </a:p>
        </p:txBody>
      </p:sp>
      <p:sp>
        <p:nvSpPr>
          <p:cNvPr id="51" name="Shape 49"/>
          <p:cNvSpPr/>
          <p:nvPr/>
        </p:nvSpPr>
        <p:spPr>
          <a:xfrm>
            <a:off x="640080" y="5522976"/>
            <a:ext cx="10908792" cy="512064"/>
          </a:xfrm>
          <a:prstGeom prst="roundRect">
            <a:avLst>
              <a:gd name="adj" fmla="val 10714"/>
            </a:avLst>
          </a:prstGeom>
          <a:solidFill>
            <a:srgbClr val="FFFFFF"/>
          </a:solidFill>
          <a:ln w="9525">
            <a:solidFill>
              <a:srgbClr val="D6E0E2"/>
            </a:solidFill>
            <a:prstDash val="solid"/>
          </a:ln>
        </p:spPr>
      </p:sp>
      <p:sp>
        <p:nvSpPr>
          <p:cNvPr id="52" name="Text 50"/>
          <p:cNvSpPr txBox="1"/>
          <p:nvPr/>
        </p:nvSpPr>
        <p:spPr>
          <a:xfrm>
            <a:off x="822960" y="5641848"/>
            <a:ext cx="731520" cy="274320"/>
          </a:xfrm>
          <a:prstGeom prst="rect">
            <a:avLst/>
          </a:prstGeom>
          <a:noFill/>
          <a:ln/>
        </p:spPr>
        <p:txBody>
          <a:bodyPr wrap="square" lIns="0" tIns="0" rIns="0" bIns="0" rtlCol="0" anchor="ctr"/>
          <a:lstStyle/>
          <a:p>
            <a:pPr indent="0" marL="0">
              <a:buNone/>
            </a:pPr>
            <a:r>
              <a:rPr lang="en-US" sz="1250" b="1" dirty="0">
                <a:solidFill>
                  <a:srgbClr val="064E57"/>
                </a:solidFill>
                <a:latin typeface="Calibri" pitchFamily="34" charset="0"/>
                <a:ea typeface="Calibri" pitchFamily="34" charset="-122"/>
                <a:cs typeface="Calibri" pitchFamily="34" charset="-120"/>
              </a:rPr>
              <a:t>P-07</a:t>
            </a:r>
            <a:endParaRPr lang="en-US" sz="1250" dirty="0"/>
          </a:p>
        </p:txBody>
      </p:sp>
      <p:sp>
        <p:nvSpPr>
          <p:cNvPr id="53" name="Text 51"/>
          <p:cNvSpPr txBox="1"/>
          <p:nvPr/>
        </p:nvSpPr>
        <p:spPr>
          <a:xfrm>
            <a:off x="1600200" y="5641848"/>
            <a:ext cx="4937760" cy="274320"/>
          </a:xfrm>
          <a:prstGeom prst="rect">
            <a:avLst/>
          </a:prstGeom>
          <a:noFill/>
          <a:ln/>
        </p:spPr>
        <p:txBody>
          <a:bodyPr wrap="square" lIns="0" tIns="0" rIns="0" bIns="0" rtlCol="0" anchor="ctr"/>
          <a:lstStyle/>
          <a:p>
            <a:pPr indent="0" marL="0">
              <a:buNone/>
            </a:pPr>
            <a:r>
              <a:rPr lang="en-US" sz="1300" dirty="0">
                <a:solidFill>
                  <a:srgbClr val="16262E"/>
                </a:solidFill>
                <a:latin typeface="Calibri" pitchFamily="34" charset="0"/>
                <a:ea typeface="Calibri" pitchFamily="34" charset="-122"/>
                <a:cs typeface="Calibri" pitchFamily="34" charset="-120"/>
              </a:rPr>
              <a:t>Vendors never security-assessed</a:t>
            </a:r>
            <a:endParaRPr lang="en-US" sz="1300" dirty="0"/>
          </a:p>
        </p:txBody>
      </p:sp>
      <p:sp>
        <p:nvSpPr>
          <p:cNvPr id="54" name="Text 52"/>
          <p:cNvSpPr txBox="1"/>
          <p:nvPr/>
        </p:nvSpPr>
        <p:spPr>
          <a:xfrm>
            <a:off x="6675120" y="5641848"/>
            <a:ext cx="118872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SR-6</a:t>
            </a:r>
            <a:endParaRPr lang="en-US" sz="1200" dirty="0"/>
          </a:p>
        </p:txBody>
      </p:sp>
      <p:sp>
        <p:nvSpPr>
          <p:cNvPr id="55" name="Text 53"/>
          <p:cNvSpPr txBox="1"/>
          <p:nvPr/>
        </p:nvSpPr>
        <p:spPr>
          <a:xfrm>
            <a:off x="7955280" y="5641848"/>
            <a:ext cx="1280160" cy="274320"/>
          </a:xfrm>
          <a:prstGeom prst="rect">
            <a:avLst/>
          </a:prstGeom>
          <a:noFill/>
          <a:ln/>
        </p:spPr>
        <p:txBody>
          <a:bodyPr wrap="square" lIns="0" tIns="0" rIns="0" bIns="0" rtlCol="0" anchor="ctr"/>
          <a:lstStyle/>
          <a:p>
            <a:pPr indent="0" marL="0">
              <a:buNone/>
            </a:pPr>
            <a:r>
              <a:rPr lang="en-US" sz="1200" b="1" dirty="0">
                <a:solidFill>
                  <a:srgbClr val="9A6A10"/>
                </a:solidFill>
                <a:latin typeface="Calibri" pitchFamily="34" charset="0"/>
                <a:ea typeface="Calibri" pitchFamily="34" charset="-122"/>
                <a:cs typeface="Calibri" pitchFamily="34" charset="-120"/>
              </a:rPr>
              <a:t>High</a:t>
            </a:r>
            <a:endParaRPr lang="en-US" sz="1200" dirty="0"/>
          </a:p>
        </p:txBody>
      </p:sp>
      <p:sp>
        <p:nvSpPr>
          <p:cNvPr id="56" name="Text 54"/>
          <p:cNvSpPr txBox="1"/>
          <p:nvPr/>
        </p:nvSpPr>
        <p:spPr>
          <a:xfrm>
            <a:off x="9235440" y="5641848"/>
            <a:ext cx="137160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Procurement</a:t>
            </a:r>
            <a:endParaRPr lang="en-US" sz="1200" dirty="0"/>
          </a:p>
        </p:txBody>
      </p:sp>
      <p:sp>
        <p:nvSpPr>
          <p:cNvPr id="57" name="Text 55"/>
          <p:cNvSpPr txBox="1"/>
          <p:nvPr/>
        </p:nvSpPr>
        <p:spPr>
          <a:xfrm>
            <a:off x="10607040" y="5641848"/>
            <a:ext cx="1097280" cy="2743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60 days</a:t>
            </a:r>
            <a:endParaRPr lang="en-US" sz="1200" dirty="0"/>
          </a:p>
        </p:txBody>
      </p:sp>
      <p:sp>
        <p:nvSpPr>
          <p:cNvPr id="58" name="Text 56"/>
          <p:cNvSpPr txBox="1"/>
          <p:nvPr/>
        </p:nvSpPr>
        <p:spPr>
          <a:xfrm>
            <a:off x="640080" y="6172200"/>
            <a:ext cx="10908792" cy="320040"/>
          </a:xfrm>
          <a:prstGeom prst="rect">
            <a:avLst/>
          </a:prstGeom>
          <a:noFill/>
          <a:ln/>
        </p:spPr>
        <p:txBody>
          <a:bodyPr wrap="square" lIns="0" tIns="0" rIns="0" bIns="0" rtlCol="0" anchor="ctr"/>
          <a:lstStyle/>
          <a:p>
            <a:pPr indent="0" marL="0">
              <a:buNone/>
            </a:pPr>
            <a:r>
              <a:rPr lang="en-US" sz="1250" i="1" dirty="0">
                <a:solidFill>
                  <a:srgbClr val="5C6B73"/>
                </a:solidFill>
                <a:latin typeface="Calibri" pitchFamily="34" charset="0"/>
                <a:ea typeface="Calibri" pitchFamily="34" charset="-122"/>
                <a:cs typeface="Calibri" pitchFamily="34" charset="-120"/>
              </a:rPr>
              <a:t>Every item has a named owner and a date. An item with neither is a wish, not a plan - which is how we arrived at fifteen findings in the first place.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411480"/>
            <a:ext cx="10908792" cy="548640"/>
          </a:xfrm>
          <a:prstGeom prst="rect">
            <a:avLst/>
          </a:prstGeom>
          <a:noFill/>
          <a:ln/>
        </p:spPr>
        <p:txBody>
          <a:bodyPr wrap="square" lIns="0" tIns="0" rIns="0" bIns="0" rtlCol="0" anchor="ctr"/>
          <a:lstStyle/>
          <a:p>
            <a:pPr indent="0" marL="0">
              <a:buNone/>
            </a:pPr>
            <a:r>
              <a:rPr lang="en-US" sz="3200" b="1" dirty="0">
                <a:solidFill>
                  <a:srgbClr val="16262E"/>
                </a:solidFill>
                <a:latin typeface="Cambria" pitchFamily="34" charset="0"/>
                <a:ea typeface="Cambria" pitchFamily="34" charset="-122"/>
                <a:cs typeface="Cambria" pitchFamily="34" charset="-120"/>
              </a:rPr>
              <a:t>The 90-day roadmap</a:t>
            </a:r>
            <a:endParaRPr lang="en-US" sz="3200" dirty="0"/>
          </a:p>
        </p:txBody>
      </p:sp>
      <p:sp>
        <p:nvSpPr>
          <p:cNvPr id="3" name="Text 1"/>
          <p:cNvSpPr txBox="1"/>
          <p:nvPr/>
        </p:nvSpPr>
        <p:spPr>
          <a:xfrm>
            <a:off x="640080" y="987552"/>
            <a:ext cx="10543032" cy="41148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Stop the bleeding, then build the process, then make it stick.</a:t>
            </a:r>
            <a:endParaRPr lang="en-US" sz="1400" dirty="0"/>
          </a:p>
        </p:txBody>
      </p:sp>
      <p:sp>
        <p:nvSpPr>
          <p:cNvPr id="4" name="Shape 2"/>
          <p:cNvSpPr/>
          <p:nvPr/>
        </p:nvSpPr>
        <p:spPr>
          <a:xfrm>
            <a:off x="640080" y="1554480"/>
            <a:ext cx="3456432" cy="4343400"/>
          </a:xfrm>
          <a:prstGeom prst="roundRect">
            <a:avLst>
              <a:gd name="adj" fmla="val 1587"/>
            </a:avLst>
          </a:prstGeom>
          <a:solidFill>
            <a:srgbClr val="EFF4F5"/>
          </a:solidFill>
          <a:ln w="9525">
            <a:solidFill>
              <a:srgbClr val="D6E0E2"/>
            </a:solidFill>
            <a:prstDash val="solid"/>
          </a:ln>
        </p:spPr>
      </p:sp>
      <p:sp>
        <p:nvSpPr>
          <p:cNvPr id="5" name="Shape 3"/>
          <p:cNvSpPr/>
          <p:nvPr/>
        </p:nvSpPr>
        <p:spPr>
          <a:xfrm>
            <a:off x="914400" y="1828800"/>
            <a:ext cx="146304" cy="146304"/>
          </a:xfrm>
          <a:prstGeom prst="ellipse">
            <a:avLst/>
          </a:prstGeom>
          <a:solidFill>
            <a:srgbClr val="9E2B25"/>
          </a:solidFill>
          <a:ln/>
        </p:spPr>
      </p:sp>
      <p:sp>
        <p:nvSpPr>
          <p:cNvPr id="6" name="Text 4"/>
          <p:cNvSpPr txBox="1"/>
          <p:nvPr/>
        </p:nvSpPr>
        <p:spPr>
          <a:xfrm>
            <a:off x="1152144" y="1737360"/>
            <a:ext cx="2834640" cy="292608"/>
          </a:xfrm>
          <a:prstGeom prst="rect">
            <a:avLst/>
          </a:prstGeom>
          <a:noFill/>
          <a:ln/>
        </p:spPr>
        <p:txBody>
          <a:bodyPr wrap="square" lIns="0" tIns="0" rIns="0" bIns="0" rtlCol="0" anchor="ctr"/>
          <a:lstStyle/>
          <a:p>
            <a:pPr indent="0" marL="0">
              <a:buNone/>
            </a:pPr>
            <a:r>
              <a:rPr lang="en-US" sz="1250" b="1" dirty="0">
                <a:solidFill>
                  <a:srgbClr val="9E2B25"/>
                </a:solidFill>
                <a:latin typeface="Calibri" pitchFamily="34" charset="0"/>
                <a:ea typeface="Calibri" pitchFamily="34" charset="-122"/>
                <a:cs typeface="Calibri" pitchFamily="34" charset="-120"/>
              </a:rPr>
              <a:t>Phase 1  ·  Days 0-30</a:t>
            </a:r>
            <a:endParaRPr lang="en-US" sz="1250" dirty="0"/>
          </a:p>
        </p:txBody>
      </p:sp>
      <p:sp>
        <p:nvSpPr>
          <p:cNvPr id="7" name="Text 5"/>
          <p:cNvSpPr txBox="1"/>
          <p:nvPr/>
        </p:nvSpPr>
        <p:spPr>
          <a:xfrm>
            <a:off x="914400" y="2103120"/>
            <a:ext cx="2926080" cy="36576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Critical risk reduction</a:t>
            </a:r>
            <a:endParaRPr lang="en-US" sz="1800" dirty="0"/>
          </a:p>
        </p:txBody>
      </p:sp>
      <p:sp>
        <p:nvSpPr>
          <p:cNvPr id="8" name="Text 6"/>
          <p:cNvSpPr txBox="1"/>
          <p:nvPr/>
        </p:nvSpPr>
        <p:spPr>
          <a:xfrm>
            <a:off x="914400" y="2578608"/>
            <a:ext cx="2926080" cy="21031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Disable dormant accounts, export evidence</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Enforce MFA via conditional access</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Clear all critical and high patches</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Run and document a restore test</a:t>
            </a:r>
            <a:endParaRPr lang="en-US" sz="1250" dirty="0"/>
          </a:p>
        </p:txBody>
      </p:sp>
      <p:sp>
        <p:nvSpPr>
          <p:cNvPr id="9" name="Shape 7"/>
          <p:cNvSpPr/>
          <p:nvPr/>
        </p:nvSpPr>
        <p:spPr>
          <a:xfrm>
            <a:off x="914400" y="4864608"/>
            <a:ext cx="2926080" cy="0"/>
          </a:xfrm>
          <a:prstGeom prst="line">
            <a:avLst/>
          </a:prstGeom>
          <a:noFill/>
          <a:ln w="9525">
            <a:solidFill>
              <a:srgbClr val="D6E0E2"/>
            </a:solidFill>
            <a:prstDash val="solid"/>
          </a:ln>
        </p:spPr>
      </p:sp>
      <p:sp>
        <p:nvSpPr>
          <p:cNvPr id="10" name="Text 8"/>
          <p:cNvSpPr txBox="1"/>
          <p:nvPr/>
        </p:nvSpPr>
        <p:spPr>
          <a:xfrm>
            <a:off x="914400" y="4983480"/>
            <a:ext cx="2926080" cy="822960"/>
          </a:xfrm>
          <a:prstGeom prst="rect">
            <a:avLst/>
          </a:prstGeom>
          <a:noFill/>
          <a:ln/>
        </p:spPr>
        <p:txBody>
          <a:bodyPr wrap="square" lIns="0" tIns="0" rIns="0" bIns="0" rtlCol="0" anchor="ctr"/>
          <a:lstStyle/>
          <a:p>
            <a:pPr indent="0" marL="0">
              <a:lnSpc>
                <a:spcPts val="1500"/>
              </a:lnSpc>
              <a:buNone/>
            </a:pPr>
            <a:r>
              <a:rPr lang="en-US" sz="1100" i="1" dirty="0">
                <a:solidFill>
                  <a:srgbClr val="5C6B73"/>
                </a:solidFill>
                <a:latin typeface="Calibri" pitchFamily="34" charset="0"/>
                <a:ea typeface="Calibri" pitchFamily="34" charset="-122"/>
                <a:cs typeface="Calibri" pitchFamily="34" charset="-120"/>
              </a:rPr>
              <a:t>Evidence: directory export, CA policy screenshot, patch report, signed restore record</a:t>
            </a:r>
            <a:endParaRPr lang="en-US" sz="1100" dirty="0"/>
          </a:p>
        </p:txBody>
      </p:sp>
      <p:sp>
        <p:nvSpPr>
          <p:cNvPr id="11" name="Shape 9"/>
          <p:cNvSpPr/>
          <p:nvPr/>
        </p:nvSpPr>
        <p:spPr>
          <a:xfrm>
            <a:off x="4343400" y="1554480"/>
            <a:ext cx="3456432" cy="4343400"/>
          </a:xfrm>
          <a:prstGeom prst="roundRect">
            <a:avLst>
              <a:gd name="adj" fmla="val 1587"/>
            </a:avLst>
          </a:prstGeom>
          <a:solidFill>
            <a:srgbClr val="EFF4F5"/>
          </a:solidFill>
          <a:ln w="9525">
            <a:solidFill>
              <a:srgbClr val="D6E0E2"/>
            </a:solidFill>
            <a:prstDash val="solid"/>
          </a:ln>
        </p:spPr>
      </p:sp>
      <p:sp>
        <p:nvSpPr>
          <p:cNvPr id="12" name="Shape 10"/>
          <p:cNvSpPr/>
          <p:nvPr/>
        </p:nvSpPr>
        <p:spPr>
          <a:xfrm>
            <a:off x="4617720" y="1828800"/>
            <a:ext cx="146304" cy="146304"/>
          </a:xfrm>
          <a:prstGeom prst="ellipse">
            <a:avLst/>
          </a:prstGeom>
          <a:solidFill>
            <a:srgbClr val="9A6A10"/>
          </a:solidFill>
          <a:ln/>
        </p:spPr>
      </p:sp>
      <p:sp>
        <p:nvSpPr>
          <p:cNvPr id="13" name="Text 11"/>
          <p:cNvSpPr txBox="1"/>
          <p:nvPr/>
        </p:nvSpPr>
        <p:spPr>
          <a:xfrm>
            <a:off x="4855464" y="1737360"/>
            <a:ext cx="2834640" cy="292608"/>
          </a:xfrm>
          <a:prstGeom prst="rect">
            <a:avLst/>
          </a:prstGeom>
          <a:noFill/>
          <a:ln/>
        </p:spPr>
        <p:txBody>
          <a:bodyPr wrap="square" lIns="0" tIns="0" rIns="0" bIns="0" rtlCol="0" anchor="ctr"/>
          <a:lstStyle/>
          <a:p>
            <a:pPr indent="0" marL="0">
              <a:buNone/>
            </a:pPr>
            <a:r>
              <a:rPr lang="en-US" sz="1250" b="1" dirty="0">
                <a:solidFill>
                  <a:srgbClr val="9A6A10"/>
                </a:solidFill>
                <a:latin typeface="Calibri" pitchFamily="34" charset="0"/>
                <a:ea typeface="Calibri" pitchFamily="34" charset="-122"/>
                <a:cs typeface="Calibri" pitchFamily="34" charset="-120"/>
              </a:rPr>
              <a:t>Phase 2  ·  Days 31-60</a:t>
            </a:r>
            <a:endParaRPr lang="en-US" sz="1250" dirty="0"/>
          </a:p>
        </p:txBody>
      </p:sp>
      <p:sp>
        <p:nvSpPr>
          <p:cNvPr id="14" name="Text 12"/>
          <p:cNvSpPr txBox="1"/>
          <p:nvPr/>
        </p:nvSpPr>
        <p:spPr>
          <a:xfrm>
            <a:off x="4617720" y="2103120"/>
            <a:ext cx="2926080" cy="36576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Process and evidence</a:t>
            </a:r>
            <a:endParaRPr lang="en-US" sz="1800" dirty="0"/>
          </a:p>
        </p:txBody>
      </p:sp>
      <p:sp>
        <p:nvSpPr>
          <p:cNvPr id="15" name="Text 13"/>
          <p:cNvSpPr txBox="1"/>
          <p:nvPr/>
        </p:nvSpPr>
        <p:spPr>
          <a:xfrm>
            <a:off x="4617720" y="2578608"/>
            <a:ext cx="2926080" cy="21031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First documented quarterly access review</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Weekly log review starts, with escalation rules</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Tabletop incident exercise + after-action report</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Questionnaires to both critical vendors</a:t>
            </a:r>
            <a:endParaRPr lang="en-US" sz="1250" dirty="0"/>
          </a:p>
        </p:txBody>
      </p:sp>
      <p:sp>
        <p:nvSpPr>
          <p:cNvPr id="16" name="Shape 14"/>
          <p:cNvSpPr/>
          <p:nvPr/>
        </p:nvSpPr>
        <p:spPr>
          <a:xfrm>
            <a:off x="4617720" y="4864608"/>
            <a:ext cx="2926080" cy="0"/>
          </a:xfrm>
          <a:prstGeom prst="line">
            <a:avLst/>
          </a:prstGeom>
          <a:noFill/>
          <a:ln w="9525">
            <a:solidFill>
              <a:srgbClr val="D6E0E2"/>
            </a:solidFill>
            <a:prstDash val="solid"/>
          </a:ln>
        </p:spPr>
      </p:sp>
      <p:sp>
        <p:nvSpPr>
          <p:cNvPr id="17" name="Text 15"/>
          <p:cNvSpPr txBox="1"/>
          <p:nvPr/>
        </p:nvSpPr>
        <p:spPr>
          <a:xfrm>
            <a:off x="4617720" y="4983480"/>
            <a:ext cx="2926080" cy="822960"/>
          </a:xfrm>
          <a:prstGeom prst="rect">
            <a:avLst/>
          </a:prstGeom>
          <a:noFill/>
          <a:ln/>
        </p:spPr>
        <p:txBody>
          <a:bodyPr wrap="square" lIns="0" tIns="0" rIns="0" bIns="0" rtlCol="0" anchor="ctr"/>
          <a:lstStyle/>
          <a:p>
            <a:pPr indent="0" marL="0">
              <a:lnSpc>
                <a:spcPts val="1500"/>
              </a:lnSpc>
              <a:buNone/>
            </a:pPr>
            <a:r>
              <a:rPr lang="en-US" sz="1100" i="1" dirty="0">
                <a:solidFill>
                  <a:srgbClr val="5C6B73"/>
                </a:solidFill>
                <a:latin typeface="Calibri" pitchFamily="34" charset="0"/>
                <a:ea typeface="Calibri" pitchFamily="34" charset="-122"/>
                <a:cs typeface="Calibri" pitchFamily="34" charset="-120"/>
              </a:rPr>
              <a:t>Evidence: signed review sheet, four log records, exercise report, two returned questionnaires</a:t>
            </a:r>
            <a:endParaRPr lang="en-US" sz="1100" dirty="0"/>
          </a:p>
        </p:txBody>
      </p:sp>
      <p:sp>
        <p:nvSpPr>
          <p:cNvPr id="18" name="Shape 16"/>
          <p:cNvSpPr/>
          <p:nvPr/>
        </p:nvSpPr>
        <p:spPr>
          <a:xfrm>
            <a:off x="8046720" y="1554480"/>
            <a:ext cx="3456432" cy="4343400"/>
          </a:xfrm>
          <a:prstGeom prst="roundRect">
            <a:avLst>
              <a:gd name="adj" fmla="val 1587"/>
            </a:avLst>
          </a:prstGeom>
          <a:solidFill>
            <a:srgbClr val="EFF4F5"/>
          </a:solidFill>
          <a:ln w="9525">
            <a:solidFill>
              <a:srgbClr val="D6E0E2"/>
            </a:solidFill>
            <a:prstDash val="solid"/>
          </a:ln>
        </p:spPr>
      </p:sp>
      <p:sp>
        <p:nvSpPr>
          <p:cNvPr id="19" name="Shape 17"/>
          <p:cNvSpPr/>
          <p:nvPr/>
        </p:nvSpPr>
        <p:spPr>
          <a:xfrm>
            <a:off x="8321040" y="1828800"/>
            <a:ext cx="146304" cy="146304"/>
          </a:xfrm>
          <a:prstGeom prst="ellipse">
            <a:avLst/>
          </a:prstGeom>
          <a:solidFill>
            <a:srgbClr val="0A7C86"/>
          </a:solidFill>
          <a:ln/>
        </p:spPr>
      </p:sp>
      <p:sp>
        <p:nvSpPr>
          <p:cNvPr id="20" name="Text 18"/>
          <p:cNvSpPr txBox="1"/>
          <p:nvPr/>
        </p:nvSpPr>
        <p:spPr>
          <a:xfrm>
            <a:off x="8558784" y="1737360"/>
            <a:ext cx="2834640" cy="292608"/>
          </a:xfrm>
          <a:prstGeom prst="rect">
            <a:avLst/>
          </a:prstGeom>
          <a:noFill/>
          <a:ln/>
        </p:spPr>
        <p:txBody>
          <a:bodyPr wrap="square" lIns="0" tIns="0" rIns="0" bIns="0" rtlCol="0" anchor="ctr"/>
          <a:lstStyle/>
          <a:p>
            <a:pPr indent="0" marL="0">
              <a:buNone/>
            </a:pPr>
            <a:r>
              <a:rPr lang="en-US" sz="1250" b="1" dirty="0">
                <a:solidFill>
                  <a:srgbClr val="0A7C86"/>
                </a:solidFill>
                <a:latin typeface="Calibri" pitchFamily="34" charset="0"/>
                <a:ea typeface="Calibri" pitchFamily="34" charset="-122"/>
                <a:cs typeface="Calibri" pitchFamily="34" charset="-120"/>
              </a:rPr>
              <a:t>Phase 3  ·  Days 61-90</a:t>
            </a:r>
            <a:endParaRPr lang="en-US" sz="1250" dirty="0"/>
          </a:p>
        </p:txBody>
      </p:sp>
      <p:sp>
        <p:nvSpPr>
          <p:cNvPr id="21" name="Text 19"/>
          <p:cNvSpPr txBox="1"/>
          <p:nvPr/>
        </p:nvSpPr>
        <p:spPr>
          <a:xfrm>
            <a:off x="8321040" y="2103120"/>
            <a:ext cx="2926080" cy="365760"/>
          </a:xfrm>
          <a:prstGeom prst="rect">
            <a:avLst/>
          </a:prstGeom>
          <a:noFill/>
          <a:ln/>
        </p:spPr>
        <p:txBody>
          <a:bodyPr wrap="square" lIns="0" tIns="0" rIns="0" bIns="0" rtlCol="0" anchor="ctr"/>
          <a:lstStyle/>
          <a:p>
            <a:pPr indent="0" marL="0">
              <a:buNone/>
            </a:pPr>
            <a:r>
              <a:rPr lang="en-US" sz="1800" b="1" dirty="0">
                <a:solidFill>
                  <a:srgbClr val="16262E"/>
                </a:solidFill>
                <a:latin typeface="Cambria" pitchFamily="34" charset="0"/>
                <a:ea typeface="Cambria" pitchFamily="34" charset="-122"/>
                <a:cs typeface="Cambria" pitchFamily="34" charset="-120"/>
              </a:rPr>
              <a:t>Governance and durability</a:t>
            </a:r>
            <a:endParaRPr lang="en-US" sz="1800" dirty="0"/>
          </a:p>
        </p:txBody>
      </p:sp>
      <p:sp>
        <p:nvSpPr>
          <p:cNvPr id="22" name="Text 20"/>
          <p:cNvSpPr txBox="1"/>
          <p:nvPr/>
        </p:nvSpPr>
        <p:spPr>
          <a:xfrm>
            <a:off x="8321040" y="2578608"/>
            <a:ext cx="2926080" cy="21031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Laptop baseline approved and deployed</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PII inventory and retention schedule published</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Policy index with owners and review dates</a:t>
            </a:r>
            <a:endParaRPr lang="en-US" sz="1250" dirty="0"/>
          </a:p>
          <a:p>
            <a:pPr marL="342900" indent="-342900">
              <a:lnSpc>
                <a:spcPts val="1900"/>
              </a:lnSpc>
              <a:spcAft>
                <a:spcPts val="800"/>
              </a:spcAft>
              <a:buSzPct val="100000"/>
              <a:buChar char="•"/>
            </a:pPr>
            <a:r>
              <a:rPr lang="en-US" sz="1250" dirty="0">
                <a:solidFill>
                  <a:srgbClr val="16262E"/>
                </a:solidFill>
                <a:latin typeface="Calibri" pitchFamily="34" charset="0"/>
                <a:ea typeface="Calibri" pitchFamily="34" charset="-122"/>
                <a:cs typeface="Calibri" pitchFamily="34" charset="-120"/>
              </a:rPr>
              <a:t>KPI dashboard to quarterly management review</a:t>
            </a:r>
            <a:endParaRPr lang="en-US" sz="1250" dirty="0"/>
          </a:p>
        </p:txBody>
      </p:sp>
      <p:sp>
        <p:nvSpPr>
          <p:cNvPr id="23" name="Shape 21"/>
          <p:cNvSpPr/>
          <p:nvPr/>
        </p:nvSpPr>
        <p:spPr>
          <a:xfrm>
            <a:off x="8321040" y="4864608"/>
            <a:ext cx="2926080" cy="0"/>
          </a:xfrm>
          <a:prstGeom prst="line">
            <a:avLst/>
          </a:prstGeom>
          <a:noFill/>
          <a:ln w="9525">
            <a:solidFill>
              <a:srgbClr val="D6E0E2"/>
            </a:solidFill>
            <a:prstDash val="solid"/>
          </a:ln>
        </p:spPr>
      </p:sp>
      <p:sp>
        <p:nvSpPr>
          <p:cNvPr id="24" name="Text 22"/>
          <p:cNvSpPr txBox="1"/>
          <p:nvPr/>
        </p:nvSpPr>
        <p:spPr>
          <a:xfrm>
            <a:off x="8321040" y="4983480"/>
            <a:ext cx="2926080" cy="822960"/>
          </a:xfrm>
          <a:prstGeom prst="rect">
            <a:avLst/>
          </a:prstGeom>
          <a:noFill/>
          <a:ln/>
        </p:spPr>
        <p:txBody>
          <a:bodyPr wrap="square" lIns="0" tIns="0" rIns="0" bIns="0" rtlCol="0" anchor="ctr"/>
          <a:lstStyle/>
          <a:p>
            <a:pPr indent="0" marL="0">
              <a:lnSpc>
                <a:spcPts val="1500"/>
              </a:lnSpc>
              <a:buNone/>
            </a:pPr>
            <a:r>
              <a:rPr lang="en-US" sz="1100" i="1" dirty="0">
                <a:solidFill>
                  <a:srgbClr val="5C6B73"/>
                </a:solidFill>
                <a:latin typeface="Calibri" pitchFamily="34" charset="0"/>
                <a:ea typeface="Calibri" pitchFamily="34" charset="-122"/>
                <a:cs typeface="Calibri" pitchFamily="34" charset="-120"/>
              </a:rPr>
              <a:t>Evidence: baseline document, data map, policy index, first dashboard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62E"/>
        </a:solidFill>
      </p:bgPr>
    </p:bg>
    <p:spTree>
      <p:nvGrpSpPr>
        <p:cNvPr id="1" name=""/>
        <p:cNvGrpSpPr/>
        <p:nvPr/>
      </p:nvGrpSpPr>
      <p:grpSpPr>
        <a:xfrm>
          <a:off x="0" y="0"/>
          <a:ext cx="0" cy="0"/>
          <a:chOff x="0" y="0"/>
          <a:chExt cx="0" cy="0"/>
        </a:xfrm>
      </p:grpSpPr>
      <p:sp>
        <p:nvSpPr>
          <p:cNvPr id="2" name="Text 0"/>
          <p:cNvSpPr txBox="1"/>
          <p:nvPr/>
        </p:nvSpPr>
        <p:spPr>
          <a:xfrm>
            <a:off x="640080" y="640080"/>
            <a:ext cx="10908792" cy="320040"/>
          </a:xfrm>
          <a:prstGeom prst="rect">
            <a:avLst/>
          </a:prstGeom>
          <a:noFill/>
          <a:ln/>
        </p:spPr>
        <p:txBody>
          <a:bodyPr wrap="square" lIns="0" tIns="0" rIns="0" bIns="0" rtlCol="0" anchor="ctr"/>
          <a:lstStyle/>
          <a:p>
            <a:pPr indent="0" marL="0">
              <a:buNone/>
            </a:pPr>
            <a:r>
              <a:rPr lang="en-US" sz="1300" spc="200" kern="0" dirty="0">
                <a:solidFill>
                  <a:srgbClr val="8FB8BD"/>
                </a:solidFill>
                <a:latin typeface="Calibri" pitchFamily="34" charset="0"/>
                <a:ea typeface="Calibri" pitchFamily="34" charset="-122"/>
                <a:cs typeface="Calibri" pitchFamily="34" charset="-120"/>
              </a:rPr>
              <a:t>MY RECOMMENDATION</a:t>
            </a:r>
            <a:endParaRPr lang="en-US" sz="1300" dirty="0"/>
          </a:p>
        </p:txBody>
      </p:sp>
      <p:sp>
        <p:nvSpPr>
          <p:cNvPr id="3" name="Text 1"/>
          <p:cNvSpPr txBox="1"/>
          <p:nvPr/>
        </p:nvSpPr>
        <p:spPr>
          <a:xfrm>
            <a:off x="640080" y="1051560"/>
            <a:ext cx="10607040" cy="9144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Approve with conditions, and mandatory remediation dates</a:t>
            </a:r>
            <a:endParaRPr lang="en-US" sz="3200" dirty="0"/>
          </a:p>
        </p:txBody>
      </p:sp>
      <p:sp>
        <p:nvSpPr>
          <p:cNvPr id="4" name="Text 2"/>
          <p:cNvSpPr txBox="1"/>
          <p:nvPr/>
        </p:nvSpPr>
        <p:spPr>
          <a:xfrm>
            <a:off x="640080" y="2240280"/>
            <a:ext cx="10607040" cy="822960"/>
          </a:xfrm>
          <a:prstGeom prst="rect">
            <a:avLst/>
          </a:prstGeom>
          <a:noFill/>
          <a:ln/>
        </p:spPr>
        <p:txBody>
          <a:bodyPr wrap="square" lIns="0" tIns="0" rIns="0" bIns="0" rtlCol="0" anchor="ctr"/>
          <a:lstStyle/>
          <a:p>
            <a:pPr indent="0" marL="0">
              <a:lnSpc>
                <a:spcPts val="2200"/>
              </a:lnSpc>
              <a:buNone/>
            </a:pPr>
            <a:r>
              <a:rPr lang="en-US" sz="1500" dirty="0">
                <a:solidFill>
                  <a:srgbClr val="C4D4D6"/>
                </a:solidFill>
                <a:latin typeface="Calibri" pitchFamily="34" charset="0"/>
                <a:ea typeface="Calibri" pitchFamily="34" charset="-122"/>
                <a:cs typeface="Calibri" pitchFamily="34" charset="-120"/>
              </a:rPr>
              <a:t>MedLink can keep operating. The weaknesses are real but they are common, understood, and fixable with the people and licences we already pay for. What I am not willing to do is call this environment healthy without dates attached.</a:t>
            </a:r>
            <a:endParaRPr lang="en-US" sz="1500" dirty="0"/>
          </a:p>
        </p:txBody>
      </p:sp>
      <p:sp>
        <p:nvSpPr>
          <p:cNvPr id="5" name="Shape 3"/>
          <p:cNvSpPr/>
          <p:nvPr/>
        </p:nvSpPr>
        <p:spPr>
          <a:xfrm>
            <a:off x="640080" y="3200400"/>
            <a:ext cx="2542032" cy="2103120"/>
          </a:xfrm>
          <a:prstGeom prst="roundRect">
            <a:avLst>
              <a:gd name="adj" fmla="val 2609"/>
            </a:avLst>
          </a:prstGeom>
          <a:solidFill>
            <a:srgbClr val="1F333C"/>
          </a:solidFill>
          <a:ln w="12700">
            <a:solidFill>
              <a:srgbClr val="2E4650"/>
            </a:solidFill>
            <a:prstDash val="solid"/>
          </a:ln>
        </p:spPr>
      </p:sp>
      <p:sp>
        <p:nvSpPr>
          <p:cNvPr id="6" name="Text 4"/>
          <p:cNvSpPr txBox="1"/>
          <p:nvPr/>
        </p:nvSpPr>
        <p:spPr>
          <a:xfrm>
            <a:off x="896112" y="3401568"/>
            <a:ext cx="2103120" cy="292608"/>
          </a:xfrm>
          <a:prstGeom prst="rect">
            <a:avLst/>
          </a:prstGeom>
          <a:noFill/>
          <a:ln/>
        </p:spPr>
        <p:txBody>
          <a:bodyPr wrap="square" lIns="0" tIns="0" rIns="0" bIns="0" rtlCol="0" anchor="ctr"/>
          <a:lstStyle/>
          <a:p>
            <a:pPr indent="0" marL="0">
              <a:buNone/>
            </a:pPr>
            <a:r>
              <a:rPr lang="en-US" sz="1700" b="1" dirty="0">
                <a:solidFill>
                  <a:srgbClr val="6FBFC7"/>
                </a:solidFill>
                <a:latin typeface="Cambria" pitchFamily="34" charset="0"/>
                <a:ea typeface="Cambria" pitchFamily="34" charset="-122"/>
                <a:cs typeface="Cambria" pitchFamily="34" charset="-120"/>
              </a:rPr>
              <a:t>Risk</a:t>
            </a:r>
            <a:endParaRPr lang="en-US" sz="1700" dirty="0"/>
          </a:p>
        </p:txBody>
      </p:sp>
      <p:sp>
        <p:nvSpPr>
          <p:cNvPr id="7" name="Text 5"/>
          <p:cNvSpPr txBox="1"/>
          <p:nvPr/>
        </p:nvSpPr>
        <p:spPr>
          <a:xfrm>
            <a:off x="896112" y="3767328"/>
            <a:ext cx="2057400" cy="1371600"/>
          </a:xfrm>
          <a:prstGeom prst="rect">
            <a:avLst/>
          </a:prstGeom>
          <a:noFill/>
          <a:ln/>
        </p:spPr>
        <p:txBody>
          <a:bodyPr wrap="square" lIns="0" tIns="0" rIns="0" bIns="0" rtlCol="0" anchor="ctr"/>
          <a:lstStyle/>
          <a:p>
            <a:pPr indent="0" marL="0">
              <a:lnSpc>
                <a:spcPts val="1700"/>
              </a:lnSpc>
              <a:buNone/>
            </a:pPr>
            <a:r>
              <a:rPr lang="en-US" sz="1200" dirty="0">
                <a:solidFill>
                  <a:srgbClr val="C4D4D6"/>
                </a:solidFill>
                <a:latin typeface="Calibri" pitchFamily="34" charset="0"/>
                <a:ea typeface="Calibri" pitchFamily="34" charset="-122"/>
                <a:cs typeface="Calibri" pitchFamily="34" charset="-120"/>
              </a:rPr>
              <a:t>Two critical risks - dormant accounts and unenforced MFA - are live today, but neither has evidence of exploitation.</a:t>
            </a:r>
            <a:endParaRPr lang="en-US" sz="1200" dirty="0"/>
          </a:p>
        </p:txBody>
      </p:sp>
      <p:sp>
        <p:nvSpPr>
          <p:cNvPr id="8" name="Shape 6"/>
          <p:cNvSpPr/>
          <p:nvPr/>
        </p:nvSpPr>
        <p:spPr>
          <a:xfrm>
            <a:off x="3410712" y="3200400"/>
            <a:ext cx="2542032" cy="2103120"/>
          </a:xfrm>
          <a:prstGeom prst="roundRect">
            <a:avLst>
              <a:gd name="adj" fmla="val 2609"/>
            </a:avLst>
          </a:prstGeom>
          <a:solidFill>
            <a:srgbClr val="1F333C"/>
          </a:solidFill>
          <a:ln w="12700">
            <a:solidFill>
              <a:srgbClr val="2E4650"/>
            </a:solidFill>
            <a:prstDash val="solid"/>
          </a:ln>
        </p:spPr>
      </p:sp>
      <p:sp>
        <p:nvSpPr>
          <p:cNvPr id="9" name="Text 7"/>
          <p:cNvSpPr txBox="1"/>
          <p:nvPr/>
        </p:nvSpPr>
        <p:spPr>
          <a:xfrm>
            <a:off x="3666744" y="3401568"/>
            <a:ext cx="2103120" cy="292608"/>
          </a:xfrm>
          <a:prstGeom prst="rect">
            <a:avLst/>
          </a:prstGeom>
          <a:noFill/>
          <a:ln/>
        </p:spPr>
        <p:txBody>
          <a:bodyPr wrap="square" lIns="0" tIns="0" rIns="0" bIns="0" rtlCol="0" anchor="ctr"/>
          <a:lstStyle/>
          <a:p>
            <a:pPr indent="0" marL="0">
              <a:buNone/>
            </a:pPr>
            <a:r>
              <a:rPr lang="en-US" sz="1700" b="1" dirty="0">
                <a:solidFill>
                  <a:srgbClr val="6FBFC7"/>
                </a:solidFill>
                <a:latin typeface="Cambria" pitchFamily="34" charset="0"/>
                <a:ea typeface="Cambria" pitchFamily="34" charset="-122"/>
                <a:cs typeface="Cambria" pitchFamily="34" charset="-120"/>
              </a:rPr>
              <a:t>Evidence</a:t>
            </a:r>
            <a:endParaRPr lang="en-US" sz="1700" dirty="0"/>
          </a:p>
        </p:txBody>
      </p:sp>
      <p:sp>
        <p:nvSpPr>
          <p:cNvPr id="10" name="Text 8"/>
          <p:cNvSpPr txBox="1"/>
          <p:nvPr/>
        </p:nvSpPr>
        <p:spPr>
          <a:xfrm>
            <a:off x="3666744" y="3767328"/>
            <a:ext cx="2057400" cy="1371600"/>
          </a:xfrm>
          <a:prstGeom prst="rect">
            <a:avLst/>
          </a:prstGeom>
          <a:noFill/>
          <a:ln/>
        </p:spPr>
        <p:txBody>
          <a:bodyPr wrap="square" lIns="0" tIns="0" rIns="0" bIns="0" rtlCol="0" anchor="ctr"/>
          <a:lstStyle/>
          <a:p>
            <a:pPr indent="0" marL="0">
              <a:lnSpc>
                <a:spcPts val="1700"/>
              </a:lnSpc>
              <a:buNone/>
            </a:pPr>
            <a:r>
              <a:rPr lang="en-US" sz="1200" dirty="0">
                <a:solidFill>
                  <a:srgbClr val="C4D4D6"/>
                </a:solidFill>
                <a:latin typeface="Calibri" pitchFamily="34" charset="0"/>
                <a:ea typeface="Calibri" pitchFamily="34" charset="-122"/>
                <a:cs typeface="Calibri" pitchFamily="34" charset="-120"/>
              </a:rPr>
              <a:t>Fifteen audit findings, 42 controls assessed, 10 tested in depth. Nothing here is guesswork; every rating has a source.</a:t>
            </a:r>
            <a:endParaRPr lang="en-US" sz="1200" dirty="0"/>
          </a:p>
        </p:txBody>
      </p:sp>
      <p:sp>
        <p:nvSpPr>
          <p:cNvPr id="11" name="Shape 9"/>
          <p:cNvSpPr/>
          <p:nvPr/>
        </p:nvSpPr>
        <p:spPr>
          <a:xfrm>
            <a:off x="6181344" y="3200400"/>
            <a:ext cx="2542032" cy="2103120"/>
          </a:xfrm>
          <a:prstGeom prst="roundRect">
            <a:avLst>
              <a:gd name="adj" fmla="val 2609"/>
            </a:avLst>
          </a:prstGeom>
          <a:solidFill>
            <a:srgbClr val="1F333C"/>
          </a:solidFill>
          <a:ln w="12700">
            <a:solidFill>
              <a:srgbClr val="2E4650"/>
            </a:solidFill>
            <a:prstDash val="solid"/>
          </a:ln>
        </p:spPr>
      </p:sp>
      <p:sp>
        <p:nvSpPr>
          <p:cNvPr id="12" name="Text 10"/>
          <p:cNvSpPr txBox="1"/>
          <p:nvPr/>
        </p:nvSpPr>
        <p:spPr>
          <a:xfrm>
            <a:off x="6437376" y="3401568"/>
            <a:ext cx="2103120" cy="292608"/>
          </a:xfrm>
          <a:prstGeom prst="rect">
            <a:avLst/>
          </a:prstGeom>
          <a:noFill/>
          <a:ln/>
        </p:spPr>
        <p:txBody>
          <a:bodyPr wrap="square" lIns="0" tIns="0" rIns="0" bIns="0" rtlCol="0" anchor="ctr"/>
          <a:lstStyle/>
          <a:p>
            <a:pPr indent="0" marL="0">
              <a:buNone/>
            </a:pPr>
            <a:r>
              <a:rPr lang="en-US" sz="1700" b="1" dirty="0">
                <a:solidFill>
                  <a:srgbClr val="6FBFC7"/>
                </a:solidFill>
                <a:latin typeface="Cambria" pitchFamily="34" charset="0"/>
                <a:ea typeface="Cambria" pitchFamily="34" charset="-122"/>
                <a:cs typeface="Cambria" pitchFamily="34" charset="-120"/>
              </a:rPr>
              <a:t>Business impact</a:t>
            </a:r>
            <a:endParaRPr lang="en-US" sz="1700" dirty="0"/>
          </a:p>
        </p:txBody>
      </p:sp>
      <p:sp>
        <p:nvSpPr>
          <p:cNvPr id="13" name="Text 11"/>
          <p:cNvSpPr txBox="1"/>
          <p:nvPr/>
        </p:nvSpPr>
        <p:spPr>
          <a:xfrm>
            <a:off x="6437376" y="3767328"/>
            <a:ext cx="2057400" cy="1371600"/>
          </a:xfrm>
          <a:prstGeom prst="rect">
            <a:avLst/>
          </a:prstGeom>
          <a:noFill/>
          <a:ln/>
        </p:spPr>
        <p:txBody>
          <a:bodyPr wrap="square" lIns="0" tIns="0" rIns="0" bIns="0" rtlCol="0" anchor="ctr"/>
          <a:lstStyle/>
          <a:p>
            <a:pPr indent="0" marL="0">
              <a:lnSpc>
                <a:spcPts val="1700"/>
              </a:lnSpc>
              <a:buNone/>
            </a:pPr>
            <a:r>
              <a:rPr lang="en-US" sz="1200" dirty="0">
                <a:solidFill>
                  <a:srgbClr val="C4D4D6"/>
                </a:solidFill>
                <a:latin typeface="Calibri" pitchFamily="34" charset="0"/>
                <a:ea typeface="Calibri" pitchFamily="34" charset="-122"/>
                <a:cs typeface="Calibri" pitchFamily="34" charset="-120"/>
              </a:rPr>
              <a:t>A breach of health-related PII would cost us the customer review, NDPA exposure, and the trust we sell on.</a:t>
            </a:r>
            <a:endParaRPr lang="en-US" sz="1200" dirty="0"/>
          </a:p>
        </p:txBody>
      </p:sp>
      <p:sp>
        <p:nvSpPr>
          <p:cNvPr id="14" name="Shape 12"/>
          <p:cNvSpPr/>
          <p:nvPr/>
        </p:nvSpPr>
        <p:spPr>
          <a:xfrm>
            <a:off x="8951976" y="3200400"/>
            <a:ext cx="2542032" cy="2103120"/>
          </a:xfrm>
          <a:prstGeom prst="roundRect">
            <a:avLst>
              <a:gd name="adj" fmla="val 2609"/>
            </a:avLst>
          </a:prstGeom>
          <a:solidFill>
            <a:srgbClr val="1F333C"/>
          </a:solidFill>
          <a:ln w="12700">
            <a:solidFill>
              <a:srgbClr val="2E4650"/>
            </a:solidFill>
            <a:prstDash val="solid"/>
          </a:ln>
        </p:spPr>
      </p:sp>
      <p:sp>
        <p:nvSpPr>
          <p:cNvPr id="15" name="Text 13"/>
          <p:cNvSpPr txBox="1"/>
          <p:nvPr/>
        </p:nvSpPr>
        <p:spPr>
          <a:xfrm>
            <a:off x="9208008" y="3401568"/>
            <a:ext cx="2103120" cy="292608"/>
          </a:xfrm>
          <a:prstGeom prst="rect">
            <a:avLst/>
          </a:prstGeom>
          <a:noFill/>
          <a:ln/>
        </p:spPr>
        <p:txBody>
          <a:bodyPr wrap="square" lIns="0" tIns="0" rIns="0" bIns="0" rtlCol="0" anchor="ctr"/>
          <a:lstStyle/>
          <a:p>
            <a:pPr indent="0" marL="0">
              <a:buNone/>
            </a:pPr>
            <a:r>
              <a:rPr lang="en-US" sz="1700" b="1" dirty="0">
                <a:solidFill>
                  <a:srgbClr val="6FBFC7"/>
                </a:solidFill>
                <a:latin typeface="Cambria" pitchFamily="34" charset="0"/>
                <a:ea typeface="Cambria" pitchFamily="34" charset="-122"/>
                <a:cs typeface="Cambria" pitchFamily="34" charset="-120"/>
              </a:rPr>
              <a:t>Feasibility</a:t>
            </a:r>
            <a:endParaRPr lang="en-US" sz="1700" dirty="0"/>
          </a:p>
        </p:txBody>
      </p:sp>
      <p:sp>
        <p:nvSpPr>
          <p:cNvPr id="16" name="Text 14"/>
          <p:cNvSpPr txBox="1"/>
          <p:nvPr/>
        </p:nvSpPr>
        <p:spPr>
          <a:xfrm>
            <a:off x="9208008" y="3767328"/>
            <a:ext cx="2057400" cy="1371600"/>
          </a:xfrm>
          <a:prstGeom prst="rect">
            <a:avLst/>
          </a:prstGeom>
          <a:noFill/>
          <a:ln/>
        </p:spPr>
        <p:txBody>
          <a:bodyPr wrap="square" lIns="0" tIns="0" rIns="0" bIns="0" rtlCol="0" anchor="ctr"/>
          <a:lstStyle/>
          <a:p>
            <a:pPr indent="0" marL="0">
              <a:lnSpc>
                <a:spcPts val="1700"/>
              </a:lnSpc>
              <a:buNone/>
            </a:pPr>
            <a:r>
              <a:rPr lang="en-US" sz="1200" dirty="0">
                <a:solidFill>
                  <a:srgbClr val="C4D4D6"/>
                </a:solidFill>
                <a:latin typeface="Calibri" pitchFamily="34" charset="0"/>
                <a:ea typeface="Calibri" pitchFamily="34" charset="-122"/>
                <a:cs typeface="Calibri" pitchFamily="34" charset="-120"/>
              </a:rPr>
              <a:t>The four critical items are configuration and process changes. No new tooling is needed in the first 30 days.</a:t>
            </a:r>
            <a:endParaRPr lang="en-US" sz="1200" dirty="0"/>
          </a:p>
        </p:txBody>
      </p:sp>
      <p:sp>
        <p:nvSpPr>
          <p:cNvPr id="17" name="Text 15"/>
          <p:cNvSpPr txBox="1"/>
          <p:nvPr/>
        </p:nvSpPr>
        <p:spPr>
          <a:xfrm>
            <a:off x="640080" y="5577840"/>
            <a:ext cx="10607040" cy="457200"/>
          </a:xfrm>
          <a:prstGeom prst="rect">
            <a:avLst/>
          </a:prstGeom>
          <a:noFill/>
          <a:ln/>
        </p:spPr>
        <p:txBody>
          <a:bodyPr wrap="square" lIns="0" tIns="0" rIns="0" bIns="0" rtlCol="0" anchor="ctr"/>
          <a:lstStyle/>
          <a:p>
            <a:pPr indent="0" marL="0">
              <a:buNone/>
            </a:pPr>
            <a:r>
              <a:rPr lang="en-US" sz="1400" i="1" dirty="0">
                <a:solidFill>
                  <a:srgbClr val="9FB6BB"/>
                </a:solidFill>
                <a:latin typeface="Calibri" pitchFamily="34" charset="0"/>
                <a:ea typeface="Calibri" pitchFamily="34" charset="-122"/>
                <a:cs typeface="Calibri" pitchFamily="34" charset="-120"/>
              </a:rPr>
              <a:t>The conditions: the four Phase 1 items close within 30 days, and I report progress against the POA&amp;M at the next management review.</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62E"/>
        </a:solidFill>
      </p:bgPr>
    </p:bg>
    <p:spTree>
      <p:nvGrpSpPr>
        <p:cNvPr id="1" name=""/>
        <p:cNvGrpSpPr/>
        <p:nvPr/>
      </p:nvGrpSpPr>
      <p:grpSpPr>
        <a:xfrm>
          <a:off x="0" y="0"/>
          <a:ext cx="0" cy="0"/>
          <a:chOff x="0" y="0"/>
          <a:chExt cx="0" cy="0"/>
        </a:xfrm>
      </p:grpSpPr>
      <p:sp>
        <p:nvSpPr>
          <p:cNvPr id="2" name="Text 0"/>
          <p:cNvSpPr txBox="1"/>
          <p:nvPr/>
        </p:nvSpPr>
        <p:spPr>
          <a:xfrm>
            <a:off x="640080" y="2103120"/>
            <a:ext cx="73152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a:t>
            </a:r>
            <a:endParaRPr lang="en-US" sz="4400" dirty="0"/>
          </a:p>
        </p:txBody>
      </p:sp>
      <p:sp>
        <p:nvSpPr>
          <p:cNvPr id="3" name="Text 1"/>
          <p:cNvSpPr txBox="1"/>
          <p:nvPr/>
        </p:nvSpPr>
        <p:spPr>
          <a:xfrm>
            <a:off x="640080" y="3063240"/>
            <a:ext cx="7315200" cy="548640"/>
          </a:xfrm>
          <a:prstGeom prst="rect">
            <a:avLst/>
          </a:prstGeom>
          <a:noFill/>
          <a:ln/>
        </p:spPr>
        <p:txBody>
          <a:bodyPr wrap="square" lIns="0" tIns="0" rIns="0" bIns="0" rtlCol="0" anchor="ctr"/>
          <a:lstStyle/>
          <a:p>
            <a:pPr indent="0" marL="0">
              <a:buNone/>
            </a:pPr>
            <a:r>
              <a:rPr lang="en-US" sz="1600" dirty="0">
                <a:solidFill>
                  <a:srgbClr val="C4D4D6"/>
                </a:solidFill>
                <a:latin typeface="Calibri" pitchFamily="34" charset="0"/>
                <a:ea typeface="Calibri" pitchFamily="34" charset="-122"/>
                <a:cs typeface="Calibri" pitchFamily="34" charset="-120"/>
              </a:rPr>
              <a:t>Happy to go deeper on any control, any risk score, or any date on the roadmap.</a:t>
            </a:r>
            <a:endParaRPr lang="en-US" sz="1600" dirty="0"/>
          </a:p>
        </p:txBody>
      </p:sp>
      <p:sp>
        <p:nvSpPr>
          <p:cNvPr id="4" name="Shape 2"/>
          <p:cNvSpPr/>
          <p:nvPr/>
        </p:nvSpPr>
        <p:spPr>
          <a:xfrm>
            <a:off x="640080" y="3886200"/>
            <a:ext cx="2926080" cy="0"/>
          </a:xfrm>
          <a:prstGeom prst="line">
            <a:avLst/>
          </a:prstGeom>
          <a:noFill/>
          <a:ln w="19050">
            <a:solidFill>
              <a:srgbClr val="3D5560"/>
            </a:solidFill>
            <a:prstDash val="solid"/>
          </a:ln>
        </p:spPr>
      </p:sp>
      <p:sp>
        <p:nvSpPr>
          <p:cNvPr id="5" name="Text 3"/>
          <p:cNvSpPr txBox="1"/>
          <p:nvPr/>
        </p:nvSpPr>
        <p:spPr>
          <a:xfrm>
            <a:off x="640080" y="4114800"/>
            <a:ext cx="7315200" cy="822960"/>
          </a:xfrm>
          <a:prstGeom prst="rect">
            <a:avLst/>
          </a:prstGeom>
          <a:noFill/>
          <a:ln/>
        </p:spPr>
        <p:txBody>
          <a:bodyPr wrap="square" lIns="0" tIns="0" rIns="0" bIns="0" rtlCol="0" anchor="ctr"/>
          <a:lstStyle/>
          <a:p>
            <a:pPr indent="0" marL="0">
              <a:lnSpc>
                <a:spcPts val="2000"/>
              </a:lnSpc>
              <a:buNone/>
            </a:pPr>
            <a:r>
              <a:rPr lang="en-US" sz="1300" dirty="0">
                <a:solidFill>
                  <a:srgbClr val="8FB8BD"/>
                </a:solidFill>
                <a:latin typeface="Calibri" pitchFamily="34" charset="0"/>
                <a:ea typeface="Calibri" pitchFamily="34" charset="-122"/>
                <a:cs typeface="Calibri" pitchFamily="34" charset="-120"/>
              </a:rPr>
              <a:t>Full assessment report, control matrix, risk register, POA&amp;M and templates:</a:t>
            </a:r>
            <a:endParaRPr lang="en-US" sz="1300" dirty="0"/>
          </a:p>
          <a:p>
            <a:pPr indent="0" marL="0">
              <a:lnSpc>
                <a:spcPts val="2000"/>
              </a:lnSpc>
              <a:buNone/>
            </a:pPr>
            <a:r>
              <a:rPr lang="en-US" sz="1300" dirty="0">
                <a:solidFill>
                  <a:srgbClr val="8FB8BD"/>
                </a:solidFill>
                <a:latin typeface="Calibri" pitchFamily="34" charset="0"/>
                <a:ea typeface="Calibri" pitchFamily="34" charset="-122"/>
                <a:cs typeface="Calibri" pitchFamily="34" charset="-120"/>
              </a:rPr>
              <a:t>github.com/[username]/medlink-nist-800-53-capstone</a:t>
            </a:r>
            <a:endParaRPr lang="en-US" sz="1300" dirty="0"/>
          </a:p>
        </p:txBody>
      </p:sp>
      <p:sp>
        <p:nvSpPr>
          <p:cNvPr id="6" name="Text 4"/>
          <p:cNvSpPr txBox="1"/>
          <p:nvPr/>
        </p:nvSpPr>
        <p:spPr>
          <a:xfrm>
            <a:off x="640080" y="5669280"/>
            <a:ext cx="10607040" cy="640080"/>
          </a:xfrm>
          <a:prstGeom prst="rect">
            <a:avLst/>
          </a:prstGeom>
          <a:noFill/>
          <a:ln/>
        </p:spPr>
        <p:txBody>
          <a:bodyPr wrap="square" lIns="0" tIns="0" rIns="0" bIns="0" rtlCol="0" anchor="ctr"/>
          <a:lstStyle/>
          <a:p>
            <a:pPr indent="0" marL="0">
              <a:lnSpc>
                <a:spcPts val="1600"/>
              </a:lnSpc>
              <a:buNone/>
            </a:pPr>
            <a:r>
              <a:rPr lang="en-US" sz="1100" dirty="0">
                <a:solidFill>
                  <a:srgbClr val="6E868E"/>
                </a:solidFill>
                <a:latin typeface="Calibri" pitchFamily="34" charset="0"/>
                <a:ea typeface="Calibri" pitchFamily="34" charset="-122"/>
                <a:cs typeface="Calibri" pitchFamily="34" charset="-120"/>
              </a:rPr>
              <a:t>Assessed against NIST SP 800-53 Rev. 5 and SP 800-53A Rev. 5, consulted September 2026.</a:t>
            </a:r>
            <a:endParaRPr lang="en-US" sz="1100" dirty="0"/>
          </a:p>
          <a:p>
            <a:pPr indent="0" marL="0">
              <a:lnSpc>
                <a:spcPts val="1600"/>
              </a:lnSpc>
              <a:buNone/>
            </a:pPr>
            <a:r>
              <a:rPr lang="en-US" sz="1100" dirty="0">
                <a:solidFill>
                  <a:srgbClr val="6E868E"/>
                </a:solidFill>
                <a:latin typeface="Calibri" pitchFamily="34" charset="0"/>
                <a:ea typeface="Calibri" pitchFamily="34" charset="-122"/>
                <a:cs typeface="Calibri" pitchFamily="34" charset="-120"/>
              </a:rPr>
              <a:t>All evidence in this project is simulated. No real customer, employee or credential data is used.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SecureCore 53 - MedLink Services Ltd</dc:title>
  <dc:subject>PptxGenJS Presentation</dc:subject>
  <dc:creator>Junior GRC &amp; Cybersecurity Analyst</dc:creator>
  <cp:lastModifiedBy>Junior GRC &amp; Cybersecurity Analyst</cp:lastModifiedBy>
  <cp:revision>1</cp:revision>
  <dcterms:created xsi:type="dcterms:W3CDTF">2026-09-19T11:09:42Z</dcterms:created>
  <dcterms:modified xsi:type="dcterms:W3CDTF">2026-09-19T11:09:42Z</dcterms:modified>
</cp:coreProperties>
</file>